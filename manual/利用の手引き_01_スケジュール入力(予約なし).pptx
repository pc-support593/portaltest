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2"/>
  </p:notesMasterIdLst>
  <p:sldIdLst>
    <p:sldId id="358" r:id="rId2"/>
    <p:sldId id="367" r:id="rId3"/>
    <p:sldId id="366" r:id="rId4"/>
    <p:sldId id="365" r:id="rId5"/>
    <p:sldId id="364" r:id="rId6"/>
    <p:sldId id="363" r:id="rId7"/>
    <p:sldId id="362" r:id="rId8"/>
    <p:sldId id="361" r:id="rId9"/>
    <p:sldId id="360" r:id="rId10"/>
    <p:sldId id="359" r:id="rId11"/>
  </p:sldIdLst>
  <p:sldSz cx="12192000" cy="6858000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5767" autoAdjust="0"/>
  </p:normalViewPr>
  <p:slideViewPr>
    <p:cSldViewPr snapToGrid="0">
      <p:cViewPr varScale="1">
        <p:scale>
          <a:sx n="120" d="100"/>
          <a:sy n="120" d="100"/>
        </p:scale>
        <p:origin x="12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EF576-4207-4CD5-9651-A9CCCB475C07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0A2031-74A8-4F5F-801A-68C5EE78D9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2141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A1678A-8AF9-6D7F-52B1-98AD421BD9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F5C09E8-AC07-655E-0811-398FD21BB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FE1FFA-4911-C272-0AAA-0890DA9B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B15150-5BD5-E1FD-C0DA-50B880BF1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22C591-2B23-18F3-2179-D9F7EFFAF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5929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6F6BB4-8D38-A7D9-01C3-AFD373965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1C8BC7-63BF-A91D-C2E6-B0F2AE68C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5B07FB-BCDA-A8BA-3B1C-2200869C3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A78D63-9149-C5CC-4919-FA5E5A866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E91FC0-97F1-7D55-3985-7A5E5ECD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7119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3994AD-A9F5-8AAE-1679-06C5788A7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FA03A1-25CF-F376-B0D0-72EA1D295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47ADDA-A1AC-E205-39F7-53A3E659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35EFDC-5028-E33E-E1A5-AB2E7E865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49525F-302E-2CC3-6F72-12A40A2B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71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CB4C15-E312-828B-B460-7D065484C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753E09-BF63-1687-32CA-1C33E0504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0EEB7F5-F8C2-6223-B235-9571A048B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D35CF89-1484-6DDE-0BF8-195C8EDFD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527E0D-5F86-FF72-455D-FD59C071B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4EAF2F1-7FCF-95CA-0F59-ADEBB934B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6683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8FCB45-C057-6896-BA59-C7F9682CB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169E0B0-52BC-DECD-9504-F502D5155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B645FCC-66BD-0675-4725-B129E356B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A438873-91F3-72AF-1009-9FC323705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B3DFDF9-79EF-4DAB-3A17-C8BF352E14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52C687B-D5D6-7C0F-8488-7669F9BDE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6663F3D-8EC3-EAE2-FC33-DE62633E5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45367F3-C9FD-4C00-FDB6-F879B76D2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2395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527FEB-EF44-766E-F153-B1261290A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9CD4881-F5E5-46D2-F745-67A605104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51633E2-A09C-BD88-8D15-F657E4C38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5960823-F762-A2EE-3567-0DB3DE4A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14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0637BEE-10B4-1E70-9F0A-EC6E3F1D8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CB8C19E-F6F7-937E-DCAE-EC80960A5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068700D-0FC2-C89F-D386-DC8E4D61A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586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403814-C0B1-02FE-EB94-67187308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A48310-A4E7-2CDF-331C-B6961757A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9424BA7-DD2B-218C-42AA-EEFB8952C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FA69EC3-065B-036F-620F-D26F37EDA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5B30AAC-8EC8-0A0D-6185-9342854F9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6D4BDE-572C-1575-FD01-8E6DCCDAE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404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582BC4-7D37-FC09-1FF1-AF516FA7B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6D91333-E304-C5B5-09DC-B3A5B9D5CD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338F476-295E-CC6D-AB12-A7CE94CF3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CA78699-86B5-70E9-A5F3-29F9B625E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8A32EFE-D1D5-45DD-13DE-CD679B952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497AFDF-A5BF-4769-D6D4-4B80E6894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4417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6C31EF-7FAC-8AB3-90F2-C8D6845B3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14D76B4-445F-CE0E-30FE-8F5A5EEF7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815B99-5786-232D-BEE7-37FC83D6F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2BB0A3-5E99-50A6-D49F-C47CD8F6C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2B317F-D288-AA02-BC87-EA91A2EAB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990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66C31AE-829D-6357-80F4-7875E808BA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70EA1C9-1767-8BF3-E6C0-93D82A6B83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E2B84B-6A16-937B-8763-75A10294C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AB32A7-1588-38AF-D9CC-C9B671CF0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4DFC2B-F277-56DB-90DD-CBC7B6CE0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7402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ACCB434-B36D-D2B5-F922-7684B9A6B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16353B-B33F-17D8-0814-6816DE6B6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502CE7-36FD-4973-D49D-A3C0C97C1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AF9CE-A517-4FF6-8271-E974169160D5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AED8A9-3C56-1529-C4B7-D61A1CC90F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3B9930-43F8-247C-B5B9-617A067C7C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4937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社内ポータル 利用の手引き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一般社員向け ・ </a:t>
            </a:r>
            <a:r>
              <a:rPr lang="en-US" altLang="ja-JP" sz="1400"/>
              <a:t>2026</a:t>
            </a:r>
            <a:r>
              <a:rPr lang="ja-JP" altLang="en-US" sz="1400"/>
              <a:t>年</a:t>
            </a:r>
            <a:r>
              <a:rPr lang="en-US" altLang="ja-JP" sz="1400"/>
              <a:t>10</a:t>
            </a:r>
            <a:r>
              <a:rPr lang="ja-JP" altLang="en-US" sz="1400"/>
              <a:t>月版</a:t>
            </a:r>
            <a:endParaRPr lang="en-US" altLang="ja-JP" sz="14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2FBB8E8-DF47-5956-BBD7-225C69514BED}"/>
              </a:ext>
            </a:extLst>
          </p:cNvPr>
          <p:cNvSpPr txBox="1"/>
          <p:nvPr/>
        </p:nvSpPr>
        <p:spPr>
          <a:xfrm>
            <a:off x="533400" y="2159000"/>
            <a:ext cx="11125200" cy="30322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操作マニュアル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98B2A43-C784-DD5F-CC4F-35628C6415D4}"/>
              </a:ext>
            </a:extLst>
          </p:cNvPr>
          <p:cNvSpPr txBox="1"/>
          <p:nvPr/>
        </p:nvSpPr>
        <p:spPr>
          <a:xfrm>
            <a:off x="533400" y="2640025"/>
            <a:ext cx="11125200" cy="6064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36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スケジュールを入力する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803ECAF-2848-7C59-0A77-649D64107184}"/>
              </a:ext>
            </a:extLst>
          </p:cNvPr>
          <p:cNvSpPr txBox="1"/>
          <p:nvPr/>
        </p:nvSpPr>
        <p:spPr>
          <a:xfrm>
            <a:off x="533400" y="3424273"/>
            <a:ext cx="11125200" cy="3039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会議室・社用車の予約がない場合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F061C79-E1D4-5E35-0301-A3E4B760622B}"/>
              </a:ext>
            </a:extLst>
          </p:cNvPr>
          <p:cNvSpPr txBox="1"/>
          <p:nvPr/>
        </p:nvSpPr>
        <p:spPr>
          <a:xfrm>
            <a:off x="533400" y="5334000"/>
            <a:ext cx="11125200" cy="2026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2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画面に表示されている名前・予定は、説明用の例です</a:t>
            </a:r>
          </a:p>
        </p:txBody>
      </p:sp>
    </p:spTree>
    <p:extLst>
      <p:ext uri="{BB962C8B-B14F-4D97-AF65-F5344CB8AC3E}">
        <p14:creationId xmlns:p14="http://schemas.microsoft.com/office/powerpoint/2010/main" val="4154817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予定を入力する流れ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/>
              <a:t>4</a:t>
            </a:r>
            <a:r>
              <a:rPr lang="ja-JP" altLang="en-US" sz="1400"/>
              <a:t>つのステップで、自分の予定を登録できます</a:t>
            </a:r>
            <a:endParaRPr lang="en-US" altLang="ja-JP" sz="1400" dirty="0"/>
          </a:p>
        </p:txBody>
      </p:sp>
      <p:sp>
        <p:nvSpPr>
          <p:cNvPr id="3" name="ページ番号">
            <a:extLst>
              <a:ext uri="{FF2B5EF4-FFF2-40B4-BE49-F238E27FC236}">
                <a16:creationId xmlns:a16="http://schemas.microsoft.com/office/drawing/2014/main" id="{EA38F744-63A5-669F-198C-FCF282DB19C5}"/>
              </a:ext>
            </a:extLst>
          </p:cNvPr>
          <p:cNvSpPr txBox="1"/>
          <p:nvPr/>
        </p:nvSpPr>
        <p:spPr>
          <a:xfrm>
            <a:off x="10134600" y="6578600"/>
            <a:ext cx="1524000" cy="168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15000"/>
              </a:lnSpc>
            </a:pPr>
            <a:r>
              <a:rPr kumimoji="1" lang="en-US" altLang="ja-JP" sz="10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2 / 10</a:t>
            </a:r>
            <a:endParaRPr kumimoji="1" lang="ja-JP" altLang="en-US" sz="1000">
              <a:solidFill>
                <a:srgbClr val="6B7D8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CB8A2D2-A06C-71E4-39A5-1208F897981F}"/>
              </a:ext>
            </a:extLst>
          </p:cNvPr>
          <p:cNvSpPr/>
          <p:nvPr/>
        </p:nvSpPr>
        <p:spPr>
          <a:xfrm>
            <a:off x="533400" y="1625600"/>
            <a:ext cx="2533650" cy="190500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3A8897DC-59D0-122C-B0F4-50DBB3B4EB02}"/>
              </a:ext>
            </a:extLst>
          </p:cNvPr>
          <p:cNvSpPr/>
          <p:nvPr/>
        </p:nvSpPr>
        <p:spPr>
          <a:xfrm>
            <a:off x="1584325" y="1828800"/>
            <a:ext cx="431800" cy="43180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6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6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56C9F3C-BA88-6943-4509-DEC23C650590}"/>
              </a:ext>
            </a:extLst>
          </p:cNvPr>
          <p:cNvSpPr txBox="1"/>
          <p:nvPr/>
        </p:nvSpPr>
        <p:spPr>
          <a:xfrm>
            <a:off x="685800" y="2387600"/>
            <a:ext cx="222885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スケジュール画面を開く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BDBACF3-C39A-7A82-4D8A-322E3F87DEA6}"/>
              </a:ext>
            </a:extLst>
          </p:cNvPr>
          <p:cNvSpPr txBox="1"/>
          <p:nvPr/>
        </p:nvSpPr>
        <p:spPr>
          <a:xfrm>
            <a:off x="685800" y="2794000"/>
            <a:ext cx="222885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ポータル上部のメニューから「スケジュール」を選びます</a:t>
            </a:r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1284C3EC-E831-407D-1E9F-5C989D5A4CBD}"/>
              </a:ext>
            </a:extLst>
          </p:cNvPr>
          <p:cNvSpPr/>
          <p:nvPr/>
        </p:nvSpPr>
        <p:spPr>
          <a:xfrm>
            <a:off x="3143250" y="2476500"/>
            <a:ext cx="177800" cy="203200"/>
          </a:xfrm>
          <a:prstGeom prst="rightArrow">
            <a:avLst/>
          </a:prstGeom>
          <a:solidFill>
            <a:srgbClr val="C8D3D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E6657629-82C4-3877-F030-8AB9776751F5}"/>
              </a:ext>
            </a:extLst>
          </p:cNvPr>
          <p:cNvSpPr/>
          <p:nvPr/>
        </p:nvSpPr>
        <p:spPr>
          <a:xfrm>
            <a:off x="3397250" y="1625600"/>
            <a:ext cx="2533650" cy="190500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06AEB538-E196-7F6C-1973-2B7EC456E669}"/>
              </a:ext>
            </a:extLst>
          </p:cNvPr>
          <p:cNvSpPr/>
          <p:nvPr/>
        </p:nvSpPr>
        <p:spPr>
          <a:xfrm>
            <a:off x="4448175" y="1828800"/>
            <a:ext cx="431800" cy="43180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6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6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4DD9267-0262-17FD-2216-606081AD8456}"/>
              </a:ext>
            </a:extLst>
          </p:cNvPr>
          <p:cNvSpPr txBox="1"/>
          <p:nvPr/>
        </p:nvSpPr>
        <p:spPr>
          <a:xfrm>
            <a:off x="3549650" y="2387600"/>
            <a:ext cx="222885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「＋予定を作成」を押す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DB00584-32AD-ECCA-CFD0-B7B0424AD5CE}"/>
              </a:ext>
            </a:extLst>
          </p:cNvPr>
          <p:cNvSpPr txBox="1"/>
          <p:nvPr/>
        </p:nvSpPr>
        <p:spPr>
          <a:xfrm>
            <a:off x="3549650" y="2794000"/>
            <a:ext cx="222885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画面上部の青いボタンから、入力画面を開きます</a:t>
            </a:r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3BFFE82F-0C58-AD2B-60AA-DA6CDC32AC3B}"/>
              </a:ext>
            </a:extLst>
          </p:cNvPr>
          <p:cNvSpPr/>
          <p:nvPr/>
        </p:nvSpPr>
        <p:spPr>
          <a:xfrm>
            <a:off x="6007100" y="2476500"/>
            <a:ext cx="177800" cy="203200"/>
          </a:xfrm>
          <a:prstGeom prst="rightArrow">
            <a:avLst/>
          </a:prstGeom>
          <a:solidFill>
            <a:srgbClr val="C8D3D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D68D9D14-5BA7-EEF1-26C6-E91D519C23AE}"/>
              </a:ext>
            </a:extLst>
          </p:cNvPr>
          <p:cNvSpPr/>
          <p:nvPr/>
        </p:nvSpPr>
        <p:spPr>
          <a:xfrm>
            <a:off x="6261100" y="1625600"/>
            <a:ext cx="2533650" cy="190500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CABB96D3-A6E0-ABDF-8EE8-330AE3E68CF9}"/>
              </a:ext>
            </a:extLst>
          </p:cNvPr>
          <p:cNvSpPr/>
          <p:nvPr/>
        </p:nvSpPr>
        <p:spPr>
          <a:xfrm>
            <a:off x="7312025" y="1828800"/>
            <a:ext cx="431800" cy="43180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6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ja-JP" altLang="en-US" sz="16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8C6C1A1-782D-1DBF-4A1C-99E4F53AA01C}"/>
              </a:ext>
            </a:extLst>
          </p:cNvPr>
          <p:cNvSpPr txBox="1"/>
          <p:nvPr/>
        </p:nvSpPr>
        <p:spPr>
          <a:xfrm>
            <a:off x="6413500" y="2387600"/>
            <a:ext cx="222885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内容を入力して作成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6609160-B819-E1D0-08CF-63CE9A5DFA5E}"/>
              </a:ext>
            </a:extLst>
          </p:cNvPr>
          <p:cNvSpPr txBox="1"/>
          <p:nvPr/>
        </p:nvSpPr>
        <p:spPr>
          <a:xfrm>
            <a:off x="6413500" y="2794000"/>
            <a:ext cx="222885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件名・日付・時間などを入れて「作成する」を押します</a:t>
            </a:r>
          </a:p>
        </p:txBody>
      </p:sp>
      <p:sp>
        <p:nvSpPr>
          <p:cNvPr id="27" name="矢印: 右 26">
            <a:extLst>
              <a:ext uri="{FF2B5EF4-FFF2-40B4-BE49-F238E27FC236}">
                <a16:creationId xmlns:a16="http://schemas.microsoft.com/office/drawing/2014/main" id="{553C7BCC-6D8F-50AA-8668-60F0647D543A}"/>
              </a:ext>
            </a:extLst>
          </p:cNvPr>
          <p:cNvSpPr/>
          <p:nvPr/>
        </p:nvSpPr>
        <p:spPr>
          <a:xfrm>
            <a:off x="8870950" y="2476500"/>
            <a:ext cx="177800" cy="203200"/>
          </a:xfrm>
          <a:prstGeom prst="rightArrow">
            <a:avLst/>
          </a:prstGeom>
          <a:solidFill>
            <a:srgbClr val="C8D3D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A5969DF7-AAE0-0C95-37ED-DC93A92E7C30}"/>
              </a:ext>
            </a:extLst>
          </p:cNvPr>
          <p:cNvSpPr/>
          <p:nvPr/>
        </p:nvSpPr>
        <p:spPr>
          <a:xfrm>
            <a:off x="9124950" y="1625600"/>
            <a:ext cx="2533650" cy="190500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2C42D932-2011-5BA8-3B7C-AE3CACA4087E}"/>
              </a:ext>
            </a:extLst>
          </p:cNvPr>
          <p:cNvSpPr/>
          <p:nvPr/>
        </p:nvSpPr>
        <p:spPr>
          <a:xfrm>
            <a:off x="10175875" y="1828800"/>
            <a:ext cx="431800" cy="43180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6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endParaRPr kumimoji="1" lang="ja-JP" altLang="en-US" sz="16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545CEBF-D48E-B3A9-53B9-62FAEF8B873E}"/>
              </a:ext>
            </a:extLst>
          </p:cNvPr>
          <p:cNvSpPr txBox="1"/>
          <p:nvPr/>
        </p:nvSpPr>
        <p:spPr>
          <a:xfrm>
            <a:off x="9277350" y="2387600"/>
            <a:ext cx="222885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登録を確認する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1DB9519-B258-5A5C-07DE-146365F0F95F}"/>
              </a:ext>
            </a:extLst>
          </p:cNvPr>
          <p:cNvSpPr txBox="1"/>
          <p:nvPr/>
        </p:nvSpPr>
        <p:spPr>
          <a:xfrm>
            <a:off x="9277350" y="2794000"/>
            <a:ext cx="222885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「自分の予定」と「今週の予定」に表示されます</a:t>
            </a:r>
          </a:p>
        </p:txBody>
      </p:sp>
      <p:sp>
        <p:nvSpPr>
          <p:cNvPr id="32" name="補足の枠">
            <a:extLst>
              <a:ext uri="{FF2B5EF4-FFF2-40B4-BE49-F238E27FC236}">
                <a16:creationId xmlns:a16="http://schemas.microsoft.com/office/drawing/2014/main" id="{7649E29A-51A1-76CC-F076-9C6F0CEE1BC3}"/>
              </a:ext>
            </a:extLst>
          </p:cNvPr>
          <p:cNvSpPr/>
          <p:nvPr/>
        </p:nvSpPr>
        <p:spPr>
          <a:xfrm>
            <a:off x="533400" y="3860800"/>
            <a:ext cx="11125200" cy="701062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4CA117E-DB88-9263-3BB9-76011FF08932}"/>
              </a:ext>
            </a:extLst>
          </p:cNvPr>
          <p:cNvSpPr txBox="1"/>
          <p:nvPr/>
        </p:nvSpPr>
        <p:spPr>
          <a:xfrm>
            <a:off x="685800" y="3975100"/>
            <a:ext cx="10820400" cy="193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ポイント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DC158C50-C64A-D6B6-20AA-ECD8F2629971}"/>
              </a:ext>
            </a:extLst>
          </p:cNvPr>
          <p:cNvSpPr txBox="1"/>
          <p:nvPr/>
        </p:nvSpPr>
        <p:spPr>
          <a:xfrm>
            <a:off x="685800" y="4206971"/>
            <a:ext cx="10820400" cy="2024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ポータルで入力した予定は、</a:t>
            </a:r>
            <a:r>
              <a:rPr kumimoji="1" lang="ja-JP" altLang="en-US" sz="12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スタッフ予定の画面にも表示されます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。同じ展示場・部署の人が、あなたの予定を確認できます。</a:t>
            </a:r>
          </a:p>
        </p:txBody>
      </p:sp>
      <p:sp>
        <p:nvSpPr>
          <p:cNvPr id="35" name="補足の枠">
            <a:extLst>
              <a:ext uri="{FF2B5EF4-FFF2-40B4-BE49-F238E27FC236}">
                <a16:creationId xmlns:a16="http://schemas.microsoft.com/office/drawing/2014/main" id="{13545613-C0BC-E72F-FD66-D967E4350E47}"/>
              </a:ext>
            </a:extLst>
          </p:cNvPr>
          <p:cNvSpPr/>
          <p:nvPr/>
        </p:nvSpPr>
        <p:spPr>
          <a:xfrm>
            <a:off x="533400" y="4714262"/>
            <a:ext cx="11125200" cy="913556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E729D28-B443-3B61-10DB-FEE815B3B41C}"/>
              </a:ext>
            </a:extLst>
          </p:cNvPr>
          <p:cNvSpPr txBox="1"/>
          <p:nvPr/>
        </p:nvSpPr>
        <p:spPr>
          <a:xfrm>
            <a:off x="685800" y="4828562"/>
            <a:ext cx="10820400" cy="193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この資料の範囲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DC75762F-9F75-EC3C-A02A-52AFDFD6253E}"/>
              </a:ext>
            </a:extLst>
          </p:cNvPr>
          <p:cNvSpPr txBox="1"/>
          <p:nvPr/>
        </p:nvSpPr>
        <p:spPr>
          <a:xfrm>
            <a:off x="685800" y="5060433"/>
            <a:ext cx="1082040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会議室・社用車を予約しない予定の入力方法です。会議室・社用車を予約する場合は「スケジュールを入力する</a:t>
            </a:r>
            <a:r>
              <a:rPr kumimoji="1" lang="en-US" altLang="ja-JP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会議室・社用車の予約がある場合</a:t>
            </a:r>
            <a:r>
              <a:rPr kumimoji="1" lang="en-US" altLang="ja-JP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」をご覧ください。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3093978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ステップ</a:t>
            </a:r>
            <a:r>
              <a:rPr kumimoji="0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</a:t>
            </a: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スケジュール画面を開く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ポータルのトップ画面から開きます</a:t>
            </a:r>
            <a:endParaRPr lang="en-US" altLang="ja-JP" sz="1400" dirty="0"/>
          </a:p>
        </p:txBody>
      </p:sp>
      <p:sp>
        <p:nvSpPr>
          <p:cNvPr id="3" name="ページ番号">
            <a:extLst>
              <a:ext uri="{FF2B5EF4-FFF2-40B4-BE49-F238E27FC236}">
                <a16:creationId xmlns:a16="http://schemas.microsoft.com/office/drawing/2014/main" id="{F895EDED-F38C-85B6-7E90-2525832E2E27}"/>
              </a:ext>
            </a:extLst>
          </p:cNvPr>
          <p:cNvSpPr txBox="1"/>
          <p:nvPr/>
        </p:nvSpPr>
        <p:spPr>
          <a:xfrm>
            <a:off x="10134600" y="6578600"/>
            <a:ext cx="1524000" cy="168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15000"/>
              </a:lnSpc>
            </a:pPr>
            <a:r>
              <a:rPr kumimoji="1" lang="en-US" altLang="ja-JP" sz="10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3 / 10</a:t>
            </a:r>
            <a:endParaRPr kumimoji="1" lang="ja-JP" altLang="en-US" sz="1000">
              <a:solidFill>
                <a:srgbClr val="6B7D8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7" name="画面_a01_top">
            <a:extLst>
              <a:ext uri="{FF2B5EF4-FFF2-40B4-BE49-F238E27FC236}">
                <a16:creationId xmlns:a16="http://schemas.microsoft.com/office/drawing/2014/main" id="{C10C5E2F-57FC-3CE9-4C46-6A121911815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68400"/>
            <a:ext cx="11017521" cy="3683000"/>
          </a:xfrm>
          <a:prstGeom prst="rect">
            <a:avLst/>
          </a:prstGeom>
          <a:ln w="9525">
            <a:solidFill>
              <a:srgbClr val="C8D3DF"/>
            </a:solidFill>
          </a:ln>
        </p:spPr>
      </p:pic>
      <p:sp>
        <p:nvSpPr>
          <p:cNvPr id="12" name="赤枠_1">
            <a:extLst>
              <a:ext uri="{FF2B5EF4-FFF2-40B4-BE49-F238E27FC236}">
                <a16:creationId xmlns:a16="http://schemas.microsoft.com/office/drawing/2014/main" id="{E8530548-7AE4-A7AE-5E0C-FE9841534E4E}"/>
              </a:ext>
            </a:extLst>
          </p:cNvPr>
          <p:cNvSpPr/>
          <p:nvPr/>
        </p:nvSpPr>
        <p:spPr>
          <a:xfrm>
            <a:off x="4826563" y="1268019"/>
            <a:ext cx="690034" cy="225724"/>
          </a:xfrm>
          <a:prstGeom prst="roundRect">
            <a:avLst>
              <a:gd name="adj" fmla="val 22222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番号_1">
            <a:extLst>
              <a:ext uri="{FF2B5EF4-FFF2-40B4-BE49-F238E27FC236}">
                <a16:creationId xmlns:a16="http://schemas.microsoft.com/office/drawing/2014/main" id="{2D5F6993-FE73-4615-8A20-1A7DEC42A789}"/>
              </a:ext>
            </a:extLst>
          </p:cNvPr>
          <p:cNvSpPr/>
          <p:nvPr/>
        </p:nvSpPr>
        <p:spPr>
          <a:xfrm>
            <a:off x="4712263" y="1153719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赤枠_2">
            <a:extLst>
              <a:ext uri="{FF2B5EF4-FFF2-40B4-BE49-F238E27FC236}">
                <a16:creationId xmlns:a16="http://schemas.microsoft.com/office/drawing/2014/main" id="{9794CBC3-435F-61B9-702E-94DDCD6D6393}"/>
              </a:ext>
            </a:extLst>
          </p:cNvPr>
          <p:cNvSpPr/>
          <p:nvPr/>
        </p:nvSpPr>
        <p:spPr>
          <a:xfrm>
            <a:off x="10107841" y="2153356"/>
            <a:ext cx="1134915" cy="335898"/>
          </a:xfrm>
          <a:prstGeom prst="roundRect">
            <a:avLst>
              <a:gd name="adj" fmla="val 15385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番号_2">
            <a:extLst>
              <a:ext uri="{FF2B5EF4-FFF2-40B4-BE49-F238E27FC236}">
                <a16:creationId xmlns:a16="http://schemas.microsoft.com/office/drawing/2014/main" id="{77DCC4C0-CFD6-A101-3C63-7C471C539F6D}"/>
              </a:ext>
            </a:extLst>
          </p:cNvPr>
          <p:cNvSpPr/>
          <p:nvPr/>
        </p:nvSpPr>
        <p:spPr>
          <a:xfrm>
            <a:off x="9993541" y="2039056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手順番号_1">
            <a:extLst>
              <a:ext uri="{FF2B5EF4-FFF2-40B4-BE49-F238E27FC236}">
                <a16:creationId xmlns:a16="http://schemas.microsoft.com/office/drawing/2014/main" id="{CCD631D8-ACD9-2C43-8C23-FB88FF516F4A}"/>
              </a:ext>
            </a:extLst>
          </p:cNvPr>
          <p:cNvSpPr/>
          <p:nvPr/>
        </p:nvSpPr>
        <p:spPr>
          <a:xfrm>
            <a:off x="533400" y="5041900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E7E21EF-C7BF-1AED-7E88-E2090BE2C2D6}"/>
              </a:ext>
            </a:extLst>
          </p:cNvPr>
          <p:cNvSpPr txBox="1"/>
          <p:nvPr/>
        </p:nvSpPr>
        <p:spPr>
          <a:xfrm>
            <a:off x="939800" y="5054600"/>
            <a:ext cx="30988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上部メニューの「スケジュール」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872641B-B61F-6D0B-FFFC-A175891E614E}"/>
              </a:ext>
            </a:extLst>
          </p:cNvPr>
          <p:cNvSpPr txBox="1"/>
          <p:nvPr/>
        </p:nvSpPr>
        <p:spPr>
          <a:xfrm>
            <a:off x="939800" y="5358033"/>
            <a:ext cx="3098800" cy="4323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どの画面からでも、上部のメニューから開けます。</a:t>
            </a:r>
          </a:p>
        </p:txBody>
      </p:sp>
      <p:sp>
        <p:nvSpPr>
          <p:cNvPr id="21" name="手順番号_2">
            <a:extLst>
              <a:ext uri="{FF2B5EF4-FFF2-40B4-BE49-F238E27FC236}">
                <a16:creationId xmlns:a16="http://schemas.microsoft.com/office/drawing/2014/main" id="{9E3117BF-5333-1178-146A-328D32B25522}"/>
              </a:ext>
            </a:extLst>
          </p:cNvPr>
          <p:cNvSpPr/>
          <p:nvPr/>
        </p:nvSpPr>
        <p:spPr>
          <a:xfrm>
            <a:off x="4343400" y="5041900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A91D5F7-688D-0A42-5442-6DDE3E571BD2}"/>
              </a:ext>
            </a:extLst>
          </p:cNvPr>
          <p:cNvSpPr txBox="1"/>
          <p:nvPr/>
        </p:nvSpPr>
        <p:spPr>
          <a:xfrm>
            <a:off x="4749800" y="5054600"/>
            <a:ext cx="3098800" cy="5180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「今日の予定」の「予定作成</a:t>
            </a:r>
            <a:r>
              <a:rPr kumimoji="1" lang="en-US" altLang="ja-JP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/</a:t>
            </a: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詳細確認」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BBCE005-70A3-5D0B-8190-87D950C02A97}"/>
              </a:ext>
            </a:extLst>
          </p:cNvPr>
          <p:cNvSpPr txBox="1"/>
          <p:nvPr/>
        </p:nvSpPr>
        <p:spPr>
          <a:xfrm>
            <a:off x="4749800" y="5623491"/>
            <a:ext cx="3098800" cy="4323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トップ画面の「今日の予定」の枠にあるボタンからも開けます。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5D7526A-CC47-1D7A-4531-FB2E020C3697}"/>
              </a:ext>
            </a:extLst>
          </p:cNvPr>
          <p:cNvSpPr txBox="1"/>
          <p:nvPr/>
        </p:nvSpPr>
        <p:spPr>
          <a:xfrm>
            <a:off x="8153400" y="5054600"/>
            <a:ext cx="35052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予定から直接開く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0515FBB-D5A4-9611-86E8-701E02379A56}"/>
              </a:ext>
            </a:extLst>
          </p:cNvPr>
          <p:cNvSpPr txBox="1"/>
          <p:nvPr/>
        </p:nvSpPr>
        <p:spPr>
          <a:xfrm>
            <a:off x="8153400" y="5358033"/>
            <a:ext cx="3505200" cy="4323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「今日の予定」に表示された自分の予定をクリックすると、その予定の変更画面が開きます。</a:t>
            </a:r>
          </a:p>
        </p:txBody>
      </p:sp>
    </p:spTree>
    <p:extLst>
      <p:ext uri="{BB962C8B-B14F-4D97-AF65-F5344CB8AC3E}">
        <p14:creationId xmlns:p14="http://schemas.microsoft.com/office/powerpoint/2010/main" val="2081237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ステップ</a:t>
            </a:r>
            <a:r>
              <a:rPr kumimoji="0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</a:t>
            </a: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スケジュール画面の見方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予定の作成は、画面上部の「＋予定を作成」から行います</a:t>
            </a:r>
            <a:endParaRPr lang="en-US" altLang="ja-JP" sz="1400" dirty="0"/>
          </a:p>
        </p:txBody>
      </p:sp>
      <p:sp>
        <p:nvSpPr>
          <p:cNvPr id="3" name="ページ番号">
            <a:extLst>
              <a:ext uri="{FF2B5EF4-FFF2-40B4-BE49-F238E27FC236}">
                <a16:creationId xmlns:a16="http://schemas.microsoft.com/office/drawing/2014/main" id="{98775833-0AE3-B572-6D5E-6E47B1BDEC58}"/>
              </a:ext>
            </a:extLst>
          </p:cNvPr>
          <p:cNvSpPr txBox="1"/>
          <p:nvPr/>
        </p:nvSpPr>
        <p:spPr>
          <a:xfrm>
            <a:off x="10134600" y="6578600"/>
            <a:ext cx="1524000" cy="168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15000"/>
              </a:lnSpc>
            </a:pPr>
            <a:r>
              <a:rPr kumimoji="1" lang="en-US" altLang="ja-JP" sz="10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4 / 10</a:t>
            </a:r>
            <a:endParaRPr kumimoji="1" lang="ja-JP" altLang="en-US" sz="1000">
              <a:solidFill>
                <a:srgbClr val="6B7D8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7" name="画面_a02_schedule">
            <a:extLst>
              <a:ext uri="{FF2B5EF4-FFF2-40B4-BE49-F238E27FC236}">
                <a16:creationId xmlns:a16="http://schemas.microsoft.com/office/drawing/2014/main" id="{FE86521F-B513-6AD2-B3FD-90D27AA2FCA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68400"/>
            <a:ext cx="7620000" cy="4310743"/>
          </a:xfrm>
          <a:prstGeom prst="rect">
            <a:avLst/>
          </a:prstGeom>
          <a:ln w="9525">
            <a:solidFill>
              <a:srgbClr val="C8D3DF"/>
            </a:solidFill>
          </a:ln>
        </p:spPr>
      </p:pic>
      <p:sp>
        <p:nvSpPr>
          <p:cNvPr id="12" name="赤枠_1">
            <a:extLst>
              <a:ext uri="{FF2B5EF4-FFF2-40B4-BE49-F238E27FC236}">
                <a16:creationId xmlns:a16="http://schemas.microsoft.com/office/drawing/2014/main" id="{A5F69601-13DE-7135-B551-78ADDCCCE97C}"/>
              </a:ext>
            </a:extLst>
          </p:cNvPr>
          <p:cNvSpPr/>
          <p:nvPr/>
        </p:nvSpPr>
        <p:spPr>
          <a:xfrm>
            <a:off x="625929" y="1530350"/>
            <a:ext cx="1970314" cy="250371"/>
          </a:xfrm>
          <a:prstGeom prst="roundRect">
            <a:avLst>
              <a:gd name="adj" fmla="val 20000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番号_1">
            <a:extLst>
              <a:ext uri="{FF2B5EF4-FFF2-40B4-BE49-F238E27FC236}">
                <a16:creationId xmlns:a16="http://schemas.microsoft.com/office/drawing/2014/main" id="{CCDA577A-E706-36F4-5BB3-96F11EFA57B9}"/>
              </a:ext>
            </a:extLst>
          </p:cNvPr>
          <p:cNvSpPr/>
          <p:nvPr/>
        </p:nvSpPr>
        <p:spPr>
          <a:xfrm>
            <a:off x="511629" y="1416050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赤枠_2">
            <a:extLst>
              <a:ext uri="{FF2B5EF4-FFF2-40B4-BE49-F238E27FC236}">
                <a16:creationId xmlns:a16="http://schemas.microsoft.com/office/drawing/2014/main" id="{6438EB81-E166-E472-D93E-8E0B1085ED17}"/>
              </a:ext>
            </a:extLst>
          </p:cNvPr>
          <p:cNvSpPr/>
          <p:nvPr/>
        </p:nvSpPr>
        <p:spPr>
          <a:xfrm>
            <a:off x="3671888" y="1527629"/>
            <a:ext cx="660626" cy="255814"/>
          </a:xfrm>
          <a:prstGeom prst="roundRect">
            <a:avLst>
              <a:gd name="adj" fmla="val 20000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番号_2">
            <a:extLst>
              <a:ext uri="{FF2B5EF4-FFF2-40B4-BE49-F238E27FC236}">
                <a16:creationId xmlns:a16="http://schemas.microsoft.com/office/drawing/2014/main" id="{2BA217BE-629C-B9B4-3A44-061D4342F5C4}"/>
              </a:ext>
            </a:extLst>
          </p:cNvPr>
          <p:cNvSpPr/>
          <p:nvPr/>
        </p:nvSpPr>
        <p:spPr>
          <a:xfrm>
            <a:off x="4218214" y="1413329"/>
            <a:ext cx="228600" cy="228599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赤枠_3">
            <a:extLst>
              <a:ext uri="{FF2B5EF4-FFF2-40B4-BE49-F238E27FC236}">
                <a16:creationId xmlns:a16="http://schemas.microsoft.com/office/drawing/2014/main" id="{B0DDD747-563D-7324-4C63-21F89BDF27D8}"/>
              </a:ext>
            </a:extLst>
          </p:cNvPr>
          <p:cNvSpPr/>
          <p:nvPr/>
        </p:nvSpPr>
        <p:spPr>
          <a:xfrm>
            <a:off x="651329" y="1836057"/>
            <a:ext cx="3655785" cy="1081315"/>
          </a:xfrm>
          <a:prstGeom prst="roundRect">
            <a:avLst>
              <a:gd name="adj" fmla="val 4706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番号_3">
            <a:extLst>
              <a:ext uri="{FF2B5EF4-FFF2-40B4-BE49-F238E27FC236}">
                <a16:creationId xmlns:a16="http://schemas.microsoft.com/office/drawing/2014/main" id="{18760CF0-8255-E237-7145-7FD5B90B61F6}"/>
              </a:ext>
            </a:extLst>
          </p:cNvPr>
          <p:cNvSpPr/>
          <p:nvPr/>
        </p:nvSpPr>
        <p:spPr>
          <a:xfrm>
            <a:off x="397329" y="2262414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0" name="赤枠_4">
            <a:extLst>
              <a:ext uri="{FF2B5EF4-FFF2-40B4-BE49-F238E27FC236}">
                <a16:creationId xmlns:a16="http://schemas.microsoft.com/office/drawing/2014/main" id="{8840ECD9-D28E-934A-BF95-D8209C8B8E8C}"/>
              </a:ext>
            </a:extLst>
          </p:cNvPr>
          <p:cNvSpPr/>
          <p:nvPr/>
        </p:nvSpPr>
        <p:spPr>
          <a:xfrm>
            <a:off x="651329" y="3000829"/>
            <a:ext cx="3655785" cy="1979386"/>
          </a:xfrm>
          <a:prstGeom prst="roundRect">
            <a:avLst>
              <a:gd name="adj" fmla="val 2564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番号_4">
            <a:extLst>
              <a:ext uri="{FF2B5EF4-FFF2-40B4-BE49-F238E27FC236}">
                <a16:creationId xmlns:a16="http://schemas.microsoft.com/office/drawing/2014/main" id="{2A582244-F78E-4929-966A-66E3A3DE83BE}"/>
              </a:ext>
            </a:extLst>
          </p:cNvPr>
          <p:cNvSpPr/>
          <p:nvPr/>
        </p:nvSpPr>
        <p:spPr>
          <a:xfrm>
            <a:off x="397329" y="3876222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2" name="赤枠_5">
            <a:extLst>
              <a:ext uri="{FF2B5EF4-FFF2-40B4-BE49-F238E27FC236}">
                <a16:creationId xmlns:a16="http://schemas.microsoft.com/office/drawing/2014/main" id="{8BD3482D-AFDC-F5B6-D1CB-FF8DCB517F29}"/>
              </a:ext>
            </a:extLst>
          </p:cNvPr>
          <p:cNvSpPr/>
          <p:nvPr/>
        </p:nvSpPr>
        <p:spPr>
          <a:xfrm>
            <a:off x="4379686" y="1836057"/>
            <a:ext cx="3655786" cy="3643086"/>
          </a:xfrm>
          <a:prstGeom prst="roundRect">
            <a:avLst>
              <a:gd name="adj" fmla="val 1394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番号_5">
            <a:extLst>
              <a:ext uri="{FF2B5EF4-FFF2-40B4-BE49-F238E27FC236}">
                <a16:creationId xmlns:a16="http://schemas.microsoft.com/office/drawing/2014/main" id="{EE12B49B-051F-21F4-CA83-BDF235677390}"/>
              </a:ext>
            </a:extLst>
          </p:cNvPr>
          <p:cNvSpPr/>
          <p:nvPr/>
        </p:nvSpPr>
        <p:spPr>
          <a:xfrm>
            <a:off x="7921172" y="1721757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4" name="手順番号_1">
            <a:extLst>
              <a:ext uri="{FF2B5EF4-FFF2-40B4-BE49-F238E27FC236}">
                <a16:creationId xmlns:a16="http://schemas.microsoft.com/office/drawing/2014/main" id="{00ACB416-471C-C3AF-9C60-462476232CB1}"/>
              </a:ext>
            </a:extLst>
          </p:cNvPr>
          <p:cNvSpPr/>
          <p:nvPr/>
        </p:nvSpPr>
        <p:spPr>
          <a:xfrm>
            <a:off x="8483600" y="1155700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9891896-1C6D-9445-B75D-FA6B8AEC5A8C}"/>
              </a:ext>
            </a:extLst>
          </p:cNvPr>
          <p:cNvSpPr txBox="1"/>
          <p:nvPr/>
        </p:nvSpPr>
        <p:spPr>
          <a:xfrm>
            <a:off x="8890000" y="1168400"/>
            <a:ext cx="2768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日付の切り替え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D35C055-0ACC-132C-0BE0-2A25C22957D0}"/>
              </a:ext>
            </a:extLst>
          </p:cNvPr>
          <p:cNvSpPr txBox="1"/>
          <p:nvPr/>
        </p:nvSpPr>
        <p:spPr>
          <a:xfrm>
            <a:off x="8890000" y="1471833"/>
            <a:ext cx="2768600" cy="4323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‹ ›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」で前後の日へ。「今日」で今日に戻ります。</a:t>
            </a:r>
          </a:p>
        </p:txBody>
      </p:sp>
      <p:sp>
        <p:nvSpPr>
          <p:cNvPr id="28" name="手順番号_2">
            <a:extLst>
              <a:ext uri="{FF2B5EF4-FFF2-40B4-BE49-F238E27FC236}">
                <a16:creationId xmlns:a16="http://schemas.microsoft.com/office/drawing/2014/main" id="{35D4819A-9816-F238-8BCC-575B00433EEE}"/>
              </a:ext>
            </a:extLst>
          </p:cNvPr>
          <p:cNvSpPr/>
          <p:nvPr/>
        </p:nvSpPr>
        <p:spPr>
          <a:xfrm>
            <a:off x="8483600" y="2005795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7B17E5B-E7FE-FF9A-55A8-C88DB984FB50}"/>
              </a:ext>
            </a:extLst>
          </p:cNvPr>
          <p:cNvSpPr txBox="1"/>
          <p:nvPr/>
        </p:nvSpPr>
        <p:spPr>
          <a:xfrm>
            <a:off x="8890000" y="2018495"/>
            <a:ext cx="2768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＋予定を作成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0A12A0D-0F23-7841-23C2-2FD50E39441C}"/>
              </a:ext>
            </a:extLst>
          </p:cNvPr>
          <p:cNvSpPr txBox="1"/>
          <p:nvPr/>
        </p:nvSpPr>
        <p:spPr>
          <a:xfrm>
            <a:off x="8890000" y="2321928"/>
            <a:ext cx="2768600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予定の入力画面を開きます。</a:t>
            </a:r>
          </a:p>
        </p:txBody>
      </p:sp>
      <p:sp>
        <p:nvSpPr>
          <p:cNvPr id="31" name="手順番号_3">
            <a:extLst>
              <a:ext uri="{FF2B5EF4-FFF2-40B4-BE49-F238E27FC236}">
                <a16:creationId xmlns:a16="http://schemas.microsoft.com/office/drawing/2014/main" id="{88969332-5504-6449-E8BD-CABF240411DE}"/>
              </a:ext>
            </a:extLst>
          </p:cNvPr>
          <p:cNvSpPr/>
          <p:nvPr/>
        </p:nvSpPr>
        <p:spPr>
          <a:xfrm>
            <a:off x="8483600" y="2634676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C8EE405-3EFD-0912-3ED1-3085B5689BBB}"/>
              </a:ext>
            </a:extLst>
          </p:cNvPr>
          <p:cNvSpPr txBox="1"/>
          <p:nvPr/>
        </p:nvSpPr>
        <p:spPr>
          <a:xfrm>
            <a:off x="8890000" y="2647376"/>
            <a:ext cx="2768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自分の予定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9D1CF8F9-7DD9-35CB-F7AF-C183378D5A72}"/>
              </a:ext>
            </a:extLst>
          </p:cNvPr>
          <p:cNvSpPr txBox="1"/>
          <p:nvPr/>
        </p:nvSpPr>
        <p:spPr>
          <a:xfrm>
            <a:off x="8890000" y="2950809"/>
            <a:ext cx="2768600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選んでいる日の自分の予定です。</a:t>
            </a:r>
          </a:p>
        </p:txBody>
      </p:sp>
      <p:sp>
        <p:nvSpPr>
          <p:cNvPr id="34" name="手順番号_4">
            <a:extLst>
              <a:ext uri="{FF2B5EF4-FFF2-40B4-BE49-F238E27FC236}">
                <a16:creationId xmlns:a16="http://schemas.microsoft.com/office/drawing/2014/main" id="{A0B45249-8FFC-799A-10C8-E64C98D4D33E}"/>
              </a:ext>
            </a:extLst>
          </p:cNvPr>
          <p:cNvSpPr/>
          <p:nvPr/>
        </p:nvSpPr>
        <p:spPr>
          <a:xfrm>
            <a:off x="8483600" y="3263557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B063F92-CCEB-302A-2838-F31DDA6F6E6E}"/>
              </a:ext>
            </a:extLst>
          </p:cNvPr>
          <p:cNvSpPr txBox="1"/>
          <p:nvPr/>
        </p:nvSpPr>
        <p:spPr>
          <a:xfrm>
            <a:off x="8890000" y="3276257"/>
            <a:ext cx="2768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今週の予定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95D21AF-1493-C0C3-357B-4BF2CB6A6B4E}"/>
              </a:ext>
            </a:extLst>
          </p:cNvPr>
          <p:cNvSpPr txBox="1"/>
          <p:nvPr/>
        </p:nvSpPr>
        <p:spPr>
          <a:xfrm>
            <a:off x="8890000" y="3579690"/>
            <a:ext cx="2768600" cy="4323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週間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日曜始まり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の予定です。日付の行を押すと、その日に切り替わります。</a:t>
            </a:r>
          </a:p>
        </p:txBody>
      </p:sp>
      <p:sp>
        <p:nvSpPr>
          <p:cNvPr id="37" name="手順番号_5">
            <a:extLst>
              <a:ext uri="{FF2B5EF4-FFF2-40B4-BE49-F238E27FC236}">
                <a16:creationId xmlns:a16="http://schemas.microsoft.com/office/drawing/2014/main" id="{59F6473D-8D21-BFAB-CE8C-4B5FF94CE221}"/>
              </a:ext>
            </a:extLst>
          </p:cNvPr>
          <p:cNvSpPr/>
          <p:nvPr/>
        </p:nvSpPr>
        <p:spPr>
          <a:xfrm>
            <a:off x="8483600" y="4113652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98281996-9AE0-C839-AAE5-062179FA8696}"/>
              </a:ext>
            </a:extLst>
          </p:cNvPr>
          <p:cNvSpPr txBox="1"/>
          <p:nvPr/>
        </p:nvSpPr>
        <p:spPr>
          <a:xfrm>
            <a:off x="8890000" y="4126352"/>
            <a:ext cx="2768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会議室・社用車の空き状況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D49330B0-EF61-FD7E-5E50-7B872ABC3542}"/>
              </a:ext>
            </a:extLst>
          </p:cNvPr>
          <p:cNvSpPr txBox="1"/>
          <p:nvPr/>
        </p:nvSpPr>
        <p:spPr>
          <a:xfrm>
            <a:off x="8890000" y="4429785"/>
            <a:ext cx="2768600" cy="4323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予約がある場合に使います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別冊で説明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7344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ステップ</a:t>
            </a:r>
            <a:r>
              <a:rPr kumimoji="0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</a:t>
            </a: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予定の内容を入力する</a:t>
            </a:r>
            <a:r>
              <a:rPr kumimoji="0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(1/2)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「＋予定を作成」を押すと、入力画面が開きます</a:t>
            </a:r>
            <a:endParaRPr lang="en-US" altLang="ja-JP" sz="1400" dirty="0"/>
          </a:p>
        </p:txBody>
      </p:sp>
      <p:sp>
        <p:nvSpPr>
          <p:cNvPr id="3" name="ページ番号">
            <a:extLst>
              <a:ext uri="{FF2B5EF4-FFF2-40B4-BE49-F238E27FC236}">
                <a16:creationId xmlns:a16="http://schemas.microsoft.com/office/drawing/2014/main" id="{008D0F00-C8A6-BDAF-5653-D2D34D36095B}"/>
              </a:ext>
            </a:extLst>
          </p:cNvPr>
          <p:cNvSpPr txBox="1"/>
          <p:nvPr/>
        </p:nvSpPr>
        <p:spPr>
          <a:xfrm>
            <a:off x="10134600" y="6578600"/>
            <a:ext cx="1524000" cy="168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15000"/>
              </a:lnSpc>
            </a:pPr>
            <a:r>
              <a:rPr kumimoji="1" lang="en-US" altLang="ja-JP" sz="10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5 / 10</a:t>
            </a:r>
            <a:endParaRPr kumimoji="1" lang="ja-JP" altLang="en-US" sz="1000">
              <a:solidFill>
                <a:srgbClr val="6B7D8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7" name="画面_a05_form_filled">
            <a:extLst>
              <a:ext uri="{FF2B5EF4-FFF2-40B4-BE49-F238E27FC236}">
                <a16:creationId xmlns:a16="http://schemas.microsoft.com/office/drawing/2014/main" id="{A920B8A5-0F78-FB38-C45D-0F56E17466A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68400"/>
            <a:ext cx="5030439" cy="5156200"/>
          </a:xfrm>
          <a:prstGeom prst="rect">
            <a:avLst/>
          </a:prstGeom>
          <a:ln w="9525">
            <a:solidFill>
              <a:srgbClr val="C8D3DF"/>
            </a:solidFill>
          </a:ln>
        </p:spPr>
      </p:pic>
      <p:sp>
        <p:nvSpPr>
          <p:cNvPr id="12" name="赤枠_1">
            <a:extLst>
              <a:ext uri="{FF2B5EF4-FFF2-40B4-BE49-F238E27FC236}">
                <a16:creationId xmlns:a16="http://schemas.microsoft.com/office/drawing/2014/main" id="{EC4DF01D-9851-F505-A0B9-41E0B8971972}"/>
              </a:ext>
            </a:extLst>
          </p:cNvPr>
          <p:cNvSpPr/>
          <p:nvPr/>
        </p:nvSpPr>
        <p:spPr>
          <a:xfrm>
            <a:off x="890751" y="2619324"/>
            <a:ext cx="4315737" cy="415325"/>
          </a:xfrm>
          <a:prstGeom prst="roundRect">
            <a:avLst>
              <a:gd name="adj" fmla="val 12121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番号_1">
            <a:extLst>
              <a:ext uri="{FF2B5EF4-FFF2-40B4-BE49-F238E27FC236}">
                <a16:creationId xmlns:a16="http://schemas.microsoft.com/office/drawing/2014/main" id="{29E90B3D-A7E1-0625-4441-305FD141A383}"/>
              </a:ext>
            </a:extLst>
          </p:cNvPr>
          <p:cNvSpPr/>
          <p:nvPr/>
        </p:nvSpPr>
        <p:spPr>
          <a:xfrm>
            <a:off x="636751" y="2712687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赤枠_2">
            <a:extLst>
              <a:ext uri="{FF2B5EF4-FFF2-40B4-BE49-F238E27FC236}">
                <a16:creationId xmlns:a16="http://schemas.microsoft.com/office/drawing/2014/main" id="{8FD0B934-1FFA-28DA-1861-F10DD2100746}"/>
              </a:ext>
            </a:extLst>
          </p:cNvPr>
          <p:cNvSpPr/>
          <p:nvPr/>
        </p:nvSpPr>
        <p:spPr>
          <a:xfrm>
            <a:off x="890751" y="4369042"/>
            <a:ext cx="4315737" cy="433551"/>
          </a:xfrm>
          <a:prstGeom prst="roundRect">
            <a:avLst>
              <a:gd name="adj" fmla="val 11765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番号_2">
            <a:extLst>
              <a:ext uri="{FF2B5EF4-FFF2-40B4-BE49-F238E27FC236}">
                <a16:creationId xmlns:a16="http://schemas.microsoft.com/office/drawing/2014/main" id="{A0E718D8-8CB6-78EA-C911-B0839CAC1E59}"/>
              </a:ext>
            </a:extLst>
          </p:cNvPr>
          <p:cNvSpPr/>
          <p:nvPr/>
        </p:nvSpPr>
        <p:spPr>
          <a:xfrm>
            <a:off x="636751" y="4471518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赤枠_3">
            <a:extLst>
              <a:ext uri="{FF2B5EF4-FFF2-40B4-BE49-F238E27FC236}">
                <a16:creationId xmlns:a16="http://schemas.microsoft.com/office/drawing/2014/main" id="{BFAD2175-CCF3-947B-843B-75C550475C95}"/>
              </a:ext>
            </a:extLst>
          </p:cNvPr>
          <p:cNvSpPr/>
          <p:nvPr/>
        </p:nvSpPr>
        <p:spPr>
          <a:xfrm>
            <a:off x="890751" y="5079866"/>
            <a:ext cx="2010119" cy="433550"/>
          </a:xfrm>
          <a:prstGeom prst="roundRect">
            <a:avLst>
              <a:gd name="adj" fmla="val 11765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番号_3">
            <a:extLst>
              <a:ext uri="{FF2B5EF4-FFF2-40B4-BE49-F238E27FC236}">
                <a16:creationId xmlns:a16="http://schemas.microsoft.com/office/drawing/2014/main" id="{28252E9D-3267-B2AC-916F-7DF9D5483C62}"/>
              </a:ext>
            </a:extLst>
          </p:cNvPr>
          <p:cNvSpPr/>
          <p:nvPr/>
        </p:nvSpPr>
        <p:spPr>
          <a:xfrm>
            <a:off x="636751" y="5182341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0" name="赤枠_">
            <a:extLst>
              <a:ext uri="{FF2B5EF4-FFF2-40B4-BE49-F238E27FC236}">
                <a16:creationId xmlns:a16="http://schemas.microsoft.com/office/drawing/2014/main" id="{39B5F2ED-0C5C-4255-653A-16715DBB815B}"/>
              </a:ext>
            </a:extLst>
          </p:cNvPr>
          <p:cNvSpPr/>
          <p:nvPr/>
        </p:nvSpPr>
        <p:spPr>
          <a:xfrm>
            <a:off x="3196369" y="5079866"/>
            <a:ext cx="2010119" cy="433550"/>
          </a:xfrm>
          <a:prstGeom prst="roundRect">
            <a:avLst>
              <a:gd name="adj" fmla="val 11765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赤枠_4">
            <a:extLst>
              <a:ext uri="{FF2B5EF4-FFF2-40B4-BE49-F238E27FC236}">
                <a16:creationId xmlns:a16="http://schemas.microsoft.com/office/drawing/2014/main" id="{F9E5C706-CA59-90B5-3E6E-9DE0E8EB5111}"/>
              </a:ext>
            </a:extLst>
          </p:cNvPr>
          <p:cNvSpPr/>
          <p:nvPr/>
        </p:nvSpPr>
        <p:spPr>
          <a:xfrm>
            <a:off x="890751" y="5790688"/>
            <a:ext cx="4315737" cy="433551"/>
          </a:xfrm>
          <a:prstGeom prst="roundRect">
            <a:avLst>
              <a:gd name="adj" fmla="val 11765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番号_4">
            <a:extLst>
              <a:ext uri="{FF2B5EF4-FFF2-40B4-BE49-F238E27FC236}">
                <a16:creationId xmlns:a16="http://schemas.microsoft.com/office/drawing/2014/main" id="{9F9F32EE-CB8B-513C-C73A-68883C540915}"/>
              </a:ext>
            </a:extLst>
          </p:cNvPr>
          <p:cNvSpPr/>
          <p:nvPr/>
        </p:nvSpPr>
        <p:spPr>
          <a:xfrm>
            <a:off x="636751" y="5893164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3" name="手順番号_1">
            <a:extLst>
              <a:ext uri="{FF2B5EF4-FFF2-40B4-BE49-F238E27FC236}">
                <a16:creationId xmlns:a16="http://schemas.microsoft.com/office/drawing/2014/main" id="{9F2BA618-281A-BDE5-DD2A-BCE46FA73F25}"/>
              </a:ext>
            </a:extLst>
          </p:cNvPr>
          <p:cNvSpPr/>
          <p:nvPr/>
        </p:nvSpPr>
        <p:spPr>
          <a:xfrm>
            <a:off x="5894039" y="1155700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1C571A7-030F-8030-A2BD-F94BF2973EA7}"/>
              </a:ext>
            </a:extLst>
          </p:cNvPr>
          <p:cNvSpPr txBox="1"/>
          <p:nvPr/>
        </p:nvSpPr>
        <p:spPr>
          <a:xfrm>
            <a:off x="6300439" y="1168400"/>
            <a:ext cx="5358161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件名</a:t>
            </a:r>
            <a:r>
              <a:rPr kumimoji="1" lang="en-US" altLang="ja-JP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</a:t>
            </a: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必須</a:t>
            </a:r>
            <a:r>
              <a:rPr kumimoji="1" lang="en-US" altLang="ja-JP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  <a:endParaRPr kumimoji="1" lang="ja-JP" altLang="en-US" sz="1500" b="1">
              <a:solidFill>
                <a:srgbClr val="1E3A5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29EF195-B456-B47E-4F4B-4B99EA14F21D}"/>
              </a:ext>
            </a:extLst>
          </p:cNvPr>
          <p:cNvSpPr txBox="1"/>
          <p:nvPr/>
        </p:nvSpPr>
        <p:spPr>
          <a:xfrm>
            <a:off x="6300439" y="1471833"/>
            <a:ext cx="5358161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予定の名前を入力します。内容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任意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には、目的や議題をメモできます。</a:t>
            </a:r>
          </a:p>
        </p:txBody>
      </p:sp>
      <p:sp>
        <p:nvSpPr>
          <p:cNvPr id="27" name="手順番号_2">
            <a:extLst>
              <a:ext uri="{FF2B5EF4-FFF2-40B4-BE49-F238E27FC236}">
                <a16:creationId xmlns:a16="http://schemas.microsoft.com/office/drawing/2014/main" id="{75D2BED8-138F-579E-1D7C-6B174E64B42B}"/>
              </a:ext>
            </a:extLst>
          </p:cNvPr>
          <p:cNvSpPr/>
          <p:nvPr/>
        </p:nvSpPr>
        <p:spPr>
          <a:xfrm>
            <a:off x="5894039" y="1822681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FC6CEC3-755A-0604-8238-1014572DBAEA}"/>
              </a:ext>
            </a:extLst>
          </p:cNvPr>
          <p:cNvSpPr txBox="1"/>
          <p:nvPr/>
        </p:nvSpPr>
        <p:spPr>
          <a:xfrm>
            <a:off x="6300439" y="1835381"/>
            <a:ext cx="5358161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日付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CD55FF8C-7219-1F74-6FC0-096B6211CB2E}"/>
              </a:ext>
            </a:extLst>
          </p:cNvPr>
          <p:cNvSpPr txBox="1"/>
          <p:nvPr/>
        </p:nvSpPr>
        <p:spPr>
          <a:xfrm>
            <a:off x="6300439" y="2138814"/>
            <a:ext cx="5358161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初めは、スケジュール画面で選んでいた日が入っています。</a:t>
            </a:r>
          </a:p>
        </p:txBody>
      </p:sp>
      <p:sp>
        <p:nvSpPr>
          <p:cNvPr id="30" name="手順番号_3">
            <a:extLst>
              <a:ext uri="{FF2B5EF4-FFF2-40B4-BE49-F238E27FC236}">
                <a16:creationId xmlns:a16="http://schemas.microsoft.com/office/drawing/2014/main" id="{61ABEB31-2D63-2DAC-1E9F-21C67463BBC0}"/>
              </a:ext>
            </a:extLst>
          </p:cNvPr>
          <p:cNvSpPr/>
          <p:nvPr/>
        </p:nvSpPr>
        <p:spPr>
          <a:xfrm>
            <a:off x="5894039" y="2489662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B1687D3-A245-051E-803D-6C9E8A4D6D09}"/>
              </a:ext>
            </a:extLst>
          </p:cNvPr>
          <p:cNvSpPr txBox="1"/>
          <p:nvPr/>
        </p:nvSpPr>
        <p:spPr>
          <a:xfrm>
            <a:off x="6300439" y="2502362"/>
            <a:ext cx="5358161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開始・終了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8A0A834-CE5A-4164-806D-1E43E3AECB9B}"/>
              </a:ext>
            </a:extLst>
          </p:cNvPr>
          <p:cNvSpPr txBox="1"/>
          <p:nvPr/>
        </p:nvSpPr>
        <p:spPr>
          <a:xfrm>
            <a:off x="6300439" y="2805795"/>
            <a:ext cx="5358161" cy="4323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8:00〜21:00 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の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30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分単位で選びます。開始を選ぶと、終了は自動で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時間後になります。</a:t>
            </a:r>
          </a:p>
        </p:txBody>
      </p:sp>
      <p:sp>
        <p:nvSpPr>
          <p:cNvPr id="33" name="手順番号_4">
            <a:extLst>
              <a:ext uri="{FF2B5EF4-FFF2-40B4-BE49-F238E27FC236}">
                <a16:creationId xmlns:a16="http://schemas.microsoft.com/office/drawing/2014/main" id="{376459B0-B899-F5E6-077D-8E60FC32CCAE}"/>
              </a:ext>
            </a:extLst>
          </p:cNvPr>
          <p:cNvSpPr/>
          <p:nvPr/>
        </p:nvSpPr>
        <p:spPr>
          <a:xfrm>
            <a:off x="5894039" y="3377857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535FCF5-C52E-4F3B-FF4B-1C050C9BF968}"/>
              </a:ext>
            </a:extLst>
          </p:cNvPr>
          <p:cNvSpPr txBox="1"/>
          <p:nvPr/>
        </p:nvSpPr>
        <p:spPr>
          <a:xfrm>
            <a:off x="6300439" y="3390557"/>
            <a:ext cx="5358161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会議室・社用車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FD9A504-4369-3674-0517-1D424BA4773D}"/>
              </a:ext>
            </a:extLst>
          </p:cNvPr>
          <p:cNvSpPr txBox="1"/>
          <p:nvPr/>
        </p:nvSpPr>
        <p:spPr>
          <a:xfrm>
            <a:off x="6300439" y="3693990"/>
            <a:ext cx="5358161" cy="653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 dirty="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予約しない場合は </a:t>
            </a:r>
            <a:r>
              <a:rPr kumimoji="1" lang="ja-JP" altLang="en-US" sz="1250" b="1" dirty="0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「使用しない」</a:t>
            </a:r>
            <a:r>
              <a:rPr kumimoji="1" lang="ja-JP" altLang="en-US" sz="1250" dirty="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のままにします。</a:t>
            </a:r>
            <a:endParaRPr kumimoji="1" lang="en-US" altLang="ja-JP" sz="1250" dirty="0">
              <a:solidFill>
                <a:srgbClr val="1C2B3A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>
              <a:lnSpc>
                <a:spcPct val="115000"/>
              </a:lnSpc>
            </a:pPr>
            <a:r>
              <a:rPr lang="ja-JP" altLang="en-US" sz="1250" b="1" u="sng" dirty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会議室の予約を行いたい場合は、会議室もしくは社用車の予約も併せて可能です。</a:t>
            </a:r>
            <a:endParaRPr kumimoji="1" lang="ja-JP" altLang="en-US" sz="1250" b="1" u="sng" dirty="0">
              <a:solidFill>
                <a:srgbClr val="FF0000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5740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ステップ</a:t>
            </a:r>
            <a:r>
              <a:rPr kumimoji="0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</a:t>
            </a: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予定の内容を入力する</a:t>
            </a:r>
            <a:r>
              <a:rPr kumimoji="0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(2/2)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続けて、場所・参加者を入力して作成します</a:t>
            </a:r>
            <a:endParaRPr lang="en-US" altLang="ja-JP" sz="1400" dirty="0"/>
          </a:p>
        </p:txBody>
      </p:sp>
      <p:sp>
        <p:nvSpPr>
          <p:cNvPr id="3" name="ページ番号">
            <a:extLst>
              <a:ext uri="{FF2B5EF4-FFF2-40B4-BE49-F238E27FC236}">
                <a16:creationId xmlns:a16="http://schemas.microsoft.com/office/drawing/2014/main" id="{B53D3F1E-D07A-A8EA-E4EB-266516D07BAD}"/>
              </a:ext>
            </a:extLst>
          </p:cNvPr>
          <p:cNvSpPr txBox="1"/>
          <p:nvPr/>
        </p:nvSpPr>
        <p:spPr>
          <a:xfrm>
            <a:off x="10134600" y="6578600"/>
            <a:ext cx="1524000" cy="168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15000"/>
              </a:lnSpc>
            </a:pPr>
            <a:r>
              <a:rPr kumimoji="1" lang="en-US" altLang="ja-JP" sz="10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6 / 10</a:t>
            </a:r>
            <a:endParaRPr kumimoji="1" lang="ja-JP" altLang="en-US" sz="1000">
              <a:solidFill>
                <a:srgbClr val="6B7D8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7" name="画面_a05_form_filled">
            <a:extLst>
              <a:ext uri="{FF2B5EF4-FFF2-40B4-BE49-F238E27FC236}">
                <a16:creationId xmlns:a16="http://schemas.microsoft.com/office/drawing/2014/main" id="{F80AA228-403F-9741-F0C5-A0EEF2598FB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68400"/>
            <a:ext cx="5969000" cy="4078817"/>
          </a:xfrm>
          <a:prstGeom prst="rect">
            <a:avLst/>
          </a:prstGeom>
          <a:ln w="9525">
            <a:solidFill>
              <a:srgbClr val="C8D3DF"/>
            </a:solidFill>
          </a:ln>
        </p:spPr>
      </p:pic>
      <p:sp>
        <p:nvSpPr>
          <p:cNvPr id="12" name="赤枠_5">
            <a:extLst>
              <a:ext uri="{FF2B5EF4-FFF2-40B4-BE49-F238E27FC236}">
                <a16:creationId xmlns:a16="http://schemas.microsoft.com/office/drawing/2014/main" id="{B5450281-5886-04CD-1807-6DE81A474F18}"/>
              </a:ext>
            </a:extLst>
          </p:cNvPr>
          <p:cNvSpPr/>
          <p:nvPr/>
        </p:nvSpPr>
        <p:spPr>
          <a:xfrm>
            <a:off x="962163" y="1383058"/>
            <a:ext cx="5111474" cy="483336"/>
          </a:xfrm>
          <a:prstGeom prst="roundRect">
            <a:avLst>
              <a:gd name="adj" fmla="val 10526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番号_5">
            <a:extLst>
              <a:ext uri="{FF2B5EF4-FFF2-40B4-BE49-F238E27FC236}">
                <a16:creationId xmlns:a16="http://schemas.microsoft.com/office/drawing/2014/main" id="{6275893B-1D31-DE07-BBAF-E48B5F69A45A}"/>
              </a:ext>
            </a:extLst>
          </p:cNvPr>
          <p:cNvSpPr/>
          <p:nvPr/>
        </p:nvSpPr>
        <p:spPr>
          <a:xfrm>
            <a:off x="708163" y="1510426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赤枠_6">
            <a:extLst>
              <a:ext uri="{FF2B5EF4-FFF2-40B4-BE49-F238E27FC236}">
                <a16:creationId xmlns:a16="http://schemas.microsoft.com/office/drawing/2014/main" id="{CF93698E-E244-CED3-3413-2DCAD99C6D7B}"/>
              </a:ext>
            </a:extLst>
          </p:cNvPr>
          <p:cNvSpPr/>
          <p:nvPr/>
        </p:nvSpPr>
        <p:spPr>
          <a:xfrm>
            <a:off x="962163" y="2204876"/>
            <a:ext cx="5111474" cy="418456"/>
          </a:xfrm>
          <a:prstGeom prst="roundRect">
            <a:avLst>
              <a:gd name="adj" fmla="val 12121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番号_6">
            <a:extLst>
              <a:ext uri="{FF2B5EF4-FFF2-40B4-BE49-F238E27FC236}">
                <a16:creationId xmlns:a16="http://schemas.microsoft.com/office/drawing/2014/main" id="{1573A0A8-A15A-57CD-9F15-472716F69B8C}"/>
              </a:ext>
            </a:extLst>
          </p:cNvPr>
          <p:cNvSpPr/>
          <p:nvPr/>
        </p:nvSpPr>
        <p:spPr>
          <a:xfrm>
            <a:off x="708163" y="2299804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6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赤枠_7">
            <a:extLst>
              <a:ext uri="{FF2B5EF4-FFF2-40B4-BE49-F238E27FC236}">
                <a16:creationId xmlns:a16="http://schemas.microsoft.com/office/drawing/2014/main" id="{BFDCCC4C-9A77-8AEC-9C99-9FA36028428B}"/>
              </a:ext>
            </a:extLst>
          </p:cNvPr>
          <p:cNvSpPr/>
          <p:nvPr/>
        </p:nvSpPr>
        <p:spPr>
          <a:xfrm>
            <a:off x="962163" y="3448418"/>
            <a:ext cx="5111474" cy="483337"/>
          </a:xfrm>
          <a:prstGeom prst="roundRect">
            <a:avLst>
              <a:gd name="adj" fmla="val 10526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番号_7">
            <a:extLst>
              <a:ext uri="{FF2B5EF4-FFF2-40B4-BE49-F238E27FC236}">
                <a16:creationId xmlns:a16="http://schemas.microsoft.com/office/drawing/2014/main" id="{256C7109-6661-7E61-76A2-5A5802FF920F}"/>
              </a:ext>
            </a:extLst>
          </p:cNvPr>
          <p:cNvSpPr/>
          <p:nvPr/>
        </p:nvSpPr>
        <p:spPr>
          <a:xfrm>
            <a:off x="708163" y="3575786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7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0" name="赤枠_8">
            <a:extLst>
              <a:ext uri="{FF2B5EF4-FFF2-40B4-BE49-F238E27FC236}">
                <a16:creationId xmlns:a16="http://schemas.microsoft.com/office/drawing/2014/main" id="{1CC72A7C-9296-D7C3-8263-A699358201C6}"/>
              </a:ext>
            </a:extLst>
          </p:cNvPr>
          <p:cNvSpPr/>
          <p:nvPr/>
        </p:nvSpPr>
        <p:spPr>
          <a:xfrm>
            <a:off x="4941496" y="4432438"/>
            <a:ext cx="1132141" cy="494150"/>
          </a:xfrm>
          <a:prstGeom prst="roundRect">
            <a:avLst>
              <a:gd name="adj" fmla="val 10256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番号_8">
            <a:extLst>
              <a:ext uri="{FF2B5EF4-FFF2-40B4-BE49-F238E27FC236}">
                <a16:creationId xmlns:a16="http://schemas.microsoft.com/office/drawing/2014/main" id="{B7792D9D-C0D5-76CE-AB33-4D1130188568}"/>
              </a:ext>
            </a:extLst>
          </p:cNvPr>
          <p:cNvSpPr/>
          <p:nvPr/>
        </p:nvSpPr>
        <p:spPr>
          <a:xfrm>
            <a:off x="4687496" y="4565213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8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2" name="手順番号_5">
            <a:extLst>
              <a:ext uri="{FF2B5EF4-FFF2-40B4-BE49-F238E27FC236}">
                <a16:creationId xmlns:a16="http://schemas.microsoft.com/office/drawing/2014/main" id="{1C193B49-5905-29C0-F9B5-3483C8B4242C}"/>
              </a:ext>
            </a:extLst>
          </p:cNvPr>
          <p:cNvSpPr/>
          <p:nvPr/>
        </p:nvSpPr>
        <p:spPr>
          <a:xfrm>
            <a:off x="6832600" y="1155700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7D2D9B5-9F55-FD51-2015-18C50C6509F4}"/>
              </a:ext>
            </a:extLst>
          </p:cNvPr>
          <p:cNvSpPr txBox="1"/>
          <p:nvPr/>
        </p:nvSpPr>
        <p:spPr>
          <a:xfrm>
            <a:off x="7239000" y="1168400"/>
            <a:ext cx="4419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場所</a:t>
            </a:r>
            <a:r>
              <a:rPr kumimoji="1" lang="en-US" altLang="ja-JP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</a:t>
            </a: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任意</a:t>
            </a:r>
            <a:r>
              <a:rPr kumimoji="1" lang="en-US" altLang="ja-JP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  <a:endParaRPr kumimoji="1" lang="ja-JP" altLang="en-US" sz="1500" b="1">
              <a:solidFill>
                <a:srgbClr val="1E3A5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1053F6A-6FAC-C11E-A4A8-57DE98A2512A}"/>
              </a:ext>
            </a:extLst>
          </p:cNvPr>
          <p:cNvSpPr txBox="1"/>
          <p:nvPr/>
        </p:nvSpPr>
        <p:spPr>
          <a:xfrm>
            <a:off x="7239000" y="1471833"/>
            <a:ext cx="4419600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「オンライン」「お客様宅」など、自由に入力できます。</a:t>
            </a:r>
          </a:p>
        </p:txBody>
      </p:sp>
      <p:sp>
        <p:nvSpPr>
          <p:cNvPr id="26" name="手順番号_6">
            <a:extLst>
              <a:ext uri="{FF2B5EF4-FFF2-40B4-BE49-F238E27FC236}">
                <a16:creationId xmlns:a16="http://schemas.microsoft.com/office/drawing/2014/main" id="{7A252C54-243E-3F38-7D0D-C53AA0F5608F}"/>
              </a:ext>
            </a:extLst>
          </p:cNvPr>
          <p:cNvSpPr/>
          <p:nvPr/>
        </p:nvSpPr>
        <p:spPr>
          <a:xfrm>
            <a:off x="6832600" y="1822681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6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4A1A4E3-65E9-70EE-7969-D67B07E3EC46}"/>
              </a:ext>
            </a:extLst>
          </p:cNvPr>
          <p:cNvSpPr txBox="1"/>
          <p:nvPr/>
        </p:nvSpPr>
        <p:spPr>
          <a:xfrm>
            <a:off x="7239000" y="1835381"/>
            <a:ext cx="4419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社内メンバー</a:t>
            </a:r>
            <a:r>
              <a:rPr kumimoji="1" lang="en-US" altLang="ja-JP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</a:t>
            </a: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任意</a:t>
            </a:r>
            <a:r>
              <a:rPr kumimoji="1" lang="en-US" altLang="ja-JP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  <a:endParaRPr kumimoji="1" lang="ja-JP" altLang="en-US" sz="1500" b="1">
              <a:solidFill>
                <a:srgbClr val="1E3A5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FDC1133-F39F-A8A3-5D40-C8F4E0672F7F}"/>
              </a:ext>
            </a:extLst>
          </p:cNvPr>
          <p:cNvSpPr txBox="1"/>
          <p:nvPr/>
        </p:nvSpPr>
        <p:spPr>
          <a:xfrm>
            <a:off x="7239000" y="2138814"/>
            <a:ext cx="4419600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一緒に参加する社員を追加します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次のページ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。</a:t>
            </a:r>
          </a:p>
        </p:txBody>
      </p:sp>
      <p:sp>
        <p:nvSpPr>
          <p:cNvPr id="29" name="手順番号_7">
            <a:extLst>
              <a:ext uri="{FF2B5EF4-FFF2-40B4-BE49-F238E27FC236}">
                <a16:creationId xmlns:a16="http://schemas.microsoft.com/office/drawing/2014/main" id="{5D4064A4-857A-861F-4E95-B078DB1282EF}"/>
              </a:ext>
            </a:extLst>
          </p:cNvPr>
          <p:cNvSpPr/>
          <p:nvPr/>
        </p:nvSpPr>
        <p:spPr>
          <a:xfrm>
            <a:off x="6832600" y="2489662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7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5E67C7F1-79B2-D5C4-EFBB-F7658E7F514E}"/>
              </a:ext>
            </a:extLst>
          </p:cNvPr>
          <p:cNvSpPr txBox="1"/>
          <p:nvPr/>
        </p:nvSpPr>
        <p:spPr>
          <a:xfrm>
            <a:off x="7239000" y="2502362"/>
            <a:ext cx="4419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zh-CN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外部参加者</a:t>
            </a:r>
            <a:r>
              <a:rPr kumimoji="1" lang="en-US" altLang="zh-CN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</a:t>
            </a:r>
            <a:r>
              <a:rPr kumimoji="1" lang="zh-CN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任意</a:t>
            </a:r>
            <a:r>
              <a:rPr kumimoji="1" lang="en-US" altLang="zh-CN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  <a:endParaRPr kumimoji="1" lang="ja-JP" altLang="en-US" sz="1500" b="1">
              <a:solidFill>
                <a:srgbClr val="1E3A5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A97F4348-1706-BF76-519D-439B8B4B854C}"/>
              </a:ext>
            </a:extLst>
          </p:cNvPr>
          <p:cNvSpPr txBox="1"/>
          <p:nvPr/>
        </p:nvSpPr>
        <p:spPr>
          <a:xfrm>
            <a:off x="7239000" y="2805795"/>
            <a:ext cx="4419600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社外の方の会社名・お名前を自由に入力します。</a:t>
            </a:r>
          </a:p>
        </p:txBody>
      </p:sp>
      <p:sp>
        <p:nvSpPr>
          <p:cNvPr id="32" name="手順番号_8">
            <a:extLst>
              <a:ext uri="{FF2B5EF4-FFF2-40B4-BE49-F238E27FC236}">
                <a16:creationId xmlns:a16="http://schemas.microsoft.com/office/drawing/2014/main" id="{77B743F0-1C0A-FF13-306C-F4AC903CD18A}"/>
              </a:ext>
            </a:extLst>
          </p:cNvPr>
          <p:cNvSpPr/>
          <p:nvPr/>
        </p:nvSpPr>
        <p:spPr>
          <a:xfrm>
            <a:off x="6832600" y="3156643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8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C4286051-91B9-9EE8-2674-1D8057FB7669}"/>
              </a:ext>
            </a:extLst>
          </p:cNvPr>
          <p:cNvSpPr txBox="1"/>
          <p:nvPr/>
        </p:nvSpPr>
        <p:spPr>
          <a:xfrm>
            <a:off x="7239000" y="3169343"/>
            <a:ext cx="4419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「作成する」を押す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DA465103-A908-E9CF-9444-1F54AF53E3F5}"/>
              </a:ext>
            </a:extLst>
          </p:cNvPr>
          <p:cNvSpPr txBox="1"/>
          <p:nvPr/>
        </p:nvSpPr>
        <p:spPr>
          <a:xfrm>
            <a:off x="7239000" y="3472776"/>
            <a:ext cx="4419600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これで登録は完了です。</a:t>
            </a:r>
          </a:p>
        </p:txBody>
      </p:sp>
    </p:spTree>
    <p:extLst>
      <p:ext uri="{BB962C8B-B14F-4D97-AF65-F5344CB8AC3E}">
        <p14:creationId xmlns:p14="http://schemas.microsoft.com/office/powerpoint/2010/main" val="119423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ステップ</a:t>
            </a:r>
            <a:r>
              <a:rPr kumimoji="0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3(</a:t>
            </a: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補足</a:t>
            </a:r>
            <a:r>
              <a:rPr kumimoji="0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社内メンバーを追加する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一緒に参加する社員を、予定に追加できます</a:t>
            </a:r>
            <a:endParaRPr lang="en-US" altLang="ja-JP" sz="1400" dirty="0"/>
          </a:p>
        </p:txBody>
      </p:sp>
      <p:sp>
        <p:nvSpPr>
          <p:cNvPr id="3" name="ページ番号">
            <a:extLst>
              <a:ext uri="{FF2B5EF4-FFF2-40B4-BE49-F238E27FC236}">
                <a16:creationId xmlns:a16="http://schemas.microsoft.com/office/drawing/2014/main" id="{A40FA75D-C661-2E08-D925-CB9D022A6F2E}"/>
              </a:ext>
            </a:extLst>
          </p:cNvPr>
          <p:cNvSpPr txBox="1"/>
          <p:nvPr/>
        </p:nvSpPr>
        <p:spPr>
          <a:xfrm>
            <a:off x="10134600" y="6578600"/>
            <a:ext cx="1524000" cy="168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15000"/>
              </a:lnSpc>
            </a:pPr>
            <a:r>
              <a:rPr kumimoji="1" lang="en-US" altLang="ja-JP" sz="10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7 / 10</a:t>
            </a:r>
            <a:endParaRPr kumimoji="1" lang="ja-JP" altLang="en-US" sz="1000">
              <a:solidFill>
                <a:srgbClr val="6B7D8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7" name="画面_a04_form_search">
            <a:extLst>
              <a:ext uri="{FF2B5EF4-FFF2-40B4-BE49-F238E27FC236}">
                <a16:creationId xmlns:a16="http://schemas.microsoft.com/office/drawing/2014/main" id="{A7C8F69E-67B6-293E-C1A8-7673A1AD9E7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68400"/>
            <a:ext cx="5969000" cy="2346077"/>
          </a:xfrm>
          <a:prstGeom prst="rect">
            <a:avLst/>
          </a:prstGeom>
          <a:ln w="9525">
            <a:solidFill>
              <a:srgbClr val="C8D3DF"/>
            </a:solidFill>
          </a:ln>
        </p:spPr>
      </p:pic>
      <p:sp>
        <p:nvSpPr>
          <p:cNvPr id="12" name="赤枠_1">
            <a:extLst>
              <a:ext uri="{FF2B5EF4-FFF2-40B4-BE49-F238E27FC236}">
                <a16:creationId xmlns:a16="http://schemas.microsoft.com/office/drawing/2014/main" id="{87583A3B-ADE0-AE8D-F31E-2B753A453BAB}"/>
              </a:ext>
            </a:extLst>
          </p:cNvPr>
          <p:cNvSpPr/>
          <p:nvPr/>
        </p:nvSpPr>
        <p:spPr>
          <a:xfrm>
            <a:off x="962163" y="1675885"/>
            <a:ext cx="5111474" cy="483336"/>
          </a:xfrm>
          <a:prstGeom prst="roundRect">
            <a:avLst>
              <a:gd name="adj" fmla="val 10526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番号_1">
            <a:extLst>
              <a:ext uri="{FF2B5EF4-FFF2-40B4-BE49-F238E27FC236}">
                <a16:creationId xmlns:a16="http://schemas.microsoft.com/office/drawing/2014/main" id="{07E4CC6C-F5B9-9031-7125-7B30A5102BBC}"/>
              </a:ext>
            </a:extLst>
          </p:cNvPr>
          <p:cNvSpPr/>
          <p:nvPr/>
        </p:nvSpPr>
        <p:spPr>
          <a:xfrm>
            <a:off x="708163" y="1803253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赤枠_2">
            <a:extLst>
              <a:ext uri="{FF2B5EF4-FFF2-40B4-BE49-F238E27FC236}">
                <a16:creationId xmlns:a16="http://schemas.microsoft.com/office/drawing/2014/main" id="{58D0B982-0DA3-FC04-99C9-FF31EF5BAFC3}"/>
              </a:ext>
            </a:extLst>
          </p:cNvPr>
          <p:cNvSpPr/>
          <p:nvPr/>
        </p:nvSpPr>
        <p:spPr>
          <a:xfrm>
            <a:off x="962163" y="2151674"/>
            <a:ext cx="5111474" cy="1173029"/>
          </a:xfrm>
          <a:prstGeom prst="roundRect">
            <a:avLst>
              <a:gd name="adj" fmla="val 4348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番号_2">
            <a:extLst>
              <a:ext uri="{FF2B5EF4-FFF2-40B4-BE49-F238E27FC236}">
                <a16:creationId xmlns:a16="http://schemas.microsoft.com/office/drawing/2014/main" id="{FDF80234-4BC9-0408-9909-5786CF3BE6BC}"/>
              </a:ext>
            </a:extLst>
          </p:cNvPr>
          <p:cNvSpPr/>
          <p:nvPr/>
        </p:nvSpPr>
        <p:spPr>
          <a:xfrm>
            <a:off x="708163" y="2623889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手順番号_1">
            <a:extLst>
              <a:ext uri="{FF2B5EF4-FFF2-40B4-BE49-F238E27FC236}">
                <a16:creationId xmlns:a16="http://schemas.microsoft.com/office/drawing/2014/main" id="{0CF5FFD2-5A2E-8354-8F91-F99C05C36676}"/>
              </a:ext>
            </a:extLst>
          </p:cNvPr>
          <p:cNvSpPr/>
          <p:nvPr/>
        </p:nvSpPr>
        <p:spPr>
          <a:xfrm>
            <a:off x="6832600" y="1155700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58F1302-1EE3-4061-C760-672C690BC741}"/>
              </a:ext>
            </a:extLst>
          </p:cNvPr>
          <p:cNvSpPr txBox="1"/>
          <p:nvPr/>
        </p:nvSpPr>
        <p:spPr>
          <a:xfrm>
            <a:off x="7239000" y="1168400"/>
            <a:ext cx="4419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名前を入力する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606975B-72C5-FB37-2E29-C77742B67C69}"/>
              </a:ext>
            </a:extLst>
          </p:cNvPr>
          <p:cNvSpPr txBox="1"/>
          <p:nvPr/>
        </p:nvSpPr>
        <p:spPr>
          <a:xfrm>
            <a:off x="7239000" y="1471833"/>
            <a:ext cx="4419600" cy="4323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「社内メンバー」の欄に、名前またはメールアドレスの一部を入力します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例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: 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田中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。</a:t>
            </a:r>
          </a:p>
        </p:txBody>
      </p:sp>
      <p:sp>
        <p:nvSpPr>
          <p:cNvPr id="21" name="手順番号_2">
            <a:extLst>
              <a:ext uri="{FF2B5EF4-FFF2-40B4-BE49-F238E27FC236}">
                <a16:creationId xmlns:a16="http://schemas.microsoft.com/office/drawing/2014/main" id="{6B6D13C2-4E61-9E70-6B43-B1CF25298C5C}"/>
              </a:ext>
            </a:extLst>
          </p:cNvPr>
          <p:cNvSpPr/>
          <p:nvPr/>
        </p:nvSpPr>
        <p:spPr>
          <a:xfrm>
            <a:off x="6832600" y="2043895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6195C9C-9081-4728-19BF-B9C1C9B223B5}"/>
              </a:ext>
            </a:extLst>
          </p:cNvPr>
          <p:cNvSpPr txBox="1"/>
          <p:nvPr/>
        </p:nvSpPr>
        <p:spPr>
          <a:xfrm>
            <a:off x="7239000" y="2056595"/>
            <a:ext cx="4419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候補から選ぶ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5A20A03-639B-717B-6018-2AB9956A5527}"/>
              </a:ext>
            </a:extLst>
          </p:cNvPr>
          <p:cNvSpPr txBox="1"/>
          <p:nvPr/>
        </p:nvSpPr>
        <p:spPr>
          <a:xfrm>
            <a:off x="7239000" y="2360028"/>
            <a:ext cx="4419600" cy="4323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表示された候補をクリックすると追加されます。続けて何人でも追加できます。</a:t>
            </a:r>
          </a:p>
        </p:txBody>
      </p:sp>
      <p:sp>
        <p:nvSpPr>
          <p:cNvPr id="24" name="手順番号_3">
            <a:extLst>
              <a:ext uri="{FF2B5EF4-FFF2-40B4-BE49-F238E27FC236}">
                <a16:creationId xmlns:a16="http://schemas.microsoft.com/office/drawing/2014/main" id="{1C2EDA00-3940-26ED-E085-1D50EACFE293}"/>
              </a:ext>
            </a:extLst>
          </p:cNvPr>
          <p:cNvSpPr/>
          <p:nvPr/>
        </p:nvSpPr>
        <p:spPr>
          <a:xfrm>
            <a:off x="6832600" y="2932090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9068399-B7BD-36BF-6384-0923E6AEF644}"/>
              </a:ext>
            </a:extLst>
          </p:cNvPr>
          <p:cNvSpPr txBox="1"/>
          <p:nvPr/>
        </p:nvSpPr>
        <p:spPr>
          <a:xfrm>
            <a:off x="7239000" y="2944790"/>
            <a:ext cx="4419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間違えたときは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B66C13EC-1604-6208-9914-735300F79CA0}"/>
              </a:ext>
            </a:extLst>
          </p:cNvPr>
          <p:cNvSpPr txBox="1"/>
          <p:nvPr/>
        </p:nvSpPr>
        <p:spPr>
          <a:xfrm>
            <a:off x="7239000" y="3248223"/>
            <a:ext cx="4419600" cy="2091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追加した名前の右の </a:t>
            </a:r>
            <a:r>
              <a:rPr kumimoji="1" lang="ja-JP" altLang="en-US" sz="125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✕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を押すと外せます。</a:t>
            </a:r>
          </a:p>
        </p:txBody>
      </p:sp>
      <p:sp>
        <p:nvSpPr>
          <p:cNvPr id="28" name="補足の枠">
            <a:extLst>
              <a:ext uri="{FF2B5EF4-FFF2-40B4-BE49-F238E27FC236}">
                <a16:creationId xmlns:a16="http://schemas.microsoft.com/office/drawing/2014/main" id="{4DF2E61D-C7FC-C7E7-A06D-541D83E3DEBD}"/>
              </a:ext>
            </a:extLst>
          </p:cNvPr>
          <p:cNvSpPr/>
          <p:nvPr/>
        </p:nvSpPr>
        <p:spPr>
          <a:xfrm>
            <a:off x="6832600" y="3635183"/>
            <a:ext cx="4826000" cy="1125922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D9F3AEB-2D6B-86FB-B8B4-617FED3B6DFB}"/>
              </a:ext>
            </a:extLst>
          </p:cNvPr>
          <p:cNvSpPr txBox="1"/>
          <p:nvPr/>
        </p:nvSpPr>
        <p:spPr>
          <a:xfrm>
            <a:off x="6985000" y="3749483"/>
            <a:ext cx="4521200" cy="193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ポイント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764AFF5-E474-759B-F7DA-59A48FB7D3C2}"/>
              </a:ext>
            </a:extLst>
          </p:cNvPr>
          <p:cNvSpPr txBox="1"/>
          <p:nvPr/>
        </p:nvSpPr>
        <p:spPr>
          <a:xfrm>
            <a:off x="6985000" y="3981354"/>
            <a:ext cx="4521200" cy="6273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追加した社員の</a:t>
            </a:r>
            <a:r>
              <a:rPr kumimoji="1" lang="ja-JP" altLang="en-US" sz="12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スケジュールにも、この予定が入ります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。社外の方は「外部参加者」の欄に、会社名・お名前を自由に入力してください</a:t>
            </a:r>
            <a:r>
              <a:rPr kumimoji="1" lang="en-US" altLang="ja-JP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予定の内容にメモとして残ります</a:t>
            </a:r>
            <a:r>
              <a:rPr kumimoji="1" lang="en-US" altLang="ja-JP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01663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ステップ</a:t>
            </a:r>
            <a:r>
              <a:rPr kumimoji="0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</a:t>
            </a: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登録した予定を確認する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作成した予定が、すぐに画面に表示されます</a:t>
            </a:r>
            <a:endParaRPr lang="en-US" altLang="ja-JP" sz="1400" dirty="0"/>
          </a:p>
        </p:txBody>
      </p:sp>
      <p:sp>
        <p:nvSpPr>
          <p:cNvPr id="3" name="ページ番号">
            <a:extLst>
              <a:ext uri="{FF2B5EF4-FFF2-40B4-BE49-F238E27FC236}">
                <a16:creationId xmlns:a16="http://schemas.microsoft.com/office/drawing/2014/main" id="{E86D61E8-EBDF-6A96-037A-727932EC4F3E}"/>
              </a:ext>
            </a:extLst>
          </p:cNvPr>
          <p:cNvSpPr txBox="1"/>
          <p:nvPr/>
        </p:nvSpPr>
        <p:spPr>
          <a:xfrm>
            <a:off x="10134600" y="6578600"/>
            <a:ext cx="1524000" cy="168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15000"/>
              </a:lnSpc>
            </a:pPr>
            <a:r>
              <a:rPr kumimoji="1" lang="en-US" altLang="ja-JP" sz="10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8 / 10</a:t>
            </a:r>
            <a:endParaRPr kumimoji="1" lang="ja-JP" altLang="en-US" sz="1000">
              <a:solidFill>
                <a:srgbClr val="6B7D8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7" name="画面_a06_after_create">
            <a:extLst>
              <a:ext uri="{FF2B5EF4-FFF2-40B4-BE49-F238E27FC236}">
                <a16:creationId xmlns:a16="http://schemas.microsoft.com/office/drawing/2014/main" id="{65BD76B4-637B-673A-864D-216E313B58D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68400"/>
            <a:ext cx="4455975" cy="5156200"/>
          </a:xfrm>
          <a:prstGeom prst="rect">
            <a:avLst/>
          </a:prstGeom>
          <a:ln w="9525">
            <a:solidFill>
              <a:srgbClr val="C8D3DF"/>
            </a:solidFill>
          </a:ln>
        </p:spPr>
      </p:pic>
      <p:sp>
        <p:nvSpPr>
          <p:cNvPr id="12" name="赤枠_1">
            <a:extLst>
              <a:ext uri="{FF2B5EF4-FFF2-40B4-BE49-F238E27FC236}">
                <a16:creationId xmlns:a16="http://schemas.microsoft.com/office/drawing/2014/main" id="{5D248AA2-F22B-F6B3-2020-C75E3A6482DA}"/>
              </a:ext>
            </a:extLst>
          </p:cNvPr>
          <p:cNvSpPr/>
          <p:nvPr/>
        </p:nvSpPr>
        <p:spPr>
          <a:xfrm>
            <a:off x="788090" y="2817174"/>
            <a:ext cx="3994338" cy="445472"/>
          </a:xfrm>
          <a:prstGeom prst="roundRect">
            <a:avLst>
              <a:gd name="adj" fmla="val 11429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番号_1">
            <a:extLst>
              <a:ext uri="{FF2B5EF4-FFF2-40B4-BE49-F238E27FC236}">
                <a16:creationId xmlns:a16="http://schemas.microsoft.com/office/drawing/2014/main" id="{6B0F438D-FC0F-5539-3CD3-192250E6BEF1}"/>
              </a:ext>
            </a:extLst>
          </p:cNvPr>
          <p:cNvSpPr/>
          <p:nvPr/>
        </p:nvSpPr>
        <p:spPr>
          <a:xfrm>
            <a:off x="534090" y="2925610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赤枠_2">
            <a:extLst>
              <a:ext uri="{FF2B5EF4-FFF2-40B4-BE49-F238E27FC236}">
                <a16:creationId xmlns:a16="http://schemas.microsoft.com/office/drawing/2014/main" id="{EE9B0715-6682-0310-4D44-D1146D23A671}"/>
              </a:ext>
            </a:extLst>
          </p:cNvPr>
          <p:cNvSpPr/>
          <p:nvPr/>
        </p:nvSpPr>
        <p:spPr>
          <a:xfrm>
            <a:off x="1220956" y="5586244"/>
            <a:ext cx="3612397" cy="197210"/>
          </a:xfrm>
          <a:prstGeom prst="roundRect">
            <a:avLst>
              <a:gd name="adj" fmla="val 25000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番号_2">
            <a:extLst>
              <a:ext uri="{FF2B5EF4-FFF2-40B4-BE49-F238E27FC236}">
                <a16:creationId xmlns:a16="http://schemas.microsoft.com/office/drawing/2014/main" id="{73C90967-C713-9086-2915-B07A7D76C912}"/>
              </a:ext>
            </a:extLst>
          </p:cNvPr>
          <p:cNvSpPr/>
          <p:nvPr/>
        </p:nvSpPr>
        <p:spPr>
          <a:xfrm>
            <a:off x="966956" y="5570549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手順番号_1">
            <a:extLst>
              <a:ext uri="{FF2B5EF4-FFF2-40B4-BE49-F238E27FC236}">
                <a16:creationId xmlns:a16="http://schemas.microsoft.com/office/drawing/2014/main" id="{510755C4-CD36-08EE-832F-1C5C0D1A241A}"/>
              </a:ext>
            </a:extLst>
          </p:cNvPr>
          <p:cNvSpPr/>
          <p:nvPr/>
        </p:nvSpPr>
        <p:spPr>
          <a:xfrm>
            <a:off x="5319575" y="1155700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1B7524A-18CE-B540-BC40-F63A985B8D55}"/>
              </a:ext>
            </a:extLst>
          </p:cNvPr>
          <p:cNvSpPr txBox="1"/>
          <p:nvPr/>
        </p:nvSpPr>
        <p:spPr>
          <a:xfrm>
            <a:off x="5725975" y="1168400"/>
            <a:ext cx="5932625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自分の予定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50852DC-7FE2-8A96-6EB5-8B4165498489}"/>
              </a:ext>
            </a:extLst>
          </p:cNvPr>
          <p:cNvSpPr txBox="1"/>
          <p:nvPr/>
        </p:nvSpPr>
        <p:spPr>
          <a:xfrm>
            <a:off x="5725975" y="1471833"/>
            <a:ext cx="5932625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登録した日の予定に、時間・件名・場所が表示されます。</a:t>
            </a:r>
          </a:p>
        </p:txBody>
      </p:sp>
      <p:sp>
        <p:nvSpPr>
          <p:cNvPr id="21" name="手順番号_2">
            <a:extLst>
              <a:ext uri="{FF2B5EF4-FFF2-40B4-BE49-F238E27FC236}">
                <a16:creationId xmlns:a16="http://schemas.microsoft.com/office/drawing/2014/main" id="{3D4BCBE3-D658-0CAA-D371-F90CA080B52F}"/>
              </a:ext>
            </a:extLst>
          </p:cNvPr>
          <p:cNvSpPr/>
          <p:nvPr/>
        </p:nvSpPr>
        <p:spPr>
          <a:xfrm>
            <a:off x="5319575" y="1822681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8CCCB0E-BCBA-2102-70EE-F72E60F7738A}"/>
              </a:ext>
            </a:extLst>
          </p:cNvPr>
          <p:cNvSpPr txBox="1"/>
          <p:nvPr/>
        </p:nvSpPr>
        <p:spPr>
          <a:xfrm>
            <a:off x="5725975" y="1835381"/>
            <a:ext cx="5932625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今週の予定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D42CB31-FAAA-B1DC-8CFA-0174E793C1E5}"/>
              </a:ext>
            </a:extLst>
          </p:cNvPr>
          <p:cNvSpPr txBox="1"/>
          <p:nvPr/>
        </p:nvSpPr>
        <p:spPr>
          <a:xfrm>
            <a:off x="5725975" y="2138814"/>
            <a:ext cx="5932625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その週の一覧にも表示されます。</a:t>
            </a:r>
          </a:p>
        </p:txBody>
      </p:sp>
      <p:sp>
        <p:nvSpPr>
          <p:cNvPr id="24" name="補足の枠">
            <a:extLst>
              <a:ext uri="{FF2B5EF4-FFF2-40B4-BE49-F238E27FC236}">
                <a16:creationId xmlns:a16="http://schemas.microsoft.com/office/drawing/2014/main" id="{3074D736-22E0-C93D-520C-C6DAB58556EF}"/>
              </a:ext>
            </a:extLst>
          </p:cNvPr>
          <p:cNvSpPr/>
          <p:nvPr/>
        </p:nvSpPr>
        <p:spPr>
          <a:xfrm>
            <a:off x="5319575" y="2527762"/>
            <a:ext cx="6339025" cy="701191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3D50EBA-1A8B-A169-55F0-A11C63A6D34A}"/>
              </a:ext>
            </a:extLst>
          </p:cNvPr>
          <p:cNvSpPr txBox="1"/>
          <p:nvPr/>
        </p:nvSpPr>
        <p:spPr>
          <a:xfrm>
            <a:off x="5471975" y="2642062"/>
            <a:ext cx="6034225" cy="193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ポイント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8DCA498-F9BB-8DAB-28F7-9ED899F4EA31}"/>
              </a:ext>
            </a:extLst>
          </p:cNvPr>
          <p:cNvSpPr txBox="1"/>
          <p:nvPr/>
        </p:nvSpPr>
        <p:spPr>
          <a:xfrm>
            <a:off x="5471975" y="2873933"/>
            <a:ext cx="6034225" cy="2026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入力を間違えたときは、予定をクリックすると変更・削除できます</a:t>
            </a:r>
            <a:r>
              <a:rPr kumimoji="1" lang="en-US" altLang="ja-JP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次のページ</a:t>
            </a:r>
            <a:r>
              <a:rPr kumimoji="1" lang="en-US" altLang="ja-JP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0366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予定を変更する・削除する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自分が作成した予定は、ポータルから変更・削除できます</a:t>
            </a:r>
            <a:endParaRPr lang="en-US" altLang="ja-JP" sz="1400" dirty="0"/>
          </a:p>
        </p:txBody>
      </p:sp>
      <p:sp>
        <p:nvSpPr>
          <p:cNvPr id="3" name="ページ番号">
            <a:extLst>
              <a:ext uri="{FF2B5EF4-FFF2-40B4-BE49-F238E27FC236}">
                <a16:creationId xmlns:a16="http://schemas.microsoft.com/office/drawing/2014/main" id="{FBA46018-481D-7877-FFED-76BB734EB9B0}"/>
              </a:ext>
            </a:extLst>
          </p:cNvPr>
          <p:cNvSpPr txBox="1"/>
          <p:nvPr/>
        </p:nvSpPr>
        <p:spPr>
          <a:xfrm>
            <a:off x="10134600" y="6578600"/>
            <a:ext cx="1524000" cy="168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15000"/>
              </a:lnSpc>
            </a:pPr>
            <a:r>
              <a:rPr kumimoji="1" lang="en-US" altLang="ja-JP" sz="10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9 / 10</a:t>
            </a:r>
            <a:endParaRPr kumimoji="1" lang="ja-JP" altLang="en-US" sz="1000">
              <a:solidFill>
                <a:srgbClr val="6B7D8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7" name="画面_a07_edit">
            <a:extLst>
              <a:ext uri="{FF2B5EF4-FFF2-40B4-BE49-F238E27FC236}">
                <a16:creationId xmlns:a16="http://schemas.microsoft.com/office/drawing/2014/main" id="{6976397F-4FEB-7E6D-7014-957234AA244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68400"/>
            <a:ext cx="3018263" cy="5156200"/>
          </a:xfrm>
          <a:prstGeom prst="rect">
            <a:avLst/>
          </a:prstGeom>
          <a:ln w="9525">
            <a:solidFill>
              <a:srgbClr val="C8D3DF"/>
            </a:solidFill>
          </a:ln>
        </p:spPr>
      </p:pic>
      <p:sp>
        <p:nvSpPr>
          <p:cNvPr id="12" name="赤枠_2">
            <a:extLst>
              <a:ext uri="{FF2B5EF4-FFF2-40B4-BE49-F238E27FC236}">
                <a16:creationId xmlns:a16="http://schemas.microsoft.com/office/drawing/2014/main" id="{1B5207F7-F8E3-D70F-2DE1-1680BC40C6C8}"/>
              </a:ext>
            </a:extLst>
          </p:cNvPr>
          <p:cNvSpPr/>
          <p:nvPr/>
        </p:nvSpPr>
        <p:spPr>
          <a:xfrm>
            <a:off x="737650" y="5900046"/>
            <a:ext cx="734284" cy="274982"/>
          </a:xfrm>
          <a:prstGeom prst="roundRect">
            <a:avLst>
              <a:gd name="adj" fmla="val 18182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番号_2">
            <a:extLst>
              <a:ext uri="{FF2B5EF4-FFF2-40B4-BE49-F238E27FC236}">
                <a16:creationId xmlns:a16="http://schemas.microsoft.com/office/drawing/2014/main" id="{39A2C799-B428-5E08-5A5D-CEAB31C5FCC3}"/>
              </a:ext>
            </a:extLst>
          </p:cNvPr>
          <p:cNvSpPr/>
          <p:nvPr/>
        </p:nvSpPr>
        <p:spPr>
          <a:xfrm>
            <a:off x="623350" y="5785746"/>
            <a:ext cx="228601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赤枠_1">
            <a:extLst>
              <a:ext uri="{FF2B5EF4-FFF2-40B4-BE49-F238E27FC236}">
                <a16:creationId xmlns:a16="http://schemas.microsoft.com/office/drawing/2014/main" id="{716CB1BE-0E51-C990-89E8-B1248483BC1D}"/>
              </a:ext>
            </a:extLst>
          </p:cNvPr>
          <p:cNvSpPr/>
          <p:nvPr/>
        </p:nvSpPr>
        <p:spPr>
          <a:xfrm>
            <a:off x="2678744" y="5900046"/>
            <a:ext cx="668669" cy="274982"/>
          </a:xfrm>
          <a:prstGeom prst="roundRect">
            <a:avLst>
              <a:gd name="adj" fmla="val 18182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番号_1">
            <a:extLst>
              <a:ext uri="{FF2B5EF4-FFF2-40B4-BE49-F238E27FC236}">
                <a16:creationId xmlns:a16="http://schemas.microsoft.com/office/drawing/2014/main" id="{F235328D-F553-E464-9F9B-A208619D52C4}"/>
              </a:ext>
            </a:extLst>
          </p:cNvPr>
          <p:cNvSpPr/>
          <p:nvPr/>
        </p:nvSpPr>
        <p:spPr>
          <a:xfrm>
            <a:off x="3233113" y="5785746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BA86B05-FAAA-95AE-8323-FBB1890525C8}"/>
              </a:ext>
            </a:extLst>
          </p:cNvPr>
          <p:cNvSpPr txBox="1"/>
          <p:nvPr/>
        </p:nvSpPr>
        <p:spPr>
          <a:xfrm>
            <a:off x="3881863" y="1168400"/>
            <a:ext cx="7776737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予定をクリックする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885A830-5885-71F7-E7CB-97D103EF180B}"/>
              </a:ext>
            </a:extLst>
          </p:cNvPr>
          <p:cNvSpPr txBox="1"/>
          <p:nvPr/>
        </p:nvSpPr>
        <p:spPr>
          <a:xfrm>
            <a:off x="3881863" y="1471833"/>
            <a:ext cx="7776737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「自分の予定」「今週の予定」で予定をクリックすると、「予定を変更」の画面が開きます。</a:t>
            </a:r>
          </a:p>
        </p:txBody>
      </p:sp>
      <p:sp>
        <p:nvSpPr>
          <p:cNvPr id="20" name="手順番号_1">
            <a:extLst>
              <a:ext uri="{FF2B5EF4-FFF2-40B4-BE49-F238E27FC236}">
                <a16:creationId xmlns:a16="http://schemas.microsoft.com/office/drawing/2014/main" id="{C55103CB-9719-3D78-8D66-70D623EF74AD}"/>
              </a:ext>
            </a:extLst>
          </p:cNvPr>
          <p:cNvSpPr/>
          <p:nvPr/>
        </p:nvSpPr>
        <p:spPr>
          <a:xfrm>
            <a:off x="3881863" y="1822681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E0BB824-787B-C9FE-864E-BD41B25A742D}"/>
              </a:ext>
            </a:extLst>
          </p:cNvPr>
          <p:cNvSpPr txBox="1"/>
          <p:nvPr/>
        </p:nvSpPr>
        <p:spPr>
          <a:xfrm>
            <a:off x="4288263" y="1835381"/>
            <a:ext cx="7370337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変更する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5CE8756-11B9-28E6-55CB-283003E9DD18}"/>
              </a:ext>
            </a:extLst>
          </p:cNvPr>
          <p:cNvSpPr txBox="1"/>
          <p:nvPr/>
        </p:nvSpPr>
        <p:spPr>
          <a:xfrm>
            <a:off x="4288263" y="2138814"/>
            <a:ext cx="7370337" cy="2110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内容を直して </a:t>
            </a:r>
            <a:r>
              <a:rPr kumimoji="1" lang="ja-JP" altLang="en-US" sz="125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「変更を保存」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を押します。</a:t>
            </a:r>
          </a:p>
        </p:txBody>
      </p:sp>
      <p:sp>
        <p:nvSpPr>
          <p:cNvPr id="23" name="手順番号_2">
            <a:extLst>
              <a:ext uri="{FF2B5EF4-FFF2-40B4-BE49-F238E27FC236}">
                <a16:creationId xmlns:a16="http://schemas.microsoft.com/office/drawing/2014/main" id="{5912F4AE-36E8-E607-097C-646095D61824}"/>
              </a:ext>
            </a:extLst>
          </p:cNvPr>
          <p:cNvSpPr/>
          <p:nvPr/>
        </p:nvSpPr>
        <p:spPr>
          <a:xfrm>
            <a:off x="3881863" y="2489534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23AAF1C-6F43-67CC-56E3-76069B1DCA09}"/>
              </a:ext>
            </a:extLst>
          </p:cNvPr>
          <p:cNvSpPr txBox="1"/>
          <p:nvPr/>
        </p:nvSpPr>
        <p:spPr>
          <a:xfrm>
            <a:off x="4288263" y="2502234"/>
            <a:ext cx="7370337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削除する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70AEF80-60C4-8F5D-088E-E01D76BAB89E}"/>
              </a:ext>
            </a:extLst>
          </p:cNvPr>
          <p:cNvSpPr txBox="1"/>
          <p:nvPr/>
        </p:nvSpPr>
        <p:spPr>
          <a:xfrm>
            <a:off x="4288263" y="2805667"/>
            <a:ext cx="7370337" cy="2110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「この予定を削除」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を押し、確認のメッセージで 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OK 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を押します。</a:t>
            </a:r>
          </a:p>
        </p:txBody>
      </p:sp>
      <p:sp>
        <p:nvSpPr>
          <p:cNvPr id="27" name="補足の枠">
            <a:extLst>
              <a:ext uri="{FF2B5EF4-FFF2-40B4-BE49-F238E27FC236}">
                <a16:creationId xmlns:a16="http://schemas.microsoft.com/office/drawing/2014/main" id="{18FD583C-315C-620D-9748-64255AB05E71}"/>
              </a:ext>
            </a:extLst>
          </p:cNvPr>
          <p:cNvSpPr/>
          <p:nvPr/>
        </p:nvSpPr>
        <p:spPr>
          <a:xfrm>
            <a:off x="3881863" y="3194487"/>
            <a:ext cx="7776737" cy="913556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1F527AE-E8F9-0973-16AC-4BDCA80B4448}"/>
              </a:ext>
            </a:extLst>
          </p:cNvPr>
          <p:cNvSpPr txBox="1"/>
          <p:nvPr/>
        </p:nvSpPr>
        <p:spPr>
          <a:xfrm>
            <a:off x="4034263" y="3308787"/>
            <a:ext cx="7471937" cy="193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変更できない予定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5B24BB3-E36E-7746-C47B-30A2227D7396}"/>
              </a:ext>
            </a:extLst>
          </p:cNvPr>
          <p:cNvSpPr txBox="1"/>
          <p:nvPr/>
        </p:nvSpPr>
        <p:spPr>
          <a:xfrm>
            <a:off x="4034263" y="3540658"/>
            <a:ext cx="7471937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他の人が作成した予定と、終日の予定は、クリックしても変更画面が開きません。変更が必要なときは、予定を作成した人に依頼してください。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776438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困ったときは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よくある質問</a:t>
            </a:r>
            <a:endParaRPr lang="en-US" altLang="ja-JP" sz="1400" dirty="0"/>
          </a:p>
        </p:txBody>
      </p:sp>
      <p:sp>
        <p:nvSpPr>
          <p:cNvPr id="3" name="ページ番号">
            <a:extLst>
              <a:ext uri="{FF2B5EF4-FFF2-40B4-BE49-F238E27FC236}">
                <a16:creationId xmlns:a16="http://schemas.microsoft.com/office/drawing/2014/main" id="{26E7520B-1548-BEA7-61F9-B07100670E3A}"/>
              </a:ext>
            </a:extLst>
          </p:cNvPr>
          <p:cNvSpPr txBox="1"/>
          <p:nvPr/>
        </p:nvSpPr>
        <p:spPr>
          <a:xfrm>
            <a:off x="10134600" y="6578600"/>
            <a:ext cx="1524000" cy="168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15000"/>
              </a:lnSpc>
            </a:pPr>
            <a:r>
              <a:rPr kumimoji="1" lang="en-US" altLang="ja-JP" sz="10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10 / 10</a:t>
            </a:r>
            <a:endParaRPr kumimoji="1" lang="ja-JP" altLang="en-US" sz="1000">
              <a:solidFill>
                <a:srgbClr val="6B7D8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4" name="補足の枠">
            <a:extLst>
              <a:ext uri="{FF2B5EF4-FFF2-40B4-BE49-F238E27FC236}">
                <a16:creationId xmlns:a16="http://schemas.microsoft.com/office/drawing/2014/main" id="{133017B4-DB4C-F237-C20D-73D91BF179EA}"/>
              </a:ext>
            </a:extLst>
          </p:cNvPr>
          <p:cNvSpPr/>
          <p:nvPr/>
        </p:nvSpPr>
        <p:spPr>
          <a:xfrm>
            <a:off x="533400" y="1219200"/>
            <a:ext cx="5435600" cy="701191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9537FFB-4A9D-E4B1-22A9-F8645FB8BAE3}"/>
              </a:ext>
            </a:extLst>
          </p:cNvPr>
          <p:cNvSpPr txBox="1"/>
          <p:nvPr/>
        </p:nvSpPr>
        <p:spPr>
          <a:xfrm>
            <a:off x="685800" y="1333500"/>
            <a:ext cx="5130800" cy="193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「件名を入力してください」と表示される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EB833FA-B19B-91FB-8DAC-CE5026BA6F6A}"/>
              </a:ext>
            </a:extLst>
          </p:cNvPr>
          <p:cNvSpPr txBox="1"/>
          <p:nvPr/>
        </p:nvSpPr>
        <p:spPr>
          <a:xfrm>
            <a:off x="685800" y="1565371"/>
            <a:ext cx="5130800" cy="2026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件名は必須です。件名を入力してから「作成する」を押してください。</a:t>
            </a:r>
          </a:p>
        </p:txBody>
      </p:sp>
      <p:sp>
        <p:nvSpPr>
          <p:cNvPr id="13" name="補足の枠">
            <a:extLst>
              <a:ext uri="{FF2B5EF4-FFF2-40B4-BE49-F238E27FC236}">
                <a16:creationId xmlns:a16="http://schemas.microsoft.com/office/drawing/2014/main" id="{EBB7391D-4638-1FB4-8E32-6A78C6C2D661}"/>
              </a:ext>
            </a:extLst>
          </p:cNvPr>
          <p:cNvSpPr/>
          <p:nvPr/>
        </p:nvSpPr>
        <p:spPr>
          <a:xfrm>
            <a:off x="6223000" y="1219200"/>
            <a:ext cx="5435600" cy="701191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D947BC4-BA98-B011-53D7-736A59741690}"/>
              </a:ext>
            </a:extLst>
          </p:cNvPr>
          <p:cNvSpPr txBox="1"/>
          <p:nvPr/>
        </p:nvSpPr>
        <p:spPr>
          <a:xfrm>
            <a:off x="6375400" y="1333500"/>
            <a:ext cx="5130800" cy="193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「終了時刻は開始時刻より後にしてください」と表示される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6821D9F-94D7-2C8F-3AA1-7CD2A1ADBDD1}"/>
              </a:ext>
            </a:extLst>
          </p:cNvPr>
          <p:cNvSpPr txBox="1"/>
          <p:nvPr/>
        </p:nvSpPr>
        <p:spPr>
          <a:xfrm>
            <a:off x="6375400" y="1565371"/>
            <a:ext cx="5130800" cy="2026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終了の時間が、開始より後になるように選び直してください。</a:t>
            </a:r>
          </a:p>
        </p:txBody>
      </p:sp>
      <p:sp>
        <p:nvSpPr>
          <p:cNvPr id="16" name="補足の枠">
            <a:extLst>
              <a:ext uri="{FF2B5EF4-FFF2-40B4-BE49-F238E27FC236}">
                <a16:creationId xmlns:a16="http://schemas.microsoft.com/office/drawing/2014/main" id="{19E32D38-B44F-4ED0-9B70-F0AC90548863}"/>
              </a:ext>
            </a:extLst>
          </p:cNvPr>
          <p:cNvSpPr/>
          <p:nvPr/>
        </p:nvSpPr>
        <p:spPr>
          <a:xfrm>
            <a:off x="533400" y="2072791"/>
            <a:ext cx="5435600" cy="701191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A9A0593-675A-08F6-48DE-9794FF761008}"/>
              </a:ext>
            </a:extLst>
          </p:cNvPr>
          <p:cNvSpPr txBox="1"/>
          <p:nvPr/>
        </p:nvSpPr>
        <p:spPr>
          <a:xfrm>
            <a:off x="685800" y="2187091"/>
            <a:ext cx="5130800" cy="193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終日の予定や、繰り返しの予定を入れたい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81CB1C4-E7FA-A206-70B5-B3EEC4E83F50}"/>
              </a:ext>
            </a:extLst>
          </p:cNvPr>
          <p:cNvSpPr txBox="1"/>
          <p:nvPr/>
        </p:nvSpPr>
        <p:spPr>
          <a:xfrm>
            <a:off x="685800" y="2418962"/>
            <a:ext cx="5130800" cy="2026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ポータルでは入力できません。</a:t>
            </a:r>
            <a:r>
              <a:rPr kumimoji="1" lang="en-US" altLang="ja-JP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日ずつ、時間を決めて入力してください。</a:t>
            </a:r>
          </a:p>
        </p:txBody>
      </p:sp>
      <p:sp>
        <p:nvSpPr>
          <p:cNvPr id="21" name="補足の枠">
            <a:extLst>
              <a:ext uri="{FF2B5EF4-FFF2-40B4-BE49-F238E27FC236}">
                <a16:creationId xmlns:a16="http://schemas.microsoft.com/office/drawing/2014/main" id="{4A90541C-B544-88D0-73FB-0A41B2C74477}"/>
              </a:ext>
            </a:extLst>
          </p:cNvPr>
          <p:cNvSpPr/>
          <p:nvPr/>
        </p:nvSpPr>
        <p:spPr>
          <a:xfrm>
            <a:off x="6223000" y="2072791"/>
            <a:ext cx="5435600" cy="913556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F189370-80EC-C0AE-3EA4-C76193E017A2}"/>
              </a:ext>
            </a:extLst>
          </p:cNvPr>
          <p:cNvSpPr txBox="1"/>
          <p:nvPr/>
        </p:nvSpPr>
        <p:spPr>
          <a:xfrm>
            <a:off x="6375400" y="2187091"/>
            <a:ext cx="5130800" cy="193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en-US" altLang="ja-JP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8:00 </a:t>
            </a: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より前、</a:t>
            </a:r>
            <a:r>
              <a:rPr kumimoji="1" lang="en-US" altLang="ja-JP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21:00 </a:t>
            </a: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より後の予定を入れたい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5ED91D4-5F05-C2BB-4A89-796CDADB7785}"/>
              </a:ext>
            </a:extLst>
          </p:cNvPr>
          <p:cNvSpPr txBox="1"/>
          <p:nvPr/>
        </p:nvSpPr>
        <p:spPr>
          <a:xfrm>
            <a:off x="6375400" y="2418962"/>
            <a:ext cx="513080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ポータルで選べるのは </a:t>
            </a:r>
            <a:r>
              <a:rPr kumimoji="1" lang="en-US" altLang="ja-JP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8:00〜21:00 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です。この時間以外の予定は入力できません。</a:t>
            </a:r>
          </a:p>
        </p:txBody>
      </p:sp>
      <p:sp>
        <p:nvSpPr>
          <p:cNvPr id="24" name="補足の枠">
            <a:extLst>
              <a:ext uri="{FF2B5EF4-FFF2-40B4-BE49-F238E27FC236}">
                <a16:creationId xmlns:a16="http://schemas.microsoft.com/office/drawing/2014/main" id="{70E518C5-7AA8-C5F2-E89C-7D231CADF9CF}"/>
              </a:ext>
            </a:extLst>
          </p:cNvPr>
          <p:cNvSpPr/>
          <p:nvPr/>
        </p:nvSpPr>
        <p:spPr>
          <a:xfrm>
            <a:off x="533400" y="2926382"/>
            <a:ext cx="5435600" cy="913556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9F8DA62-04A3-A7CE-D3E8-3CBE205A60EC}"/>
              </a:ext>
            </a:extLst>
          </p:cNvPr>
          <p:cNvSpPr txBox="1"/>
          <p:nvPr/>
        </p:nvSpPr>
        <p:spPr>
          <a:xfrm>
            <a:off x="685800" y="3040682"/>
            <a:ext cx="5130800" cy="193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登録した予定が表示されない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E609395-AE02-2C39-450B-0022DA31B9A7}"/>
              </a:ext>
            </a:extLst>
          </p:cNvPr>
          <p:cNvSpPr txBox="1"/>
          <p:nvPr/>
        </p:nvSpPr>
        <p:spPr>
          <a:xfrm>
            <a:off x="685800" y="3272553"/>
            <a:ext cx="513080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日付の切り替えで、登録した日を表示しているか確認してください。それでも出ないときは、画面を再読み込み</a:t>
            </a:r>
            <a:r>
              <a:rPr kumimoji="1" lang="en-US" altLang="ja-JP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(F5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キー</a:t>
            </a:r>
            <a:r>
              <a:rPr kumimoji="1" lang="en-US" altLang="ja-JP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2213648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11352</TotalTime>
  <Words>1169</Words>
  <Application>Microsoft Office PowerPoint</Application>
  <PresentationFormat>ワイド画面</PresentationFormat>
  <Paragraphs>157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貸出用</dc:creator>
  <cp:lastModifiedBy>本田 洋介  (吉村一建設)</cp:lastModifiedBy>
  <cp:revision>269</cp:revision>
  <cp:lastPrinted>2026-05-27T00:44:21Z</cp:lastPrinted>
  <dcterms:created xsi:type="dcterms:W3CDTF">2025-08-20T01:11:28Z</dcterms:created>
  <dcterms:modified xsi:type="dcterms:W3CDTF">2026-10-17T05:34:38Z</dcterms:modified>
</cp:coreProperties>
</file>