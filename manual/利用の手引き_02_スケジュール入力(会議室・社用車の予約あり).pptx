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8"/>
  </p:notesMasterIdLst>
  <p:sldIdLst>
    <p:sldId id="358" r:id="rId2"/>
    <p:sldId id="373" r:id="rId3"/>
    <p:sldId id="372" r:id="rId4"/>
    <p:sldId id="371" r:id="rId5"/>
    <p:sldId id="370" r:id="rId6"/>
    <p:sldId id="369" r:id="rId7"/>
    <p:sldId id="368" r:id="rId8"/>
    <p:sldId id="367" r:id="rId9"/>
    <p:sldId id="366" r:id="rId10"/>
    <p:sldId id="365" r:id="rId11"/>
    <p:sldId id="364" r:id="rId12"/>
    <p:sldId id="363" r:id="rId13"/>
    <p:sldId id="362" r:id="rId14"/>
    <p:sldId id="361" r:id="rId15"/>
    <p:sldId id="360" r:id="rId16"/>
    <p:sldId id="359" r:id="rId17"/>
  </p:sldIdLst>
  <p:sldSz cx="12192000" cy="6858000"/>
  <p:notesSz cx="6735763" cy="98663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5767" autoAdjust="0"/>
  </p:normalViewPr>
  <p:slideViewPr>
    <p:cSldViewPr snapToGrid="0">
      <p:cViewPr varScale="1">
        <p:scale>
          <a:sx n="120" d="100"/>
          <a:sy n="120" d="100"/>
        </p:scale>
        <p:origin x="12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EF576-4207-4CD5-9651-A9CCCB475C07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0A2031-74A8-4F5F-801A-68C5EE78D9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2141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A1678A-8AF9-6D7F-52B1-98AD421BD9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F5C09E8-AC07-655E-0811-398FD21BB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FE1FFA-4911-C272-0AAA-0890DA9B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B15150-5BD5-E1FD-C0DA-50B880BF1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22C591-2B23-18F3-2179-D9F7EFFAF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5929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6F6BB4-8D38-A7D9-01C3-AFD373965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1C8BC7-63BF-A91D-C2E6-B0F2AE68C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5B07FB-BCDA-A8BA-3B1C-2200869C3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A78D63-9149-C5CC-4919-FA5E5A866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E91FC0-97F1-7D55-3985-7A5E5ECD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7119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3994AD-A9F5-8AAE-1679-06C5788A7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FA03A1-25CF-F376-B0D0-72EA1D295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47ADDA-A1AC-E205-39F7-53A3E659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35EFDC-5028-E33E-E1A5-AB2E7E865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49525F-302E-2CC3-6F72-12A40A2B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71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CB4C15-E312-828B-B460-7D065484C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753E09-BF63-1687-32CA-1C33E0504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EEB7F5-F8C2-6223-B235-9571A048B5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D35CF89-1484-6DDE-0BF8-195C8EDFD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7527E0D-5F86-FF72-455D-FD59C071B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EAF2F1-7FCF-95CA-0F59-ADEBB934B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6683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8FCB45-C057-6896-BA59-C7F9682CB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69E0B0-52BC-DECD-9504-F502D5155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B645FCC-66BD-0675-4725-B129E356B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A438873-91F3-72AF-1009-9FC3237053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B3DFDF9-79EF-4DAB-3A17-C8BF352E14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52C687B-D5D6-7C0F-8488-7669F9BDE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663F3D-8EC3-EAE2-FC33-DE62633E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45367F3-C9FD-4C00-FDB6-F879B76D2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2395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527FEB-EF44-766E-F153-B1261290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9CD4881-F5E5-46D2-F745-67A605104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51633E2-A09C-BD88-8D15-F657E4C3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5960823-F762-A2EE-3567-0DB3DE4A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14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0637BEE-10B4-1E70-9F0A-EC6E3F1D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CB8C19E-F6F7-937E-DCAE-EC80960A5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068700D-0FC2-C89F-D386-DC8E4D61A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586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403814-C0B1-02FE-EB94-67187308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A48310-A4E7-2CDF-331C-B6961757A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9424BA7-DD2B-218C-42AA-EEFB8952C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FA69EC3-065B-036F-620F-D26F37EDA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5B30AAC-8EC8-0A0D-6185-9342854F9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6D4BDE-572C-1575-FD01-8E6DCCDA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404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582BC4-7D37-FC09-1FF1-AF516FA7B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6D91333-E304-C5B5-09DC-B3A5B9D5CD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338F476-295E-CC6D-AB12-A7CE94CF3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CA78699-86B5-70E9-A5F3-29F9B625E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8A32EFE-D1D5-45DD-13DE-CD679B952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497AFDF-A5BF-4769-D6D4-4B80E6894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4417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6C31EF-7FAC-8AB3-90F2-C8D6845B3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14D76B4-445F-CE0E-30FE-8F5A5EEF7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2815B99-5786-232D-BEE7-37FC83D6F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2BB0A3-5E99-50A6-D49F-C47CD8F6C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2B317F-D288-AA02-BC87-EA91A2EAB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990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66C31AE-829D-6357-80F4-7875E808BA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70EA1C9-1767-8BF3-E6C0-93D82A6B8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E2B84B-6A16-937B-8763-75A10294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AB32A7-1588-38AF-D9CC-C9B671CF0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94DFC2B-F277-56DB-90DD-CBC7B6CE0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7402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ACCB434-B36D-D2B5-F922-7684B9A6B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16353B-B33F-17D8-0814-6816DE6B6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502CE7-36FD-4973-D49D-A3C0C97C17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AF9CE-A517-4FF6-8271-E974169160D5}" type="datetimeFigureOut">
              <a:rPr kumimoji="1" lang="ja-JP" altLang="en-US" smtClean="0"/>
              <a:t>2026/10/17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AED8A9-3C56-1529-C4B7-D61A1CC90F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3B9930-43F8-247C-B5B9-617A067C7C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CCA63-D578-48C7-8899-2D15334160E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493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社内ポータル 利用の手引き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一般社員向け ・ </a:t>
            </a:r>
            <a:r>
              <a:rPr lang="en-US" altLang="ja-JP" sz="1400"/>
              <a:t>2026</a:t>
            </a:r>
            <a:r>
              <a:rPr lang="ja-JP" altLang="en-US" sz="1400"/>
              <a:t>年</a:t>
            </a:r>
            <a:r>
              <a:rPr lang="en-US" altLang="ja-JP" sz="1400"/>
              <a:t>10</a:t>
            </a:r>
            <a:r>
              <a:rPr lang="ja-JP" altLang="en-US" sz="1400"/>
              <a:t>月版</a:t>
            </a:r>
            <a:endParaRPr lang="en-US" altLang="ja-JP" sz="14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488F3DD-D18F-C197-D2D9-57462F91581D}"/>
              </a:ext>
            </a:extLst>
          </p:cNvPr>
          <p:cNvSpPr txBox="1"/>
          <p:nvPr/>
        </p:nvSpPr>
        <p:spPr>
          <a:xfrm>
            <a:off x="533400" y="2159000"/>
            <a:ext cx="11125200" cy="30322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操作マニュアル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EAA0681-9C29-D72B-9DE3-C1D038D5CA58}"/>
              </a:ext>
            </a:extLst>
          </p:cNvPr>
          <p:cNvSpPr txBox="1"/>
          <p:nvPr/>
        </p:nvSpPr>
        <p:spPr>
          <a:xfrm>
            <a:off x="533400" y="2640025"/>
            <a:ext cx="11125200" cy="6064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36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スケジュールを入力する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729FE55-836A-D99B-A1FD-E46F6161EEC9}"/>
              </a:ext>
            </a:extLst>
          </p:cNvPr>
          <p:cNvSpPr txBox="1"/>
          <p:nvPr/>
        </p:nvSpPr>
        <p:spPr>
          <a:xfrm>
            <a:off x="533400" y="3424273"/>
            <a:ext cx="11125200" cy="3039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会議室・社用車の予約がある場合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83415FF-6D0B-15E5-71C6-75FBF5803CC2}"/>
              </a:ext>
            </a:extLst>
          </p:cNvPr>
          <p:cNvSpPr txBox="1"/>
          <p:nvPr/>
        </p:nvSpPr>
        <p:spPr>
          <a:xfrm>
            <a:off x="533400" y="5334000"/>
            <a:ext cx="11125200" cy="202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2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画面に表示されている名前・予定は、説明用の例です</a:t>
            </a:r>
          </a:p>
        </p:txBody>
      </p:sp>
    </p:spTree>
    <p:extLst>
      <p:ext uri="{BB962C8B-B14F-4D97-AF65-F5344CB8AC3E}">
        <p14:creationId xmlns:p14="http://schemas.microsoft.com/office/powerpoint/2010/main" val="4154817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会議室・社用車を予約する流れ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予定を作るときに、会議室・社用車をあわせて予約します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19DE644D-A58D-DE3A-343A-65659A55C791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2 / 16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82D497F-ADF4-628E-A215-B5C37F31B257}"/>
              </a:ext>
            </a:extLst>
          </p:cNvPr>
          <p:cNvSpPr/>
          <p:nvPr/>
        </p:nvSpPr>
        <p:spPr>
          <a:xfrm>
            <a:off x="533400" y="1625600"/>
            <a:ext cx="2533650" cy="190500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D16D8A39-12A7-6329-F329-67735EBC2F51}"/>
              </a:ext>
            </a:extLst>
          </p:cNvPr>
          <p:cNvSpPr/>
          <p:nvPr/>
        </p:nvSpPr>
        <p:spPr>
          <a:xfrm>
            <a:off x="1584325" y="1828800"/>
            <a:ext cx="431800" cy="43180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6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9FB803C-B9FB-A6FC-ABA8-A98D3C089D2B}"/>
              </a:ext>
            </a:extLst>
          </p:cNvPr>
          <p:cNvSpPr txBox="1"/>
          <p:nvPr/>
        </p:nvSpPr>
        <p:spPr>
          <a:xfrm>
            <a:off x="660400" y="2387600"/>
            <a:ext cx="227965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空き状況を確かめる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C6D93F-B5EC-CC3C-B0A2-FE020C9CB4A3}"/>
              </a:ext>
            </a:extLst>
          </p:cNvPr>
          <p:cNvSpPr txBox="1"/>
          <p:nvPr/>
        </p:nvSpPr>
        <p:spPr>
          <a:xfrm>
            <a:off x="660400" y="2741833"/>
            <a:ext cx="227965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スケジュール画面の右側で、使いたい日の予約を確認します</a:t>
            </a:r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1743DBF6-8B81-EADB-DAD9-B2C0FB48861B}"/>
              </a:ext>
            </a:extLst>
          </p:cNvPr>
          <p:cNvSpPr/>
          <p:nvPr/>
        </p:nvSpPr>
        <p:spPr>
          <a:xfrm>
            <a:off x="3143250" y="2476500"/>
            <a:ext cx="177800" cy="203200"/>
          </a:xfrm>
          <a:prstGeom prst="rightArrow">
            <a:avLst/>
          </a:prstGeom>
          <a:solidFill>
            <a:srgbClr val="C8D3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9C24BA0E-FE6D-950D-E3AC-38C2C1D15395}"/>
              </a:ext>
            </a:extLst>
          </p:cNvPr>
          <p:cNvSpPr/>
          <p:nvPr/>
        </p:nvSpPr>
        <p:spPr>
          <a:xfrm>
            <a:off x="3397250" y="1625600"/>
            <a:ext cx="2533650" cy="190500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DFBB8F08-74CD-2BB7-6649-EF42F25412E4}"/>
              </a:ext>
            </a:extLst>
          </p:cNvPr>
          <p:cNvSpPr/>
          <p:nvPr/>
        </p:nvSpPr>
        <p:spPr>
          <a:xfrm>
            <a:off x="4448175" y="1828800"/>
            <a:ext cx="431800" cy="43180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6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A5C1793-1BAF-8CD3-08B6-22541A727D42}"/>
              </a:ext>
            </a:extLst>
          </p:cNvPr>
          <p:cNvSpPr txBox="1"/>
          <p:nvPr/>
        </p:nvSpPr>
        <p:spPr>
          <a:xfrm>
            <a:off x="3524250" y="2387600"/>
            <a:ext cx="227965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「＋予定を作成」を押す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1E7DF98-EA56-19D5-1D7F-39F3202FB631}"/>
              </a:ext>
            </a:extLst>
          </p:cNvPr>
          <p:cNvSpPr txBox="1"/>
          <p:nvPr/>
        </p:nvSpPr>
        <p:spPr>
          <a:xfrm>
            <a:off x="3524250" y="2741833"/>
            <a:ext cx="227965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件名・日付・時間を入力します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予約なしと同じ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endParaRPr kumimoji="1" lang="ja-JP" altLang="en-US" sz="1200">
              <a:solidFill>
                <a:srgbClr val="1C2B3A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A0A0D528-9EB5-0A5D-11A8-EA7C582C6FFF}"/>
              </a:ext>
            </a:extLst>
          </p:cNvPr>
          <p:cNvSpPr/>
          <p:nvPr/>
        </p:nvSpPr>
        <p:spPr>
          <a:xfrm>
            <a:off x="6007100" y="2476500"/>
            <a:ext cx="177800" cy="203200"/>
          </a:xfrm>
          <a:prstGeom prst="rightArrow">
            <a:avLst/>
          </a:prstGeom>
          <a:solidFill>
            <a:srgbClr val="C8D3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91CD689B-44D6-24A6-54B3-2E5120C244BD}"/>
              </a:ext>
            </a:extLst>
          </p:cNvPr>
          <p:cNvSpPr/>
          <p:nvPr/>
        </p:nvSpPr>
        <p:spPr>
          <a:xfrm>
            <a:off x="6261100" y="1625600"/>
            <a:ext cx="2533650" cy="190500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8CAF6A12-89D7-86C1-69CD-AF65E1AC5E4A}"/>
              </a:ext>
            </a:extLst>
          </p:cNvPr>
          <p:cNvSpPr/>
          <p:nvPr/>
        </p:nvSpPr>
        <p:spPr>
          <a:xfrm>
            <a:off x="7312025" y="1828800"/>
            <a:ext cx="431800" cy="43180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6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19A4724-37E6-EC84-8529-19D064823839}"/>
              </a:ext>
            </a:extLst>
          </p:cNvPr>
          <p:cNvSpPr txBox="1"/>
          <p:nvPr/>
        </p:nvSpPr>
        <p:spPr>
          <a:xfrm>
            <a:off x="6388100" y="2387600"/>
            <a:ext cx="227965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会議室・社用車を選ぶ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04E72A0-FAC4-5C27-6196-430D366C2227}"/>
              </a:ext>
            </a:extLst>
          </p:cNvPr>
          <p:cNvSpPr txBox="1"/>
          <p:nvPr/>
        </p:nvSpPr>
        <p:spPr>
          <a:xfrm>
            <a:off x="6388100" y="2741833"/>
            <a:ext cx="227965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種類 → 拠点 → 空いている会議室・社用車の順に選びます</a:t>
            </a:r>
          </a:p>
        </p:txBody>
      </p:sp>
      <p:sp>
        <p:nvSpPr>
          <p:cNvPr id="27" name="矢印: 右 26">
            <a:extLst>
              <a:ext uri="{FF2B5EF4-FFF2-40B4-BE49-F238E27FC236}">
                <a16:creationId xmlns:a16="http://schemas.microsoft.com/office/drawing/2014/main" id="{89C62B03-CCE6-B231-967A-DC429AC920D2}"/>
              </a:ext>
            </a:extLst>
          </p:cNvPr>
          <p:cNvSpPr/>
          <p:nvPr/>
        </p:nvSpPr>
        <p:spPr>
          <a:xfrm>
            <a:off x="8870950" y="2476500"/>
            <a:ext cx="177800" cy="203200"/>
          </a:xfrm>
          <a:prstGeom prst="rightArrow">
            <a:avLst/>
          </a:prstGeom>
          <a:solidFill>
            <a:srgbClr val="C8D3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E45B35B0-1FF2-D5A6-B7F7-0FA7B33AE871}"/>
              </a:ext>
            </a:extLst>
          </p:cNvPr>
          <p:cNvSpPr/>
          <p:nvPr/>
        </p:nvSpPr>
        <p:spPr>
          <a:xfrm>
            <a:off x="9124950" y="1625600"/>
            <a:ext cx="2533650" cy="1905000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BE91768D-2F84-A0AA-B3B9-B820C68978CC}"/>
              </a:ext>
            </a:extLst>
          </p:cNvPr>
          <p:cNvSpPr/>
          <p:nvPr/>
        </p:nvSpPr>
        <p:spPr>
          <a:xfrm>
            <a:off x="10175875" y="1828800"/>
            <a:ext cx="431800" cy="43180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6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endParaRPr kumimoji="1" lang="ja-JP" altLang="en-US" sz="1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7270786-BF43-7219-4014-D0CAFF5BFFCE}"/>
              </a:ext>
            </a:extLst>
          </p:cNvPr>
          <p:cNvSpPr txBox="1"/>
          <p:nvPr/>
        </p:nvSpPr>
        <p:spPr>
          <a:xfrm>
            <a:off x="9251950" y="2387600"/>
            <a:ext cx="227965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予約を確認する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2A08157-DDDD-2416-17F7-D019F3CA7197}"/>
              </a:ext>
            </a:extLst>
          </p:cNvPr>
          <p:cNvSpPr txBox="1"/>
          <p:nvPr/>
        </p:nvSpPr>
        <p:spPr>
          <a:xfrm>
            <a:off x="9251950" y="2741833"/>
            <a:ext cx="227965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自分の予定と、右側の空き状況に表示されます</a:t>
            </a:r>
          </a:p>
        </p:txBody>
      </p:sp>
      <p:sp>
        <p:nvSpPr>
          <p:cNvPr id="32" name="補足の枠">
            <a:extLst>
              <a:ext uri="{FF2B5EF4-FFF2-40B4-BE49-F238E27FC236}">
                <a16:creationId xmlns:a16="http://schemas.microsoft.com/office/drawing/2014/main" id="{2C572146-479B-78DB-E635-F401D2BB0636}"/>
              </a:ext>
            </a:extLst>
          </p:cNvPr>
          <p:cNvSpPr/>
          <p:nvPr/>
        </p:nvSpPr>
        <p:spPr>
          <a:xfrm>
            <a:off x="533400" y="3860800"/>
            <a:ext cx="11125200" cy="701062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C39361D9-E558-ED79-1B36-82C95DB94BEA}"/>
              </a:ext>
            </a:extLst>
          </p:cNvPr>
          <p:cNvSpPr txBox="1"/>
          <p:nvPr/>
        </p:nvSpPr>
        <p:spPr>
          <a:xfrm>
            <a:off x="685800" y="3975100"/>
            <a:ext cx="108204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ポイント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217FD22-9CEA-AAA8-DAEF-F41B7C31CD9D}"/>
              </a:ext>
            </a:extLst>
          </p:cNvPr>
          <p:cNvSpPr txBox="1"/>
          <p:nvPr/>
        </p:nvSpPr>
        <p:spPr>
          <a:xfrm>
            <a:off x="685800" y="4206971"/>
            <a:ext cx="10820400" cy="2024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会議室・社用車は、</a:t>
            </a:r>
            <a:r>
              <a:rPr kumimoji="1" lang="ja-JP" altLang="en-US" sz="12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予定を作るときに一緒に予約されます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。空いていれば自動で予約が確定し、すでに予約があれば受け付けられません。</a:t>
            </a:r>
          </a:p>
        </p:txBody>
      </p:sp>
      <p:sp>
        <p:nvSpPr>
          <p:cNvPr id="35" name="補足の枠">
            <a:extLst>
              <a:ext uri="{FF2B5EF4-FFF2-40B4-BE49-F238E27FC236}">
                <a16:creationId xmlns:a16="http://schemas.microsoft.com/office/drawing/2014/main" id="{E77673DB-BAA7-F38C-7A64-7EE0DCA70604}"/>
              </a:ext>
            </a:extLst>
          </p:cNvPr>
          <p:cNvSpPr/>
          <p:nvPr/>
        </p:nvSpPr>
        <p:spPr>
          <a:xfrm>
            <a:off x="533400" y="4714262"/>
            <a:ext cx="11125200" cy="913556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6644FC4-E84B-83A9-C71D-EB5258CAEC9C}"/>
              </a:ext>
            </a:extLst>
          </p:cNvPr>
          <p:cNvSpPr txBox="1"/>
          <p:nvPr/>
        </p:nvSpPr>
        <p:spPr>
          <a:xfrm>
            <a:off x="685800" y="4828562"/>
            <a:ext cx="108204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この資料の範囲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88EE3F2-ACDA-DF7B-D108-47C32983DDCE}"/>
              </a:ext>
            </a:extLst>
          </p:cNvPr>
          <p:cNvSpPr txBox="1"/>
          <p:nvPr/>
        </p:nvSpPr>
        <p:spPr>
          <a:xfrm>
            <a:off x="685800" y="5060433"/>
            <a:ext cx="1082040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予約の方法は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2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つあります。「＋予定を作成」から予約する方法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ステップ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1〜3)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と、予約画面から予約する方法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(8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ページから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です。件名・社内メンバーなどの入力方法は「スケジュールを入力する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会議室・社用車の予約がない場合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」をご覧ください。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3907126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ステップ</a:t>
            </a:r>
            <a:r>
              <a:rPr kumimoji="0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</a:t>
            </a: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空き状況を確かめる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スケジュール画面の右側に、選んでいる日の予約が表示されます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D32FA59E-DF9D-7CF1-15EC-295D033FB95B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3 / 16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7" name="画面_b01_grid">
            <a:extLst>
              <a:ext uri="{FF2B5EF4-FFF2-40B4-BE49-F238E27FC236}">
                <a16:creationId xmlns:a16="http://schemas.microsoft.com/office/drawing/2014/main" id="{5668AA09-E62B-B38D-4A29-266C0FBBD95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68400"/>
            <a:ext cx="6604000" cy="4182211"/>
          </a:xfrm>
          <a:prstGeom prst="rect">
            <a:avLst/>
          </a:prstGeom>
          <a:ln w="9525">
            <a:solidFill>
              <a:srgbClr val="C8D3DF"/>
            </a:solidFill>
          </a:ln>
        </p:spPr>
      </p:pic>
      <p:sp>
        <p:nvSpPr>
          <p:cNvPr id="12" name="赤枠_1">
            <a:extLst>
              <a:ext uri="{FF2B5EF4-FFF2-40B4-BE49-F238E27FC236}">
                <a16:creationId xmlns:a16="http://schemas.microsoft.com/office/drawing/2014/main" id="{AEA22AFC-1409-EF14-A503-3D28C7E46760}"/>
              </a:ext>
            </a:extLst>
          </p:cNvPr>
          <p:cNvSpPr/>
          <p:nvPr/>
        </p:nvSpPr>
        <p:spPr>
          <a:xfrm>
            <a:off x="3012429" y="1403875"/>
            <a:ext cx="3693386" cy="408295"/>
          </a:xfrm>
          <a:prstGeom prst="roundRect">
            <a:avLst>
              <a:gd name="adj" fmla="val 12500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番号_1">
            <a:extLst>
              <a:ext uri="{FF2B5EF4-FFF2-40B4-BE49-F238E27FC236}">
                <a16:creationId xmlns:a16="http://schemas.microsoft.com/office/drawing/2014/main" id="{AB437967-1325-A1B8-8FB1-610BDB55F1A9}"/>
              </a:ext>
            </a:extLst>
          </p:cNvPr>
          <p:cNvSpPr/>
          <p:nvPr/>
        </p:nvSpPr>
        <p:spPr>
          <a:xfrm>
            <a:off x="2898129" y="1289575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赤枠_2">
            <a:extLst>
              <a:ext uri="{FF2B5EF4-FFF2-40B4-BE49-F238E27FC236}">
                <a16:creationId xmlns:a16="http://schemas.microsoft.com/office/drawing/2014/main" id="{48F52564-DA94-E92F-6A87-1550FE4F2812}"/>
              </a:ext>
            </a:extLst>
          </p:cNvPr>
          <p:cNvSpPr/>
          <p:nvPr/>
        </p:nvSpPr>
        <p:spPr>
          <a:xfrm>
            <a:off x="902350" y="2102579"/>
            <a:ext cx="6083495" cy="923969"/>
          </a:xfrm>
          <a:prstGeom prst="roundRect">
            <a:avLst>
              <a:gd name="adj" fmla="val 5479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番号_2">
            <a:extLst>
              <a:ext uri="{FF2B5EF4-FFF2-40B4-BE49-F238E27FC236}">
                <a16:creationId xmlns:a16="http://schemas.microsoft.com/office/drawing/2014/main" id="{9B8C2D2A-EFCE-707B-A9DE-C3F79DD2C9BA}"/>
              </a:ext>
            </a:extLst>
          </p:cNvPr>
          <p:cNvSpPr/>
          <p:nvPr/>
        </p:nvSpPr>
        <p:spPr>
          <a:xfrm>
            <a:off x="648350" y="2450264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手順番号_1">
            <a:extLst>
              <a:ext uri="{FF2B5EF4-FFF2-40B4-BE49-F238E27FC236}">
                <a16:creationId xmlns:a16="http://schemas.microsoft.com/office/drawing/2014/main" id="{78EE6C16-E745-4B76-E7A0-23FF8E7C13DE}"/>
              </a:ext>
            </a:extLst>
          </p:cNvPr>
          <p:cNvSpPr/>
          <p:nvPr/>
        </p:nvSpPr>
        <p:spPr>
          <a:xfrm>
            <a:off x="7467600" y="1155700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24A8B8C-99F2-DF75-78FE-FD217B5F74F8}"/>
              </a:ext>
            </a:extLst>
          </p:cNvPr>
          <p:cNvSpPr txBox="1"/>
          <p:nvPr/>
        </p:nvSpPr>
        <p:spPr>
          <a:xfrm>
            <a:off x="7874000" y="1168400"/>
            <a:ext cx="3784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表示を切り替える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0DB180A-9156-D618-E3B2-BE157F7FE02C}"/>
              </a:ext>
            </a:extLst>
          </p:cNvPr>
          <p:cNvSpPr txBox="1"/>
          <p:nvPr/>
        </p:nvSpPr>
        <p:spPr>
          <a:xfrm>
            <a:off x="7874000" y="1471833"/>
            <a:ext cx="37846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「吉村一建設会議室」「ゆめすみか展示場」「社用車」から選びます。</a:t>
            </a:r>
          </a:p>
        </p:txBody>
      </p:sp>
      <p:sp>
        <p:nvSpPr>
          <p:cNvPr id="21" name="手順番号_2">
            <a:extLst>
              <a:ext uri="{FF2B5EF4-FFF2-40B4-BE49-F238E27FC236}">
                <a16:creationId xmlns:a16="http://schemas.microsoft.com/office/drawing/2014/main" id="{5CC1B939-381D-06BF-7C30-8FAE8A586FAB}"/>
              </a:ext>
            </a:extLst>
          </p:cNvPr>
          <p:cNvSpPr/>
          <p:nvPr/>
        </p:nvSpPr>
        <p:spPr>
          <a:xfrm>
            <a:off x="7467600" y="2043895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74C7C80-E907-41FD-7DC4-37153F1ACBD5}"/>
              </a:ext>
            </a:extLst>
          </p:cNvPr>
          <p:cNvSpPr txBox="1"/>
          <p:nvPr/>
        </p:nvSpPr>
        <p:spPr>
          <a:xfrm>
            <a:off x="7874000" y="2056595"/>
            <a:ext cx="3784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予約を確かめる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8AE355A-7CEE-FFD1-617B-D89EA0785AD2}"/>
              </a:ext>
            </a:extLst>
          </p:cNvPr>
          <p:cNvSpPr txBox="1"/>
          <p:nvPr/>
        </p:nvSpPr>
        <p:spPr>
          <a:xfrm>
            <a:off x="7874000" y="2360028"/>
            <a:ext cx="3784600" cy="653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拠点ごとに、時間・会議室名・件名・予約した人が表示されます。予約が無い時間が空いている時間です。</a:t>
            </a:r>
          </a:p>
        </p:txBody>
      </p:sp>
      <p:sp>
        <p:nvSpPr>
          <p:cNvPr id="24" name="補足の枠">
            <a:extLst>
              <a:ext uri="{FF2B5EF4-FFF2-40B4-BE49-F238E27FC236}">
                <a16:creationId xmlns:a16="http://schemas.microsoft.com/office/drawing/2014/main" id="{D6ACAC54-4F93-AF19-6A85-2211A2DF91EB}"/>
              </a:ext>
            </a:extLst>
          </p:cNvPr>
          <p:cNvSpPr/>
          <p:nvPr/>
        </p:nvSpPr>
        <p:spPr>
          <a:xfrm>
            <a:off x="7467600" y="3191405"/>
            <a:ext cx="4191000" cy="913556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80189BC-F22E-DC6F-0E23-9185D78E1EEE}"/>
              </a:ext>
            </a:extLst>
          </p:cNvPr>
          <p:cNvSpPr txBox="1"/>
          <p:nvPr/>
        </p:nvSpPr>
        <p:spPr>
          <a:xfrm>
            <a:off x="7620000" y="3305705"/>
            <a:ext cx="38862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ポイント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1C62A86-CF60-6597-CF12-0D90008A36D2}"/>
              </a:ext>
            </a:extLst>
          </p:cNvPr>
          <p:cNvSpPr txBox="1"/>
          <p:nvPr/>
        </p:nvSpPr>
        <p:spPr>
          <a:xfrm>
            <a:off x="7620000" y="3537576"/>
            <a:ext cx="388620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別の日を確かめるときは、画面左上の「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‹ ›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」で日付を切り替えます。</a:t>
            </a:r>
          </a:p>
        </p:txBody>
      </p:sp>
    </p:spTree>
    <p:extLst>
      <p:ext uri="{BB962C8B-B14F-4D97-AF65-F5344CB8AC3E}">
        <p14:creationId xmlns:p14="http://schemas.microsoft.com/office/powerpoint/2010/main" val="453959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ステップ</a:t>
            </a:r>
            <a:r>
              <a:rPr kumimoji="0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</a:t>
            </a: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会議室を選んで予約する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例</a:t>
            </a:r>
            <a:r>
              <a:rPr lang="en-US" altLang="ja-JP" sz="1400"/>
              <a:t>: </a:t>
            </a:r>
            <a:r>
              <a:rPr lang="ja-JP" altLang="en-US" sz="1400"/>
              <a:t>ゆめすみか展示場の会議室を予約する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575FA1B9-BA2C-BB73-FFBD-75ED8192F11C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4 / 16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7" name="画面_b03_form_room">
            <a:extLst>
              <a:ext uri="{FF2B5EF4-FFF2-40B4-BE49-F238E27FC236}">
                <a16:creationId xmlns:a16="http://schemas.microsoft.com/office/drawing/2014/main" id="{8005D5ED-C7F9-7F41-CD1C-B1B65D313AF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68400"/>
            <a:ext cx="5334000" cy="4994634"/>
          </a:xfrm>
          <a:prstGeom prst="rect">
            <a:avLst/>
          </a:prstGeom>
          <a:ln w="9525">
            <a:solidFill>
              <a:srgbClr val="C8D3DF"/>
            </a:solidFill>
          </a:ln>
        </p:spPr>
      </p:pic>
      <p:sp>
        <p:nvSpPr>
          <p:cNvPr id="12" name="赤枠_1">
            <a:extLst>
              <a:ext uri="{FF2B5EF4-FFF2-40B4-BE49-F238E27FC236}">
                <a16:creationId xmlns:a16="http://schemas.microsoft.com/office/drawing/2014/main" id="{A8D219F1-F195-098D-1C1D-4D22E49646A1}"/>
              </a:ext>
            </a:extLst>
          </p:cNvPr>
          <p:cNvSpPr/>
          <p:nvPr/>
        </p:nvSpPr>
        <p:spPr>
          <a:xfrm>
            <a:off x="986321" y="2311069"/>
            <a:ext cx="4573104" cy="456647"/>
          </a:xfrm>
          <a:prstGeom prst="roundRect">
            <a:avLst>
              <a:gd name="adj" fmla="val 11111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番号_1">
            <a:extLst>
              <a:ext uri="{FF2B5EF4-FFF2-40B4-BE49-F238E27FC236}">
                <a16:creationId xmlns:a16="http://schemas.microsoft.com/office/drawing/2014/main" id="{A32E873F-7370-FDBF-AC00-55CA89720D6D}"/>
              </a:ext>
            </a:extLst>
          </p:cNvPr>
          <p:cNvSpPr/>
          <p:nvPr/>
        </p:nvSpPr>
        <p:spPr>
          <a:xfrm>
            <a:off x="732321" y="2425093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赤枠_2">
            <a:extLst>
              <a:ext uri="{FF2B5EF4-FFF2-40B4-BE49-F238E27FC236}">
                <a16:creationId xmlns:a16="http://schemas.microsoft.com/office/drawing/2014/main" id="{505C32AC-AB6D-539C-AB36-EEF57B8CEC60}"/>
              </a:ext>
            </a:extLst>
          </p:cNvPr>
          <p:cNvSpPr/>
          <p:nvPr/>
        </p:nvSpPr>
        <p:spPr>
          <a:xfrm>
            <a:off x="986321" y="3064786"/>
            <a:ext cx="2253973" cy="456648"/>
          </a:xfrm>
          <a:prstGeom prst="roundRect">
            <a:avLst>
              <a:gd name="adj" fmla="val 11111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番号_2">
            <a:extLst>
              <a:ext uri="{FF2B5EF4-FFF2-40B4-BE49-F238E27FC236}">
                <a16:creationId xmlns:a16="http://schemas.microsoft.com/office/drawing/2014/main" id="{E5B6FF8B-CADF-8761-12F1-A652498B759F}"/>
              </a:ext>
            </a:extLst>
          </p:cNvPr>
          <p:cNvSpPr/>
          <p:nvPr/>
        </p:nvSpPr>
        <p:spPr>
          <a:xfrm>
            <a:off x="732321" y="3178810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赤枠_3">
            <a:extLst>
              <a:ext uri="{FF2B5EF4-FFF2-40B4-BE49-F238E27FC236}">
                <a16:creationId xmlns:a16="http://schemas.microsoft.com/office/drawing/2014/main" id="{D580EB4A-17AC-17CD-FA53-5F7FF29919C4}"/>
              </a:ext>
            </a:extLst>
          </p:cNvPr>
          <p:cNvSpPr/>
          <p:nvPr/>
        </p:nvSpPr>
        <p:spPr>
          <a:xfrm>
            <a:off x="3305451" y="3064786"/>
            <a:ext cx="2253974" cy="456648"/>
          </a:xfrm>
          <a:prstGeom prst="roundRect">
            <a:avLst>
              <a:gd name="adj" fmla="val 11111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番号_3">
            <a:extLst>
              <a:ext uri="{FF2B5EF4-FFF2-40B4-BE49-F238E27FC236}">
                <a16:creationId xmlns:a16="http://schemas.microsoft.com/office/drawing/2014/main" id="{36ED6A4F-65DF-C371-B946-DE096BD6A296}"/>
              </a:ext>
            </a:extLst>
          </p:cNvPr>
          <p:cNvSpPr/>
          <p:nvPr/>
        </p:nvSpPr>
        <p:spPr>
          <a:xfrm>
            <a:off x="5445125" y="2950486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0" name="赤枠_4">
            <a:extLst>
              <a:ext uri="{FF2B5EF4-FFF2-40B4-BE49-F238E27FC236}">
                <a16:creationId xmlns:a16="http://schemas.microsoft.com/office/drawing/2014/main" id="{AAB75D01-35DF-0E4C-68EC-22032B236516}"/>
              </a:ext>
            </a:extLst>
          </p:cNvPr>
          <p:cNvSpPr/>
          <p:nvPr/>
        </p:nvSpPr>
        <p:spPr>
          <a:xfrm>
            <a:off x="4542321" y="5432232"/>
            <a:ext cx="1017104" cy="446984"/>
          </a:xfrm>
          <a:prstGeom prst="roundRect">
            <a:avLst>
              <a:gd name="adj" fmla="val 11429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番号_4">
            <a:extLst>
              <a:ext uri="{FF2B5EF4-FFF2-40B4-BE49-F238E27FC236}">
                <a16:creationId xmlns:a16="http://schemas.microsoft.com/office/drawing/2014/main" id="{C0D9D091-2891-C8CF-E5A2-FD062AE7BE8A}"/>
              </a:ext>
            </a:extLst>
          </p:cNvPr>
          <p:cNvSpPr/>
          <p:nvPr/>
        </p:nvSpPr>
        <p:spPr>
          <a:xfrm>
            <a:off x="5445125" y="5317932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79D5ED3-9400-3725-2754-67778F29F780}"/>
              </a:ext>
            </a:extLst>
          </p:cNvPr>
          <p:cNvSpPr txBox="1"/>
          <p:nvPr/>
        </p:nvSpPr>
        <p:spPr>
          <a:xfrm>
            <a:off x="6197600" y="1168400"/>
            <a:ext cx="54610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先に件名・日付・時間を入力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5595415-07AD-5444-AB0B-FF82E12529ED}"/>
              </a:ext>
            </a:extLst>
          </p:cNvPr>
          <p:cNvSpPr txBox="1"/>
          <p:nvPr/>
        </p:nvSpPr>
        <p:spPr>
          <a:xfrm>
            <a:off x="6197600" y="1471833"/>
            <a:ext cx="54610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「＋予定を作成」で入力画面を開き、件名・日付・開始・終了を入れます。</a:t>
            </a:r>
          </a:p>
        </p:txBody>
      </p:sp>
      <p:sp>
        <p:nvSpPr>
          <p:cNvPr id="24" name="手順番号_1">
            <a:extLst>
              <a:ext uri="{FF2B5EF4-FFF2-40B4-BE49-F238E27FC236}">
                <a16:creationId xmlns:a16="http://schemas.microsoft.com/office/drawing/2014/main" id="{8527FEEC-B297-C488-49BF-321E7C9F9E9A}"/>
              </a:ext>
            </a:extLst>
          </p:cNvPr>
          <p:cNvSpPr/>
          <p:nvPr/>
        </p:nvSpPr>
        <p:spPr>
          <a:xfrm>
            <a:off x="6197600" y="1797281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80DB4E2-958C-772E-B99A-AA8D640625DE}"/>
              </a:ext>
            </a:extLst>
          </p:cNvPr>
          <p:cNvSpPr txBox="1"/>
          <p:nvPr/>
        </p:nvSpPr>
        <p:spPr>
          <a:xfrm>
            <a:off x="6604000" y="1809981"/>
            <a:ext cx="5054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「会議室・社用車」で種類を選ぶ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14149E9-5207-321F-17CD-A24207A52F58}"/>
              </a:ext>
            </a:extLst>
          </p:cNvPr>
          <p:cNvSpPr txBox="1"/>
          <p:nvPr/>
        </p:nvSpPr>
        <p:spPr>
          <a:xfrm>
            <a:off x="6604000" y="2113414"/>
            <a:ext cx="50546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「ゆめすみか展示場」「吉村一建設会議室」「社用車」から選びます。</a:t>
            </a:r>
          </a:p>
        </p:txBody>
      </p:sp>
      <p:sp>
        <p:nvSpPr>
          <p:cNvPr id="28" name="手順番号_2">
            <a:extLst>
              <a:ext uri="{FF2B5EF4-FFF2-40B4-BE49-F238E27FC236}">
                <a16:creationId xmlns:a16="http://schemas.microsoft.com/office/drawing/2014/main" id="{97B8B20B-E175-1E67-2F89-170AE3467E95}"/>
              </a:ext>
            </a:extLst>
          </p:cNvPr>
          <p:cNvSpPr/>
          <p:nvPr/>
        </p:nvSpPr>
        <p:spPr>
          <a:xfrm>
            <a:off x="6197600" y="2438862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DC9C6D2-6E92-34F0-0DF8-71B8B26F9A23}"/>
              </a:ext>
            </a:extLst>
          </p:cNvPr>
          <p:cNvSpPr txBox="1"/>
          <p:nvPr/>
        </p:nvSpPr>
        <p:spPr>
          <a:xfrm>
            <a:off x="6604000" y="2451562"/>
            <a:ext cx="5054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拠点を選ぶ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55D9760-CF19-FB38-35A0-1FD2C703290B}"/>
              </a:ext>
            </a:extLst>
          </p:cNvPr>
          <p:cNvSpPr txBox="1"/>
          <p:nvPr/>
        </p:nvSpPr>
        <p:spPr>
          <a:xfrm>
            <a:off x="6604000" y="2754995"/>
            <a:ext cx="50546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展示場の名前を選びます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吉村一建設会議室は「区分け」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。</a:t>
            </a:r>
          </a:p>
        </p:txBody>
      </p:sp>
      <p:sp>
        <p:nvSpPr>
          <p:cNvPr id="31" name="手順番号_3">
            <a:extLst>
              <a:ext uri="{FF2B5EF4-FFF2-40B4-BE49-F238E27FC236}">
                <a16:creationId xmlns:a16="http://schemas.microsoft.com/office/drawing/2014/main" id="{6AA7CB00-95F4-248F-A4D7-0B885C0EF38D}"/>
              </a:ext>
            </a:extLst>
          </p:cNvPr>
          <p:cNvSpPr/>
          <p:nvPr/>
        </p:nvSpPr>
        <p:spPr>
          <a:xfrm>
            <a:off x="6197600" y="3080443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A93F909-1443-8865-EB90-80BEEDAA40BE}"/>
              </a:ext>
            </a:extLst>
          </p:cNvPr>
          <p:cNvSpPr txBox="1"/>
          <p:nvPr/>
        </p:nvSpPr>
        <p:spPr>
          <a:xfrm>
            <a:off x="6604000" y="3093143"/>
            <a:ext cx="5054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会議室を選ぶ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5FDC09A3-C064-533B-0CC4-2967A7297E48}"/>
              </a:ext>
            </a:extLst>
          </p:cNvPr>
          <p:cNvSpPr txBox="1"/>
          <p:nvPr/>
        </p:nvSpPr>
        <p:spPr>
          <a:xfrm>
            <a:off x="6604000" y="3396576"/>
            <a:ext cx="5054600" cy="2110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その時間に空いている会議室だけ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が表示されます。</a:t>
            </a:r>
          </a:p>
        </p:txBody>
      </p:sp>
      <p:sp>
        <p:nvSpPr>
          <p:cNvPr id="34" name="手順番号_4">
            <a:extLst>
              <a:ext uri="{FF2B5EF4-FFF2-40B4-BE49-F238E27FC236}">
                <a16:creationId xmlns:a16="http://schemas.microsoft.com/office/drawing/2014/main" id="{BAA38790-50F2-F5C9-6C7A-F232B42FE73B}"/>
              </a:ext>
            </a:extLst>
          </p:cNvPr>
          <p:cNvSpPr/>
          <p:nvPr/>
        </p:nvSpPr>
        <p:spPr>
          <a:xfrm>
            <a:off x="6197600" y="3721896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9DD9881-F3E3-271F-BE1D-33B8C584F4FC}"/>
              </a:ext>
            </a:extLst>
          </p:cNvPr>
          <p:cNvSpPr txBox="1"/>
          <p:nvPr/>
        </p:nvSpPr>
        <p:spPr>
          <a:xfrm>
            <a:off x="6604000" y="3734596"/>
            <a:ext cx="5054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「作成する」を押す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85D79F9-48A2-E888-6764-0B6F4C5A0E62}"/>
              </a:ext>
            </a:extLst>
          </p:cNvPr>
          <p:cNvSpPr txBox="1"/>
          <p:nvPr/>
        </p:nvSpPr>
        <p:spPr>
          <a:xfrm>
            <a:off x="6604000" y="4038029"/>
            <a:ext cx="50546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予定と一緒に会議室が予約されます。</a:t>
            </a:r>
          </a:p>
        </p:txBody>
      </p:sp>
    </p:spTree>
    <p:extLst>
      <p:ext uri="{BB962C8B-B14F-4D97-AF65-F5344CB8AC3E}">
        <p14:creationId xmlns:p14="http://schemas.microsoft.com/office/powerpoint/2010/main" val="1173405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ステップ</a:t>
            </a:r>
            <a:r>
              <a:rPr kumimoji="0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</a:t>
            </a: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社用車を選んで予約する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社用車も、会議室と同じ手順で予約します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1B2739B8-EC48-F864-71BD-FB4C17DB3894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5 / 16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7" name="画面_b05_form_car">
            <a:extLst>
              <a:ext uri="{FF2B5EF4-FFF2-40B4-BE49-F238E27FC236}">
                <a16:creationId xmlns:a16="http://schemas.microsoft.com/office/drawing/2014/main" id="{D9D174B8-EB4E-60F7-72F8-ED6FB07C9D7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68400"/>
            <a:ext cx="5334000" cy="4994634"/>
          </a:xfrm>
          <a:prstGeom prst="rect">
            <a:avLst/>
          </a:prstGeom>
          <a:ln w="9525">
            <a:solidFill>
              <a:srgbClr val="C8D3DF"/>
            </a:solidFill>
          </a:ln>
        </p:spPr>
      </p:pic>
      <p:sp>
        <p:nvSpPr>
          <p:cNvPr id="12" name="赤枠_1">
            <a:extLst>
              <a:ext uri="{FF2B5EF4-FFF2-40B4-BE49-F238E27FC236}">
                <a16:creationId xmlns:a16="http://schemas.microsoft.com/office/drawing/2014/main" id="{AEBDBEB5-1C66-8EB2-32E3-49C16E544B79}"/>
              </a:ext>
            </a:extLst>
          </p:cNvPr>
          <p:cNvSpPr/>
          <p:nvPr/>
        </p:nvSpPr>
        <p:spPr>
          <a:xfrm>
            <a:off x="986321" y="2311069"/>
            <a:ext cx="4573104" cy="456647"/>
          </a:xfrm>
          <a:prstGeom prst="roundRect">
            <a:avLst>
              <a:gd name="adj" fmla="val 11111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番号_1">
            <a:extLst>
              <a:ext uri="{FF2B5EF4-FFF2-40B4-BE49-F238E27FC236}">
                <a16:creationId xmlns:a16="http://schemas.microsoft.com/office/drawing/2014/main" id="{E385F457-BFBB-0552-4ADE-B11F07F34799}"/>
              </a:ext>
            </a:extLst>
          </p:cNvPr>
          <p:cNvSpPr/>
          <p:nvPr/>
        </p:nvSpPr>
        <p:spPr>
          <a:xfrm>
            <a:off x="732321" y="2425093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赤枠_2">
            <a:extLst>
              <a:ext uri="{FF2B5EF4-FFF2-40B4-BE49-F238E27FC236}">
                <a16:creationId xmlns:a16="http://schemas.microsoft.com/office/drawing/2014/main" id="{C82976F9-2034-364F-5882-496F76372C01}"/>
              </a:ext>
            </a:extLst>
          </p:cNvPr>
          <p:cNvSpPr/>
          <p:nvPr/>
        </p:nvSpPr>
        <p:spPr>
          <a:xfrm>
            <a:off x="986321" y="3064786"/>
            <a:ext cx="2253973" cy="456648"/>
          </a:xfrm>
          <a:prstGeom prst="roundRect">
            <a:avLst>
              <a:gd name="adj" fmla="val 11111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番号_2">
            <a:extLst>
              <a:ext uri="{FF2B5EF4-FFF2-40B4-BE49-F238E27FC236}">
                <a16:creationId xmlns:a16="http://schemas.microsoft.com/office/drawing/2014/main" id="{BC0FF373-1B1B-4F72-F064-784A6959DCC2}"/>
              </a:ext>
            </a:extLst>
          </p:cNvPr>
          <p:cNvSpPr/>
          <p:nvPr/>
        </p:nvSpPr>
        <p:spPr>
          <a:xfrm>
            <a:off x="732321" y="3178810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赤枠_3">
            <a:extLst>
              <a:ext uri="{FF2B5EF4-FFF2-40B4-BE49-F238E27FC236}">
                <a16:creationId xmlns:a16="http://schemas.microsoft.com/office/drawing/2014/main" id="{6509A7EA-555B-EBEB-7C3E-40EFE17FF3DD}"/>
              </a:ext>
            </a:extLst>
          </p:cNvPr>
          <p:cNvSpPr/>
          <p:nvPr/>
        </p:nvSpPr>
        <p:spPr>
          <a:xfrm>
            <a:off x="3305451" y="3064786"/>
            <a:ext cx="2253974" cy="456648"/>
          </a:xfrm>
          <a:prstGeom prst="roundRect">
            <a:avLst>
              <a:gd name="adj" fmla="val 11111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番号_3">
            <a:extLst>
              <a:ext uri="{FF2B5EF4-FFF2-40B4-BE49-F238E27FC236}">
                <a16:creationId xmlns:a16="http://schemas.microsoft.com/office/drawing/2014/main" id="{12132FC2-9C27-7011-FE1A-2F6A4C7374B2}"/>
              </a:ext>
            </a:extLst>
          </p:cNvPr>
          <p:cNvSpPr/>
          <p:nvPr/>
        </p:nvSpPr>
        <p:spPr>
          <a:xfrm>
            <a:off x="5445125" y="2950486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0" name="赤枠_4">
            <a:extLst>
              <a:ext uri="{FF2B5EF4-FFF2-40B4-BE49-F238E27FC236}">
                <a16:creationId xmlns:a16="http://schemas.microsoft.com/office/drawing/2014/main" id="{26B15BFB-36DD-6F10-B112-35F0606AA3E2}"/>
              </a:ext>
            </a:extLst>
          </p:cNvPr>
          <p:cNvSpPr/>
          <p:nvPr/>
        </p:nvSpPr>
        <p:spPr>
          <a:xfrm>
            <a:off x="4542321" y="5432232"/>
            <a:ext cx="1017104" cy="446984"/>
          </a:xfrm>
          <a:prstGeom prst="roundRect">
            <a:avLst>
              <a:gd name="adj" fmla="val 11429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番号_4">
            <a:extLst>
              <a:ext uri="{FF2B5EF4-FFF2-40B4-BE49-F238E27FC236}">
                <a16:creationId xmlns:a16="http://schemas.microsoft.com/office/drawing/2014/main" id="{3DA93792-8092-85AF-07D2-48327FDBC6DE}"/>
              </a:ext>
            </a:extLst>
          </p:cNvPr>
          <p:cNvSpPr/>
          <p:nvPr/>
        </p:nvSpPr>
        <p:spPr>
          <a:xfrm>
            <a:off x="5445125" y="5317932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2" name="手順番号_1">
            <a:extLst>
              <a:ext uri="{FF2B5EF4-FFF2-40B4-BE49-F238E27FC236}">
                <a16:creationId xmlns:a16="http://schemas.microsoft.com/office/drawing/2014/main" id="{4D976401-72E0-05BD-FAF4-17E378401966}"/>
              </a:ext>
            </a:extLst>
          </p:cNvPr>
          <p:cNvSpPr/>
          <p:nvPr/>
        </p:nvSpPr>
        <p:spPr>
          <a:xfrm>
            <a:off x="6197600" y="1155700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869A1C4-2E0A-184B-AE59-DDC8F6A9A41F}"/>
              </a:ext>
            </a:extLst>
          </p:cNvPr>
          <p:cNvSpPr txBox="1"/>
          <p:nvPr/>
        </p:nvSpPr>
        <p:spPr>
          <a:xfrm>
            <a:off x="6604000" y="1168400"/>
            <a:ext cx="5054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「社用車」を選ぶ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0511399-03DB-B22E-CFAE-D0BC5F98D535}"/>
              </a:ext>
            </a:extLst>
          </p:cNvPr>
          <p:cNvSpPr txBox="1"/>
          <p:nvPr/>
        </p:nvSpPr>
        <p:spPr>
          <a:xfrm>
            <a:off x="6604000" y="1471833"/>
            <a:ext cx="50546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「会議室・社用車」の欄で「社用車」を選びます。</a:t>
            </a:r>
          </a:p>
        </p:txBody>
      </p:sp>
      <p:sp>
        <p:nvSpPr>
          <p:cNvPr id="26" name="手順番号_2">
            <a:extLst>
              <a:ext uri="{FF2B5EF4-FFF2-40B4-BE49-F238E27FC236}">
                <a16:creationId xmlns:a16="http://schemas.microsoft.com/office/drawing/2014/main" id="{FE376CB6-0564-7743-7553-46A867765609}"/>
              </a:ext>
            </a:extLst>
          </p:cNvPr>
          <p:cNvSpPr/>
          <p:nvPr/>
        </p:nvSpPr>
        <p:spPr>
          <a:xfrm>
            <a:off x="6197600" y="1822681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7571506-FDAF-2E07-E3FF-D76391060A1D}"/>
              </a:ext>
            </a:extLst>
          </p:cNvPr>
          <p:cNvSpPr txBox="1"/>
          <p:nvPr/>
        </p:nvSpPr>
        <p:spPr>
          <a:xfrm>
            <a:off x="6604000" y="1835381"/>
            <a:ext cx="5054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部門を選ぶ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274009E-D7DB-DBAA-F15B-FAF8A48CC378}"/>
              </a:ext>
            </a:extLst>
          </p:cNvPr>
          <p:cNvSpPr txBox="1"/>
          <p:nvPr/>
        </p:nvSpPr>
        <p:spPr>
          <a:xfrm>
            <a:off x="6604000" y="2138814"/>
            <a:ext cx="50546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社用車を管理している部門を選びます。</a:t>
            </a:r>
          </a:p>
        </p:txBody>
      </p:sp>
      <p:sp>
        <p:nvSpPr>
          <p:cNvPr id="29" name="手順番号_3">
            <a:extLst>
              <a:ext uri="{FF2B5EF4-FFF2-40B4-BE49-F238E27FC236}">
                <a16:creationId xmlns:a16="http://schemas.microsoft.com/office/drawing/2014/main" id="{F6489CB0-6B1A-B2E0-B70F-A04EEDC360CC}"/>
              </a:ext>
            </a:extLst>
          </p:cNvPr>
          <p:cNvSpPr/>
          <p:nvPr/>
        </p:nvSpPr>
        <p:spPr>
          <a:xfrm>
            <a:off x="6197600" y="2489662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E4F4CE4-E36C-50D4-B573-4E2E5C3689EC}"/>
              </a:ext>
            </a:extLst>
          </p:cNvPr>
          <p:cNvSpPr txBox="1"/>
          <p:nvPr/>
        </p:nvSpPr>
        <p:spPr>
          <a:xfrm>
            <a:off x="6604000" y="2502362"/>
            <a:ext cx="5054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社用車を選ぶ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86A4C14-1DBA-1D68-67C2-1BF22D5AA7ED}"/>
              </a:ext>
            </a:extLst>
          </p:cNvPr>
          <p:cNvSpPr txBox="1"/>
          <p:nvPr/>
        </p:nvSpPr>
        <p:spPr>
          <a:xfrm>
            <a:off x="6604000" y="2805795"/>
            <a:ext cx="50546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その時間に空いている車だけが表示されます。</a:t>
            </a:r>
          </a:p>
        </p:txBody>
      </p:sp>
      <p:sp>
        <p:nvSpPr>
          <p:cNvPr id="32" name="手順番号_4">
            <a:extLst>
              <a:ext uri="{FF2B5EF4-FFF2-40B4-BE49-F238E27FC236}">
                <a16:creationId xmlns:a16="http://schemas.microsoft.com/office/drawing/2014/main" id="{78E980F1-F903-D054-B2D6-3F9B0D0A0F9B}"/>
              </a:ext>
            </a:extLst>
          </p:cNvPr>
          <p:cNvSpPr/>
          <p:nvPr/>
        </p:nvSpPr>
        <p:spPr>
          <a:xfrm>
            <a:off x="6197600" y="3156643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5E22B42E-8457-66C3-339C-CE71D2CCE77C}"/>
              </a:ext>
            </a:extLst>
          </p:cNvPr>
          <p:cNvSpPr txBox="1"/>
          <p:nvPr/>
        </p:nvSpPr>
        <p:spPr>
          <a:xfrm>
            <a:off x="6604000" y="3169343"/>
            <a:ext cx="5054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「作成する」を押す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CA67E41-791D-A2F5-C49A-2362F85F21CD}"/>
              </a:ext>
            </a:extLst>
          </p:cNvPr>
          <p:cNvSpPr txBox="1"/>
          <p:nvPr/>
        </p:nvSpPr>
        <p:spPr>
          <a:xfrm>
            <a:off x="6604000" y="3472776"/>
            <a:ext cx="50546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予定と一緒に社用車が予約されます。</a:t>
            </a:r>
          </a:p>
        </p:txBody>
      </p:sp>
      <p:sp>
        <p:nvSpPr>
          <p:cNvPr id="35" name="補足の枠">
            <a:extLst>
              <a:ext uri="{FF2B5EF4-FFF2-40B4-BE49-F238E27FC236}">
                <a16:creationId xmlns:a16="http://schemas.microsoft.com/office/drawing/2014/main" id="{BEF16CD6-5581-069B-32B4-4CA6CAAC86C5}"/>
              </a:ext>
            </a:extLst>
          </p:cNvPr>
          <p:cNvSpPr/>
          <p:nvPr/>
        </p:nvSpPr>
        <p:spPr>
          <a:xfrm>
            <a:off x="6197600" y="3861724"/>
            <a:ext cx="5461000" cy="913556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3A6D820-AFCC-E5A4-F33D-84F4A6367BEC}"/>
              </a:ext>
            </a:extLst>
          </p:cNvPr>
          <p:cNvSpPr txBox="1"/>
          <p:nvPr/>
        </p:nvSpPr>
        <p:spPr>
          <a:xfrm>
            <a:off x="6350000" y="3976024"/>
            <a:ext cx="51562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ポイント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4A41A7E6-6505-71D3-2A8F-52CA973C4B66}"/>
              </a:ext>
            </a:extLst>
          </p:cNvPr>
          <p:cNvSpPr txBox="1"/>
          <p:nvPr/>
        </p:nvSpPr>
        <p:spPr>
          <a:xfrm>
            <a:off x="6350000" y="4207895"/>
            <a:ext cx="515620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時間を先に決めてから選んでください。開始・終了を変えると、選べる会議室・社用車も変わります。</a:t>
            </a:r>
          </a:p>
        </p:txBody>
      </p:sp>
    </p:spTree>
    <p:extLst>
      <p:ext uri="{BB962C8B-B14F-4D97-AF65-F5344CB8AC3E}">
        <p14:creationId xmlns:p14="http://schemas.microsoft.com/office/powerpoint/2010/main" val="4206672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ステップ</a:t>
            </a:r>
            <a:r>
              <a:rPr kumimoji="0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</a:t>
            </a: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予約を確認する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作成すると、自分の予定と空き状況の両方に表示されます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03C9F859-200B-855F-47A3-19FC3E952E6F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6 / 16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7" name="画面_b04_after_room">
            <a:extLst>
              <a:ext uri="{FF2B5EF4-FFF2-40B4-BE49-F238E27FC236}">
                <a16:creationId xmlns:a16="http://schemas.microsoft.com/office/drawing/2014/main" id="{B63EADDB-9BCB-0730-E0C6-C3649DA573C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68400"/>
            <a:ext cx="11125200" cy="3218362"/>
          </a:xfrm>
          <a:prstGeom prst="rect">
            <a:avLst/>
          </a:prstGeom>
          <a:ln w="9525">
            <a:solidFill>
              <a:srgbClr val="C8D3DF"/>
            </a:solidFill>
          </a:ln>
        </p:spPr>
      </p:pic>
      <p:sp>
        <p:nvSpPr>
          <p:cNvPr id="12" name="赤枠_1">
            <a:extLst>
              <a:ext uri="{FF2B5EF4-FFF2-40B4-BE49-F238E27FC236}">
                <a16:creationId xmlns:a16="http://schemas.microsoft.com/office/drawing/2014/main" id="{9B64DE5E-DACD-59CD-3A83-3D76D7FE84A9}"/>
              </a:ext>
            </a:extLst>
          </p:cNvPr>
          <p:cNvSpPr/>
          <p:nvPr/>
        </p:nvSpPr>
        <p:spPr>
          <a:xfrm>
            <a:off x="857649" y="1802565"/>
            <a:ext cx="4973701" cy="543488"/>
          </a:xfrm>
          <a:prstGeom prst="roundRect">
            <a:avLst>
              <a:gd name="adj" fmla="val 9302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番号_1">
            <a:extLst>
              <a:ext uri="{FF2B5EF4-FFF2-40B4-BE49-F238E27FC236}">
                <a16:creationId xmlns:a16="http://schemas.microsoft.com/office/drawing/2014/main" id="{2E1CAE24-6E78-5292-BFAE-F6C1F84EEF99}"/>
              </a:ext>
            </a:extLst>
          </p:cNvPr>
          <p:cNvSpPr/>
          <p:nvPr/>
        </p:nvSpPr>
        <p:spPr>
          <a:xfrm>
            <a:off x="743349" y="1688265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赤枠_2">
            <a:extLst>
              <a:ext uri="{FF2B5EF4-FFF2-40B4-BE49-F238E27FC236}">
                <a16:creationId xmlns:a16="http://schemas.microsoft.com/office/drawing/2014/main" id="{CF76CAD4-157C-1D2F-1783-18BF0886B299}"/>
              </a:ext>
            </a:extLst>
          </p:cNvPr>
          <p:cNvSpPr/>
          <p:nvPr/>
        </p:nvSpPr>
        <p:spPr>
          <a:xfrm>
            <a:off x="6368597" y="3201162"/>
            <a:ext cx="4719410" cy="281251"/>
          </a:xfrm>
          <a:prstGeom prst="roundRect">
            <a:avLst>
              <a:gd name="adj" fmla="val 18182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番号_2">
            <a:extLst>
              <a:ext uri="{FF2B5EF4-FFF2-40B4-BE49-F238E27FC236}">
                <a16:creationId xmlns:a16="http://schemas.microsoft.com/office/drawing/2014/main" id="{3F4542D1-EBCA-82D7-A120-92CD661E6DE3}"/>
              </a:ext>
            </a:extLst>
          </p:cNvPr>
          <p:cNvSpPr/>
          <p:nvPr/>
        </p:nvSpPr>
        <p:spPr>
          <a:xfrm>
            <a:off x="6254297" y="3086862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手順番号_1">
            <a:extLst>
              <a:ext uri="{FF2B5EF4-FFF2-40B4-BE49-F238E27FC236}">
                <a16:creationId xmlns:a16="http://schemas.microsoft.com/office/drawing/2014/main" id="{86855B19-11CA-6443-D7D4-BA4B2C5C7F32}"/>
              </a:ext>
            </a:extLst>
          </p:cNvPr>
          <p:cNvSpPr/>
          <p:nvPr/>
        </p:nvSpPr>
        <p:spPr>
          <a:xfrm>
            <a:off x="533400" y="4577261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C7EFB5C-9411-F8CA-F0B4-DC21F54B8372}"/>
              </a:ext>
            </a:extLst>
          </p:cNvPr>
          <p:cNvSpPr txBox="1"/>
          <p:nvPr/>
        </p:nvSpPr>
        <p:spPr>
          <a:xfrm>
            <a:off x="939800" y="4589961"/>
            <a:ext cx="30988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自分の予定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483C9C7-15FD-80A6-3CAA-9ECF60A00995}"/>
              </a:ext>
            </a:extLst>
          </p:cNvPr>
          <p:cNvSpPr txBox="1"/>
          <p:nvPr/>
        </p:nvSpPr>
        <p:spPr>
          <a:xfrm>
            <a:off x="939800" y="4893394"/>
            <a:ext cx="30988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予定の下に、予約した会議室・社用車の名前が場所として表示されます。</a:t>
            </a:r>
          </a:p>
        </p:txBody>
      </p:sp>
      <p:sp>
        <p:nvSpPr>
          <p:cNvPr id="21" name="手順番号_2">
            <a:extLst>
              <a:ext uri="{FF2B5EF4-FFF2-40B4-BE49-F238E27FC236}">
                <a16:creationId xmlns:a16="http://schemas.microsoft.com/office/drawing/2014/main" id="{99B9D66C-D130-CDB1-E972-F6B2E0B4182A}"/>
              </a:ext>
            </a:extLst>
          </p:cNvPr>
          <p:cNvSpPr/>
          <p:nvPr/>
        </p:nvSpPr>
        <p:spPr>
          <a:xfrm>
            <a:off x="4343400" y="4577261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6C637E7-C110-A450-AB8D-F89E3E637C0F}"/>
              </a:ext>
            </a:extLst>
          </p:cNvPr>
          <p:cNvSpPr txBox="1"/>
          <p:nvPr/>
        </p:nvSpPr>
        <p:spPr>
          <a:xfrm>
            <a:off x="4749800" y="4589961"/>
            <a:ext cx="30988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空き状況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B3FCA8E-1458-9126-B248-F30E2BD95FDA}"/>
              </a:ext>
            </a:extLst>
          </p:cNvPr>
          <p:cNvSpPr txBox="1"/>
          <p:nvPr/>
        </p:nvSpPr>
        <p:spPr>
          <a:xfrm>
            <a:off x="4749800" y="4893394"/>
            <a:ext cx="30988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右側の空き状況にも、自分の名前で予約が表示されます。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51C0627-26F2-BD8D-42C5-1DC08D68E411}"/>
              </a:ext>
            </a:extLst>
          </p:cNvPr>
          <p:cNvSpPr txBox="1"/>
          <p:nvPr/>
        </p:nvSpPr>
        <p:spPr>
          <a:xfrm>
            <a:off x="8153400" y="4589961"/>
            <a:ext cx="35052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「承諾待ち」と出たら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DA81BAF-F152-15DC-2A60-CC1DB9871C5D}"/>
              </a:ext>
            </a:extLst>
          </p:cNvPr>
          <p:cNvSpPr txBox="1"/>
          <p:nvPr/>
        </p:nvSpPr>
        <p:spPr>
          <a:xfrm>
            <a:off x="8153400" y="4893394"/>
            <a:ext cx="35052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予約を受け付けている途中です。通常は少し待つと消え、予約が確定します。</a:t>
            </a:r>
          </a:p>
        </p:txBody>
      </p:sp>
    </p:spTree>
    <p:extLst>
      <p:ext uri="{BB962C8B-B14F-4D97-AF65-F5344CB8AC3E}">
        <p14:creationId xmlns:p14="http://schemas.microsoft.com/office/powerpoint/2010/main" val="736567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予約を変更する・取り消す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自分の予定をクリックして、予約の内容を変更します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4AB61ED9-E107-7EDA-9700-EC770327884E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7 / 16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7" name="画面_b06_edit_room">
            <a:extLst>
              <a:ext uri="{FF2B5EF4-FFF2-40B4-BE49-F238E27FC236}">
                <a16:creationId xmlns:a16="http://schemas.microsoft.com/office/drawing/2014/main" id="{197B5221-3C15-AE07-39F4-3BB2E4692F8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68400"/>
            <a:ext cx="5334000" cy="4102735"/>
          </a:xfrm>
          <a:prstGeom prst="rect">
            <a:avLst/>
          </a:prstGeom>
          <a:ln w="9525">
            <a:solidFill>
              <a:srgbClr val="C8D3DF"/>
            </a:solidFill>
          </a:ln>
        </p:spPr>
      </p:pic>
      <p:sp>
        <p:nvSpPr>
          <p:cNvPr id="12" name="赤枠_1">
            <a:extLst>
              <a:ext uri="{FF2B5EF4-FFF2-40B4-BE49-F238E27FC236}">
                <a16:creationId xmlns:a16="http://schemas.microsoft.com/office/drawing/2014/main" id="{318E66DA-FFBA-7BCF-CE7C-98E047A698B3}"/>
              </a:ext>
            </a:extLst>
          </p:cNvPr>
          <p:cNvSpPr/>
          <p:nvPr/>
        </p:nvSpPr>
        <p:spPr>
          <a:xfrm>
            <a:off x="3305451" y="2172887"/>
            <a:ext cx="2253974" cy="456648"/>
          </a:xfrm>
          <a:prstGeom prst="roundRect">
            <a:avLst>
              <a:gd name="adj" fmla="val 11111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番号_1">
            <a:extLst>
              <a:ext uri="{FF2B5EF4-FFF2-40B4-BE49-F238E27FC236}">
                <a16:creationId xmlns:a16="http://schemas.microsoft.com/office/drawing/2014/main" id="{6DCD874A-8858-B7AC-A850-03606DF57BFB}"/>
              </a:ext>
            </a:extLst>
          </p:cNvPr>
          <p:cNvSpPr/>
          <p:nvPr/>
        </p:nvSpPr>
        <p:spPr>
          <a:xfrm>
            <a:off x="5445125" y="2058587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赤枠_2">
            <a:extLst>
              <a:ext uri="{FF2B5EF4-FFF2-40B4-BE49-F238E27FC236}">
                <a16:creationId xmlns:a16="http://schemas.microsoft.com/office/drawing/2014/main" id="{DE08793C-75BB-5AC6-3867-97D3B5423328}"/>
              </a:ext>
            </a:extLst>
          </p:cNvPr>
          <p:cNvSpPr/>
          <p:nvPr/>
        </p:nvSpPr>
        <p:spPr>
          <a:xfrm>
            <a:off x="4416701" y="4540333"/>
            <a:ext cx="1142724" cy="446985"/>
          </a:xfrm>
          <a:prstGeom prst="roundRect">
            <a:avLst>
              <a:gd name="adj" fmla="val 11429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番号_2">
            <a:extLst>
              <a:ext uri="{FF2B5EF4-FFF2-40B4-BE49-F238E27FC236}">
                <a16:creationId xmlns:a16="http://schemas.microsoft.com/office/drawing/2014/main" id="{6E428EB8-8513-B8DF-E5A7-95FAA2FAB067}"/>
              </a:ext>
            </a:extLst>
          </p:cNvPr>
          <p:cNvSpPr/>
          <p:nvPr/>
        </p:nvSpPr>
        <p:spPr>
          <a:xfrm>
            <a:off x="5445125" y="4426033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赤枠_3">
            <a:extLst>
              <a:ext uri="{FF2B5EF4-FFF2-40B4-BE49-F238E27FC236}">
                <a16:creationId xmlns:a16="http://schemas.microsoft.com/office/drawing/2014/main" id="{D17D3191-37EF-CF20-AA32-5767CCC8F6A5}"/>
              </a:ext>
            </a:extLst>
          </p:cNvPr>
          <p:cNvSpPr/>
          <p:nvPr/>
        </p:nvSpPr>
        <p:spPr>
          <a:xfrm>
            <a:off x="986321" y="4540333"/>
            <a:ext cx="1258680" cy="446985"/>
          </a:xfrm>
          <a:prstGeom prst="roundRect">
            <a:avLst>
              <a:gd name="adj" fmla="val 11429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番号_3">
            <a:extLst>
              <a:ext uri="{FF2B5EF4-FFF2-40B4-BE49-F238E27FC236}">
                <a16:creationId xmlns:a16="http://schemas.microsoft.com/office/drawing/2014/main" id="{76BE0509-12A8-E0C7-FD64-71BA9DFAFF11}"/>
              </a:ext>
            </a:extLst>
          </p:cNvPr>
          <p:cNvSpPr/>
          <p:nvPr/>
        </p:nvSpPr>
        <p:spPr>
          <a:xfrm>
            <a:off x="732321" y="4649525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0" name="赤枠_">
            <a:extLst>
              <a:ext uri="{FF2B5EF4-FFF2-40B4-BE49-F238E27FC236}">
                <a16:creationId xmlns:a16="http://schemas.microsoft.com/office/drawing/2014/main" id="{0D2FBC91-2423-8892-2197-968A5DA3D102}"/>
              </a:ext>
            </a:extLst>
          </p:cNvPr>
          <p:cNvSpPr/>
          <p:nvPr/>
        </p:nvSpPr>
        <p:spPr>
          <a:xfrm>
            <a:off x="986321" y="1419170"/>
            <a:ext cx="4573104" cy="456648"/>
          </a:xfrm>
          <a:prstGeom prst="roundRect">
            <a:avLst>
              <a:gd name="adj" fmla="val 11111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5E90A0F-0425-7923-571A-905972FB6E8F}"/>
              </a:ext>
            </a:extLst>
          </p:cNvPr>
          <p:cNvSpPr txBox="1"/>
          <p:nvPr/>
        </p:nvSpPr>
        <p:spPr>
          <a:xfrm>
            <a:off x="6197600" y="1168400"/>
            <a:ext cx="54610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予定をクリックする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C71E2FF-43AA-2EE1-06A0-9EC5734AFE3C}"/>
              </a:ext>
            </a:extLst>
          </p:cNvPr>
          <p:cNvSpPr txBox="1"/>
          <p:nvPr/>
        </p:nvSpPr>
        <p:spPr>
          <a:xfrm>
            <a:off x="6197600" y="1471833"/>
            <a:ext cx="54610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「自分の予定」「今週の予定」で予約した予定をクリックすると、「予定を変更」の画面が開きます。</a:t>
            </a:r>
          </a:p>
        </p:txBody>
      </p:sp>
      <p:sp>
        <p:nvSpPr>
          <p:cNvPr id="23" name="手順番号_1">
            <a:extLst>
              <a:ext uri="{FF2B5EF4-FFF2-40B4-BE49-F238E27FC236}">
                <a16:creationId xmlns:a16="http://schemas.microsoft.com/office/drawing/2014/main" id="{CBA594A7-3D83-B0BD-3823-ED06987BD252}"/>
              </a:ext>
            </a:extLst>
          </p:cNvPr>
          <p:cNvSpPr/>
          <p:nvPr/>
        </p:nvSpPr>
        <p:spPr>
          <a:xfrm>
            <a:off x="6197600" y="2043895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17EECC2-5F28-989A-5FB0-23B8C7E5E7BB}"/>
              </a:ext>
            </a:extLst>
          </p:cNvPr>
          <p:cNvSpPr txBox="1"/>
          <p:nvPr/>
        </p:nvSpPr>
        <p:spPr>
          <a:xfrm>
            <a:off x="6604000" y="2056595"/>
            <a:ext cx="5054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時間・会議室を変える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7E1DF7F-2ADA-946A-67E8-111360C71825}"/>
              </a:ext>
            </a:extLst>
          </p:cNvPr>
          <p:cNvSpPr txBox="1"/>
          <p:nvPr/>
        </p:nvSpPr>
        <p:spPr>
          <a:xfrm>
            <a:off x="6604000" y="2360028"/>
            <a:ext cx="5054600" cy="43223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時間や会議室・社用車を選び直します。会議室だけ取り消すときは「会議室・社用車」を </a:t>
            </a:r>
            <a:r>
              <a:rPr kumimoji="1" lang="ja-JP" altLang="en-US" sz="125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「使用しない」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にします。</a:t>
            </a:r>
          </a:p>
        </p:txBody>
      </p:sp>
      <p:sp>
        <p:nvSpPr>
          <p:cNvPr id="27" name="手順番号_2">
            <a:extLst>
              <a:ext uri="{FF2B5EF4-FFF2-40B4-BE49-F238E27FC236}">
                <a16:creationId xmlns:a16="http://schemas.microsoft.com/office/drawing/2014/main" id="{9F62394D-69AF-737C-E127-EC8B06CCC2B1}"/>
              </a:ext>
            </a:extLst>
          </p:cNvPr>
          <p:cNvSpPr/>
          <p:nvPr/>
        </p:nvSpPr>
        <p:spPr>
          <a:xfrm>
            <a:off x="6197600" y="2931962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990A21B-100B-5C4C-7310-186B95ED991E}"/>
              </a:ext>
            </a:extLst>
          </p:cNvPr>
          <p:cNvSpPr txBox="1"/>
          <p:nvPr/>
        </p:nvSpPr>
        <p:spPr>
          <a:xfrm>
            <a:off x="6604000" y="2944662"/>
            <a:ext cx="5054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「変更を保存」を押す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5700481-2B97-3812-07B0-7D3758EAC9C3}"/>
              </a:ext>
            </a:extLst>
          </p:cNvPr>
          <p:cNvSpPr txBox="1"/>
          <p:nvPr/>
        </p:nvSpPr>
        <p:spPr>
          <a:xfrm>
            <a:off x="6604000" y="3248095"/>
            <a:ext cx="50546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予約も新しい内容に変わります。</a:t>
            </a:r>
          </a:p>
        </p:txBody>
      </p:sp>
      <p:sp>
        <p:nvSpPr>
          <p:cNvPr id="30" name="手順番号_3">
            <a:extLst>
              <a:ext uri="{FF2B5EF4-FFF2-40B4-BE49-F238E27FC236}">
                <a16:creationId xmlns:a16="http://schemas.microsoft.com/office/drawing/2014/main" id="{D553B204-A137-F2B1-48D4-7568859D0BD0}"/>
              </a:ext>
            </a:extLst>
          </p:cNvPr>
          <p:cNvSpPr/>
          <p:nvPr/>
        </p:nvSpPr>
        <p:spPr>
          <a:xfrm>
            <a:off x="6197600" y="3598943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8D7A07D-7E82-8767-650C-831B84FE28F3}"/>
              </a:ext>
            </a:extLst>
          </p:cNvPr>
          <p:cNvSpPr txBox="1"/>
          <p:nvPr/>
        </p:nvSpPr>
        <p:spPr>
          <a:xfrm>
            <a:off x="6604000" y="3611643"/>
            <a:ext cx="5054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予定ごと取り消す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44F4B24-FB22-3694-B22C-DDFA6FF6E7DC}"/>
              </a:ext>
            </a:extLst>
          </p:cNvPr>
          <p:cNvSpPr txBox="1"/>
          <p:nvPr/>
        </p:nvSpPr>
        <p:spPr>
          <a:xfrm>
            <a:off x="6604000" y="3915076"/>
            <a:ext cx="50546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「この予定を削除」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を押すと、会議室・社用車の予約も取り消されます。</a:t>
            </a:r>
          </a:p>
        </p:txBody>
      </p:sp>
    </p:spTree>
    <p:extLst>
      <p:ext uri="{BB962C8B-B14F-4D97-AF65-F5344CB8AC3E}">
        <p14:creationId xmlns:p14="http://schemas.microsoft.com/office/powerpoint/2010/main" val="1542593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もう一つの方法 予約画面から予約する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会議室・社用車ごとの月間カレンダーで、空きを見ながら予約できます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5FF53494-E9D5-2895-D41B-2F77FB8949F3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8 / 16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27A783E1-B202-C123-813C-6DF83EAE77A2}"/>
              </a:ext>
            </a:extLst>
          </p:cNvPr>
          <p:cNvSpPr/>
          <p:nvPr/>
        </p:nvSpPr>
        <p:spPr>
          <a:xfrm>
            <a:off x="533400" y="1625600"/>
            <a:ext cx="2533650" cy="1974476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513EF24-7C50-0301-7456-69F6F1D5CC67}"/>
              </a:ext>
            </a:extLst>
          </p:cNvPr>
          <p:cNvSpPr/>
          <p:nvPr/>
        </p:nvSpPr>
        <p:spPr>
          <a:xfrm>
            <a:off x="1584325" y="1828800"/>
            <a:ext cx="431800" cy="43180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6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2C65EE8-C83E-0CEA-6F12-B515CE640EBC}"/>
              </a:ext>
            </a:extLst>
          </p:cNvPr>
          <p:cNvSpPr txBox="1"/>
          <p:nvPr/>
        </p:nvSpPr>
        <p:spPr>
          <a:xfrm>
            <a:off x="660400" y="2387600"/>
            <a:ext cx="2279650" cy="5180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</a:t>
            </a:r>
            <a:r>
              <a:rPr kumimoji="1" lang="en-US" altLang="ja-JP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〜</a:t>
            </a: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を予約する →」を押す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93894C8-59F5-F5EF-4D5C-8DA5F3CA5EBC}"/>
              </a:ext>
            </a:extLst>
          </p:cNvPr>
          <p:cNvSpPr txBox="1"/>
          <p:nvPr/>
        </p:nvSpPr>
        <p:spPr>
          <a:xfrm>
            <a:off x="660400" y="3007291"/>
            <a:ext cx="227965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スケジュール画面の空き状況の枠の右下にあります</a:t>
            </a:r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C97B0A5F-CFE5-4826-7CCD-7C9E91B135CF}"/>
              </a:ext>
            </a:extLst>
          </p:cNvPr>
          <p:cNvSpPr/>
          <p:nvPr/>
        </p:nvSpPr>
        <p:spPr>
          <a:xfrm>
            <a:off x="3143250" y="2511238"/>
            <a:ext cx="177800" cy="203200"/>
          </a:xfrm>
          <a:prstGeom prst="rightArrow">
            <a:avLst/>
          </a:prstGeom>
          <a:solidFill>
            <a:srgbClr val="C8D3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433A69E6-1977-970C-6928-6CB5F5703FF2}"/>
              </a:ext>
            </a:extLst>
          </p:cNvPr>
          <p:cNvSpPr/>
          <p:nvPr/>
        </p:nvSpPr>
        <p:spPr>
          <a:xfrm>
            <a:off x="3397250" y="1625600"/>
            <a:ext cx="2533650" cy="1974476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43C79948-773E-55D4-9456-AFCFFF44095F}"/>
              </a:ext>
            </a:extLst>
          </p:cNvPr>
          <p:cNvSpPr/>
          <p:nvPr/>
        </p:nvSpPr>
        <p:spPr>
          <a:xfrm>
            <a:off x="4448175" y="1828800"/>
            <a:ext cx="431800" cy="43180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6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F028ADD-EEC5-0B57-2C14-36FC444E8639}"/>
              </a:ext>
            </a:extLst>
          </p:cNvPr>
          <p:cNvSpPr txBox="1"/>
          <p:nvPr/>
        </p:nvSpPr>
        <p:spPr>
          <a:xfrm>
            <a:off x="3524250" y="2387600"/>
            <a:ext cx="2279650" cy="5180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拠点・会議室・日付を選ぶ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BD14A95-8677-F1D6-3953-8F13007DE4BF}"/>
              </a:ext>
            </a:extLst>
          </p:cNvPr>
          <p:cNvSpPr txBox="1"/>
          <p:nvPr/>
        </p:nvSpPr>
        <p:spPr>
          <a:xfrm>
            <a:off x="3524250" y="3007291"/>
            <a:ext cx="227965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月間カレンダーで、予約したい日のマスを押します</a:t>
            </a:r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E0F479F7-3322-4A7C-545D-6D9D3D26E5A9}"/>
              </a:ext>
            </a:extLst>
          </p:cNvPr>
          <p:cNvSpPr/>
          <p:nvPr/>
        </p:nvSpPr>
        <p:spPr>
          <a:xfrm>
            <a:off x="6007100" y="2511238"/>
            <a:ext cx="177800" cy="203200"/>
          </a:xfrm>
          <a:prstGeom prst="rightArrow">
            <a:avLst/>
          </a:prstGeom>
          <a:solidFill>
            <a:srgbClr val="C8D3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516EBD87-76D6-4AA4-DE45-CC65AA1CCAE7}"/>
              </a:ext>
            </a:extLst>
          </p:cNvPr>
          <p:cNvSpPr/>
          <p:nvPr/>
        </p:nvSpPr>
        <p:spPr>
          <a:xfrm>
            <a:off x="6261100" y="1625600"/>
            <a:ext cx="2533650" cy="1974476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37DABFCE-D42C-A952-CEC0-F80CAFBB69AF}"/>
              </a:ext>
            </a:extLst>
          </p:cNvPr>
          <p:cNvSpPr/>
          <p:nvPr/>
        </p:nvSpPr>
        <p:spPr>
          <a:xfrm>
            <a:off x="7312025" y="1828800"/>
            <a:ext cx="431800" cy="43180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6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0FD59DB-F5B5-7D2B-407F-070C759ED8A4}"/>
              </a:ext>
            </a:extLst>
          </p:cNvPr>
          <p:cNvSpPr txBox="1"/>
          <p:nvPr/>
        </p:nvSpPr>
        <p:spPr>
          <a:xfrm>
            <a:off x="6388100" y="2387600"/>
            <a:ext cx="227965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空いている時間を選ぶ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C81364B-43A9-3B83-9B1A-E87D79271DC5}"/>
              </a:ext>
            </a:extLst>
          </p:cNvPr>
          <p:cNvSpPr txBox="1"/>
          <p:nvPr/>
        </p:nvSpPr>
        <p:spPr>
          <a:xfrm>
            <a:off x="6388100" y="2741833"/>
            <a:ext cx="227965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その日の空き状況から「予約する」を押します</a:t>
            </a:r>
          </a:p>
        </p:txBody>
      </p:sp>
      <p:sp>
        <p:nvSpPr>
          <p:cNvPr id="27" name="矢印: 右 26">
            <a:extLst>
              <a:ext uri="{FF2B5EF4-FFF2-40B4-BE49-F238E27FC236}">
                <a16:creationId xmlns:a16="http://schemas.microsoft.com/office/drawing/2014/main" id="{AB94F7AE-862A-AB7C-3697-E87A8C2C3BE3}"/>
              </a:ext>
            </a:extLst>
          </p:cNvPr>
          <p:cNvSpPr/>
          <p:nvPr/>
        </p:nvSpPr>
        <p:spPr>
          <a:xfrm>
            <a:off x="8870950" y="2511238"/>
            <a:ext cx="177800" cy="203200"/>
          </a:xfrm>
          <a:prstGeom prst="rightArrow">
            <a:avLst/>
          </a:prstGeom>
          <a:solidFill>
            <a:srgbClr val="C8D3D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A5A9BBB4-5D64-DBD0-41F4-56EF5429CCA7}"/>
              </a:ext>
            </a:extLst>
          </p:cNvPr>
          <p:cNvSpPr/>
          <p:nvPr/>
        </p:nvSpPr>
        <p:spPr>
          <a:xfrm>
            <a:off x="9124950" y="1625600"/>
            <a:ext cx="2533650" cy="1974476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0C41D0FE-0ADC-0DF7-28FC-68B9CA443F04}"/>
              </a:ext>
            </a:extLst>
          </p:cNvPr>
          <p:cNvSpPr/>
          <p:nvPr/>
        </p:nvSpPr>
        <p:spPr>
          <a:xfrm>
            <a:off x="10175875" y="1828800"/>
            <a:ext cx="431800" cy="43180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6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endParaRPr kumimoji="1" lang="ja-JP" altLang="en-US" sz="16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4C8AD00-3D4B-CD83-5064-22684A320262}"/>
              </a:ext>
            </a:extLst>
          </p:cNvPr>
          <p:cNvSpPr txBox="1"/>
          <p:nvPr/>
        </p:nvSpPr>
        <p:spPr>
          <a:xfrm>
            <a:off x="9251950" y="2387600"/>
            <a:ext cx="227965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内容を入れて予約する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F50566B-8782-B5C0-2FA7-F3842234EDF8}"/>
              </a:ext>
            </a:extLst>
          </p:cNvPr>
          <p:cNvSpPr txBox="1"/>
          <p:nvPr/>
        </p:nvSpPr>
        <p:spPr>
          <a:xfrm>
            <a:off x="9251950" y="2741833"/>
            <a:ext cx="227965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件名などを入力して「予約する」を押します</a:t>
            </a:r>
          </a:p>
        </p:txBody>
      </p:sp>
      <p:sp>
        <p:nvSpPr>
          <p:cNvPr id="32" name="補足の枠">
            <a:extLst>
              <a:ext uri="{FF2B5EF4-FFF2-40B4-BE49-F238E27FC236}">
                <a16:creationId xmlns:a16="http://schemas.microsoft.com/office/drawing/2014/main" id="{30789381-0D54-382C-2456-4614BB997248}"/>
              </a:ext>
            </a:extLst>
          </p:cNvPr>
          <p:cNvSpPr/>
          <p:nvPr/>
        </p:nvSpPr>
        <p:spPr>
          <a:xfrm>
            <a:off x="533400" y="3930276"/>
            <a:ext cx="11125200" cy="701062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BB8CE9C-26D9-7256-B0A7-F78A438C97E5}"/>
              </a:ext>
            </a:extLst>
          </p:cNvPr>
          <p:cNvSpPr txBox="1"/>
          <p:nvPr/>
        </p:nvSpPr>
        <p:spPr>
          <a:xfrm>
            <a:off x="685800" y="4044576"/>
            <a:ext cx="108204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ポイント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C855F8DE-CD45-83BB-C1FD-5661940C3C7A}"/>
              </a:ext>
            </a:extLst>
          </p:cNvPr>
          <p:cNvSpPr txBox="1"/>
          <p:nvPr/>
        </p:nvSpPr>
        <p:spPr>
          <a:xfrm>
            <a:off x="685800" y="4276447"/>
            <a:ext cx="10820400" cy="20249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どちらの方法で予約しても、</a:t>
            </a:r>
            <a:r>
              <a:rPr kumimoji="1" lang="ja-JP" altLang="en-US" sz="12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同じ予約として扱われます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。「＋予定を作成」から予約したものも、この画面のカレンダーに表示されます。</a:t>
            </a:r>
          </a:p>
        </p:txBody>
      </p:sp>
      <p:sp>
        <p:nvSpPr>
          <p:cNvPr id="35" name="補足の枠">
            <a:extLst>
              <a:ext uri="{FF2B5EF4-FFF2-40B4-BE49-F238E27FC236}">
                <a16:creationId xmlns:a16="http://schemas.microsoft.com/office/drawing/2014/main" id="{F752BD07-1685-28CF-C77F-F3389915AF1C}"/>
              </a:ext>
            </a:extLst>
          </p:cNvPr>
          <p:cNvSpPr/>
          <p:nvPr/>
        </p:nvSpPr>
        <p:spPr>
          <a:xfrm>
            <a:off x="533400" y="4783738"/>
            <a:ext cx="11125200" cy="701191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EDDFF46-34CD-4185-515E-A9FA418CB6B9}"/>
              </a:ext>
            </a:extLst>
          </p:cNvPr>
          <p:cNvSpPr txBox="1"/>
          <p:nvPr/>
        </p:nvSpPr>
        <p:spPr>
          <a:xfrm>
            <a:off x="685800" y="4898038"/>
            <a:ext cx="108204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どちらを使う</a:t>
            </a:r>
            <a:r>
              <a:rPr kumimoji="1" lang="en-US" altLang="ja-JP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?</a:t>
            </a:r>
            <a:endParaRPr kumimoji="1" lang="ja-JP" altLang="en-US" sz="1150" b="1">
              <a:solidFill>
                <a:srgbClr val="1E5FA8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CC2AC686-71CF-B640-C35F-ECC34212109E}"/>
              </a:ext>
            </a:extLst>
          </p:cNvPr>
          <p:cNvSpPr txBox="1"/>
          <p:nvPr/>
        </p:nvSpPr>
        <p:spPr>
          <a:xfrm>
            <a:off x="685800" y="5129909"/>
            <a:ext cx="10820400" cy="202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時間が決まっているときは「＋予定を作成」、空いている日・時間を探しながら予約したいときは予約画面が便利です。</a:t>
            </a:r>
          </a:p>
        </p:txBody>
      </p:sp>
    </p:spTree>
    <p:extLst>
      <p:ext uri="{BB962C8B-B14F-4D97-AF65-F5344CB8AC3E}">
        <p14:creationId xmlns:p14="http://schemas.microsoft.com/office/powerpoint/2010/main" val="22451038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予約画面 ステップ</a:t>
            </a:r>
            <a:r>
              <a:rPr kumimoji="0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</a:t>
            </a: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予約画面を開く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スケジュール画面の「会議室・社用車の空き状況」の枠の右下にあります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E1882638-AB81-AC1F-0CBC-DE55D0E71D7D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9 / 16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7" name="画面_d01_link">
            <a:extLst>
              <a:ext uri="{FF2B5EF4-FFF2-40B4-BE49-F238E27FC236}">
                <a16:creationId xmlns:a16="http://schemas.microsoft.com/office/drawing/2014/main" id="{82F37DE1-1D35-6C57-7F7D-CD54896001C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68400"/>
            <a:ext cx="6604000" cy="4319838"/>
          </a:xfrm>
          <a:prstGeom prst="rect">
            <a:avLst/>
          </a:prstGeom>
          <a:ln w="9525">
            <a:solidFill>
              <a:srgbClr val="C8D3DF"/>
            </a:solidFill>
          </a:ln>
        </p:spPr>
      </p:pic>
      <p:sp>
        <p:nvSpPr>
          <p:cNvPr id="12" name="赤枠_1">
            <a:extLst>
              <a:ext uri="{FF2B5EF4-FFF2-40B4-BE49-F238E27FC236}">
                <a16:creationId xmlns:a16="http://schemas.microsoft.com/office/drawing/2014/main" id="{413EA888-274D-32B9-2317-E406F7DF3E9B}"/>
              </a:ext>
            </a:extLst>
          </p:cNvPr>
          <p:cNvSpPr/>
          <p:nvPr/>
        </p:nvSpPr>
        <p:spPr>
          <a:xfrm>
            <a:off x="4849783" y="4828922"/>
            <a:ext cx="2019888" cy="391587"/>
          </a:xfrm>
          <a:prstGeom prst="roundRect">
            <a:avLst>
              <a:gd name="adj" fmla="val 12903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番号_1">
            <a:extLst>
              <a:ext uri="{FF2B5EF4-FFF2-40B4-BE49-F238E27FC236}">
                <a16:creationId xmlns:a16="http://schemas.microsoft.com/office/drawing/2014/main" id="{02A9EC30-5E80-C433-C5A1-D657EBB46DCC}"/>
              </a:ext>
            </a:extLst>
          </p:cNvPr>
          <p:cNvSpPr/>
          <p:nvPr/>
        </p:nvSpPr>
        <p:spPr>
          <a:xfrm>
            <a:off x="6755371" y="4714622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4231D72-F80E-3AAD-24B4-6438C5F27F9E}"/>
              </a:ext>
            </a:extLst>
          </p:cNvPr>
          <p:cNvSpPr txBox="1"/>
          <p:nvPr/>
        </p:nvSpPr>
        <p:spPr>
          <a:xfrm>
            <a:off x="7467600" y="1168400"/>
            <a:ext cx="41910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先に表示を切り替える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37580DC-D880-8A55-6505-D735F74B1335}"/>
              </a:ext>
            </a:extLst>
          </p:cNvPr>
          <p:cNvSpPr txBox="1"/>
          <p:nvPr/>
        </p:nvSpPr>
        <p:spPr>
          <a:xfrm>
            <a:off x="7467600" y="1471833"/>
            <a:ext cx="41910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空き状況の枠の上で「吉村一建設会議室」「ゆめすみか展示場」「社用車」から、予約したいものを選びます。</a:t>
            </a:r>
          </a:p>
        </p:txBody>
      </p:sp>
      <p:sp>
        <p:nvSpPr>
          <p:cNvPr id="16" name="手順番号_1">
            <a:extLst>
              <a:ext uri="{FF2B5EF4-FFF2-40B4-BE49-F238E27FC236}">
                <a16:creationId xmlns:a16="http://schemas.microsoft.com/office/drawing/2014/main" id="{5B399D46-BDD7-3309-2290-EE455E8FB5DD}"/>
              </a:ext>
            </a:extLst>
          </p:cNvPr>
          <p:cNvSpPr/>
          <p:nvPr/>
        </p:nvSpPr>
        <p:spPr>
          <a:xfrm>
            <a:off x="7467600" y="2043895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C910831-15F4-F8F0-B21B-B735F2F415C9}"/>
              </a:ext>
            </a:extLst>
          </p:cNvPr>
          <p:cNvSpPr txBox="1"/>
          <p:nvPr/>
        </p:nvSpPr>
        <p:spPr>
          <a:xfrm>
            <a:off x="7874000" y="2056595"/>
            <a:ext cx="3784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</a:t>
            </a:r>
            <a:r>
              <a:rPr kumimoji="1" lang="en-US" altLang="ja-JP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〜</a:t>
            </a: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を予約する →」を押す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7866712-0D6B-3460-630F-D7CEF5EEFFE7}"/>
              </a:ext>
            </a:extLst>
          </p:cNvPr>
          <p:cNvSpPr txBox="1"/>
          <p:nvPr/>
        </p:nvSpPr>
        <p:spPr>
          <a:xfrm>
            <a:off x="7874000" y="2360028"/>
            <a:ext cx="3784600" cy="653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選んだ表示に合わせて「吉村一建設会議室を予約する →」「ゆめすみか展示場を予約する →」「社用車を予約する →」のどれかが表示されます。</a:t>
            </a:r>
          </a:p>
        </p:txBody>
      </p:sp>
    </p:spTree>
    <p:extLst>
      <p:ext uri="{BB962C8B-B14F-4D97-AF65-F5344CB8AC3E}">
        <p14:creationId xmlns:p14="http://schemas.microsoft.com/office/powerpoint/2010/main" val="741315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予約画面 ステップ</a:t>
            </a:r>
            <a:r>
              <a:rPr kumimoji="0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</a:t>
            </a: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拠点・会議室・日付を選ぶ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会議室ごとの月間カレンダーが表示されます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72D27197-19B5-2FEC-BB68-D50DF4B1F1F0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10 / 16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7" name="画面_d02_rooms">
            <a:extLst>
              <a:ext uri="{FF2B5EF4-FFF2-40B4-BE49-F238E27FC236}">
                <a16:creationId xmlns:a16="http://schemas.microsoft.com/office/drawing/2014/main" id="{1F451F8E-F56D-FF0F-8E39-3826165DD77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68400"/>
            <a:ext cx="6277113" cy="5156200"/>
          </a:xfrm>
          <a:prstGeom prst="rect">
            <a:avLst/>
          </a:prstGeom>
          <a:ln w="9525">
            <a:solidFill>
              <a:srgbClr val="C8D3DF"/>
            </a:solidFill>
          </a:ln>
        </p:spPr>
      </p:pic>
      <p:sp>
        <p:nvSpPr>
          <p:cNvPr id="12" name="赤枠_1">
            <a:extLst>
              <a:ext uri="{FF2B5EF4-FFF2-40B4-BE49-F238E27FC236}">
                <a16:creationId xmlns:a16="http://schemas.microsoft.com/office/drawing/2014/main" id="{F1FEFFED-43C6-2DEC-0C6F-C16B00A037AC}"/>
              </a:ext>
            </a:extLst>
          </p:cNvPr>
          <p:cNvSpPr/>
          <p:nvPr/>
        </p:nvSpPr>
        <p:spPr>
          <a:xfrm>
            <a:off x="608434" y="1452372"/>
            <a:ext cx="4049321" cy="267360"/>
          </a:xfrm>
          <a:prstGeom prst="roundRect">
            <a:avLst>
              <a:gd name="adj" fmla="val 19048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番号_1">
            <a:extLst>
              <a:ext uri="{FF2B5EF4-FFF2-40B4-BE49-F238E27FC236}">
                <a16:creationId xmlns:a16="http://schemas.microsoft.com/office/drawing/2014/main" id="{307C83DC-073B-15D6-C965-36D15C6D6BE6}"/>
              </a:ext>
            </a:extLst>
          </p:cNvPr>
          <p:cNvSpPr/>
          <p:nvPr/>
        </p:nvSpPr>
        <p:spPr>
          <a:xfrm>
            <a:off x="494134" y="1338072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赤枠_2">
            <a:extLst>
              <a:ext uri="{FF2B5EF4-FFF2-40B4-BE49-F238E27FC236}">
                <a16:creationId xmlns:a16="http://schemas.microsoft.com/office/drawing/2014/main" id="{F92CBC11-101A-7128-2D4E-AC882158E3B3}"/>
              </a:ext>
            </a:extLst>
          </p:cNvPr>
          <p:cNvSpPr/>
          <p:nvPr/>
        </p:nvSpPr>
        <p:spPr>
          <a:xfrm>
            <a:off x="608434" y="1689557"/>
            <a:ext cx="4695864" cy="422046"/>
          </a:xfrm>
          <a:prstGeom prst="roundRect">
            <a:avLst>
              <a:gd name="adj" fmla="val 12121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番号_2">
            <a:extLst>
              <a:ext uri="{FF2B5EF4-FFF2-40B4-BE49-F238E27FC236}">
                <a16:creationId xmlns:a16="http://schemas.microsoft.com/office/drawing/2014/main" id="{125F9433-2BA6-5A39-54C0-346D73A47DD1}"/>
              </a:ext>
            </a:extLst>
          </p:cNvPr>
          <p:cNvSpPr/>
          <p:nvPr/>
        </p:nvSpPr>
        <p:spPr>
          <a:xfrm>
            <a:off x="354434" y="1786280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赤枠_3">
            <a:extLst>
              <a:ext uri="{FF2B5EF4-FFF2-40B4-BE49-F238E27FC236}">
                <a16:creationId xmlns:a16="http://schemas.microsoft.com/office/drawing/2014/main" id="{2B3B92CC-6344-8A14-833D-18E7A1950D0D}"/>
              </a:ext>
            </a:extLst>
          </p:cNvPr>
          <p:cNvSpPr/>
          <p:nvPr/>
        </p:nvSpPr>
        <p:spPr>
          <a:xfrm>
            <a:off x="4982755" y="2194416"/>
            <a:ext cx="1588622" cy="194277"/>
          </a:xfrm>
          <a:prstGeom prst="roundRect">
            <a:avLst>
              <a:gd name="adj" fmla="val 26667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番号_3">
            <a:extLst>
              <a:ext uri="{FF2B5EF4-FFF2-40B4-BE49-F238E27FC236}">
                <a16:creationId xmlns:a16="http://schemas.microsoft.com/office/drawing/2014/main" id="{29280A5A-E9F3-4FAE-B8F6-DC7A6A74E513}"/>
              </a:ext>
            </a:extLst>
          </p:cNvPr>
          <p:cNvSpPr/>
          <p:nvPr/>
        </p:nvSpPr>
        <p:spPr>
          <a:xfrm>
            <a:off x="6457078" y="2080116"/>
            <a:ext cx="228599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0" name="赤枠_4">
            <a:extLst>
              <a:ext uri="{FF2B5EF4-FFF2-40B4-BE49-F238E27FC236}">
                <a16:creationId xmlns:a16="http://schemas.microsoft.com/office/drawing/2014/main" id="{52A90ED5-6736-1AB2-001A-2BAAE178AD9D}"/>
              </a:ext>
            </a:extLst>
          </p:cNvPr>
          <p:cNvSpPr/>
          <p:nvPr/>
        </p:nvSpPr>
        <p:spPr>
          <a:xfrm>
            <a:off x="1658337" y="5151665"/>
            <a:ext cx="887351" cy="910260"/>
          </a:xfrm>
          <a:prstGeom prst="roundRect">
            <a:avLst>
              <a:gd name="adj" fmla="val 5714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番号_4">
            <a:extLst>
              <a:ext uri="{FF2B5EF4-FFF2-40B4-BE49-F238E27FC236}">
                <a16:creationId xmlns:a16="http://schemas.microsoft.com/office/drawing/2014/main" id="{CE7E871C-D1B4-3E39-B06C-C345AAB5CFC2}"/>
              </a:ext>
            </a:extLst>
          </p:cNvPr>
          <p:cNvSpPr/>
          <p:nvPr/>
        </p:nvSpPr>
        <p:spPr>
          <a:xfrm>
            <a:off x="1544037" y="5037365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2" name="赤枠_5">
            <a:extLst>
              <a:ext uri="{FF2B5EF4-FFF2-40B4-BE49-F238E27FC236}">
                <a16:creationId xmlns:a16="http://schemas.microsoft.com/office/drawing/2014/main" id="{5D437DDF-82D5-97AD-F03E-912B42C53B0B}"/>
              </a:ext>
            </a:extLst>
          </p:cNvPr>
          <p:cNvSpPr/>
          <p:nvPr/>
        </p:nvSpPr>
        <p:spPr>
          <a:xfrm>
            <a:off x="6190399" y="1896254"/>
            <a:ext cx="537907" cy="207727"/>
          </a:xfrm>
          <a:prstGeom prst="roundRect">
            <a:avLst>
              <a:gd name="adj" fmla="val 25000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番号_5">
            <a:extLst>
              <a:ext uri="{FF2B5EF4-FFF2-40B4-BE49-F238E27FC236}">
                <a16:creationId xmlns:a16="http://schemas.microsoft.com/office/drawing/2014/main" id="{653156C1-4C1C-8BD5-B15B-B2228C9D610D}"/>
              </a:ext>
            </a:extLst>
          </p:cNvPr>
          <p:cNvSpPr/>
          <p:nvPr/>
        </p:nvSpPr>
        <p:spPr>
          <a:xfrm>
            <a:off x="5936399" y="1885817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4" name="手順番号_1">
            <a:extLst>
              <a:ext uri="{FF2B5EF4-FFF2-40B4-BE49-F238E27FC236}">
                <a16:creationId xmlns:a16="http://schemas.microsoft.com/office/drawing/2014/main" id="{8E6020D7-5EA0-ABE3-8A01-7D28C9C4A6D7}"/>
              </a:ext>
            </a:extLst>
          </p:cNvPr>
          <p:cNvSpPr/>
          <p:nvPr/>
        </p:nvSpPr>
        <p:spPr>
          <a:xfrm>
            <a:off x="7140713" y="1155700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CF97A0F-25C3-2406-0024-EF72A962E1A7}"/>
              </a:ext>
            </a:extLst>
          </p:cNvPr>
          <p:cNvSpPr txBox="1"/>
          <p:nvPr/>
        </p:nvSpPr>
        <p:spPr>
          <a:xfrm>
            <a:off x="7547113" y="1168400"/>
            <a:ext cx="4111487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拠点を選ぶ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9782D93-956B-7AE4-E836-9427BDCD9F2A}"/>
              </a:ext>
            </a:extLst>
          </p:cNvPr>
          <p:cNvSpPr txBox="1"/>
          <p:nvPr/>
        </p:nvSpPr>
        <p:spPr>
          <a:xfrm>
            <a:off x="7547113" y="1471833"/>
            <a:ext cx="4111487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展示場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吉村一建設は区分け、社用車は部門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を選びます。</a:t>
            </a:r>
          </a:p>
        </p:txBody>
      </p:sp>
      <p:sp>
        <p:nvSpPr>
          <p:cNvPr id="28" name="手順番号_2">
            <a:extLst>
              <a:ext uri="{FF2B5EF4-FFF2-40B4-BE49-F238E27FC236}">
                <a16:creationId xmlns:a16="http://schemas.microsoft.com/office/drawing/2014/main" id="{55A0181D-AC05-F1D1-70B1-38540E76FE95}"/>
              </a:ext>
            </a:extLst>
          </p:cNvPr>
          <p:cNvSpPr/>
          <p:nvPr/>
        </p:nvSpPr>
        <p:spPr>
          <a:xfrm>
            <a:off x="7140713" y="1771881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34FBC50-C54B-BE84-BF36-0D9D62B051B6}"/>
              </a:ext>
            </a:extLst>
          </p:cNvPr>
          <p:cNvSpPr txBox="1"/>
          <p:nvPr/>
        </p:nvSpPr>
        <p:spPr>
          <a:xfrm>
            <a:off x="7547113" y="1784581"/>
            <a:ext cx="4111487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会議室を選ぶ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4E34866-C806-E031-B68C-0FBD62109387}"/>
              </a:ext>
            </a:extLst>
          </p:cNvPr>
          <p:cNvSpPr txBox="1"/>
          <p:nvPr/>
        </p:nvSpPr>
        <p:spPr>
          <a:xfrm>
            <a:off x="7547113" y="2088014"/>
            <a:ext cx="4111487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色付きのボタンで会議室を選びます。「全ての会議室」でまとめて見られます。</a:t>
            </a:r>
          </a:p>
        </p:txBody>
      </p:sp>
      <p:sp>
        <p:nvSpPr>
          <p:cNvPr id="31" name="手順番号_3">
            <a:extLst>
              <a:ext uri="{FF2B5EF4-FFF2-40B4-BE49-F238E27FC236}">
                <a16:creationId xmlns:a16="http://schemas.microsoft.com/office/drawing/2014/main" id="{AE4F3B60-F1F6-F182-FBD6-FAFC2D9E8904}"/>
              </a:ext>
            </a:extLst>
          </p:cNvPr>
          <p:cNvSpPr/>
          <p:nvPr/>
        </p:nvSpPr>
        <p:spPr>
          <a:xfrm>
            <a:off x="7140713" y="2609276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10AC850E-A51D-EAA9-BC45-E3F6F84FCE22}"/>
              </a:ext>
            </a:extLst>
          </p:cNvPr>
          <p:cNvSpPr txBox="1"/>
          <p:nvPr/>
        </p:nvSpPr>
        <p:spPr>
          <a:xfrm>
            <a:off x="7547113" y="2621976"/>
            <a:ext cx="4111487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月を切り替える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54FEFE23-A370-F97D-EAFD-753B1A90104D}"/>
              </a:ext>
            </a:extLst>
          </p:cNvPr>
          <p:cNvSpPr txBox="1"/>
          <p:nvPr/>
        </p:nvSpPr>
        <p:spPr>
          <a:xfrm>
            <a:off x="7547113" y="2925409"/>
            <a:ext cx="4111487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‹ ›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」で前後の月へ、「今月」で今月に戻ります。</a:t>
            </a:r>
          </a:p>
        </p:txBody>
      </p:sp>
      <p:sp>
        <p:nvSpPr>
          <p:cNvPr id="34" name="手順番号_4">
            <a:extLst>
              <a:ext uri="{FF2B5EF4-FFF2-40B4-BE49-F238E27FC236}">
                <a16:creationId xmlns:a16="http://schemas.microsoft.com/office/drawing/2014/main" id="{593A6793-2F93-CB2C-6C30-F949C57F6AA3}"/>
              </a:ext>
            </a:extLst>
          </p:cNvPr>
          <p:cNvSpPr/>
          <p:nvPr/>
        </p:nvSpPr>
        <p:spPr>
          <a:xfrm>
            <a:off x="7140713" y="3225457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3AAED3D4-C013-DC4C-5658-75288B00D4B6}"/>
              </a:ext>
            </a:extLst>
          </p:cNvPr>
          <p:cNvSpPr txBox="1"/>
          <p:nvPr/>
        </p:nvSpPr>
        <p:spPr>
          <a:xfrm>
            <a:off x="7547113" y="3238157"/>
            <a:ext cx="4111487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予約したい日のマスを押す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24D7D863-6F5D-E077-3138-769FAF51F7C6}"/>
              </a:ext>
            </a:extLst>
          </p:cNvPr>
          <p:cNvSpPr txBox="1"/>
          <p:nvPr/>
        </p:nvSpPr>
        <p:spPr>
          <a:xfrm>
            <a:off x="7547113" y="3541590"/>
            <a:ext cx="4111487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その日の空き状況が開きます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次のページ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。</a:t>
            </a:r>
          </a:p>
        </p:txBody>
      </p:sp>
      <p:sp>
        <p:nvSpPr>
          <p:cNvPr id="37" name="手順番号_5">
            <a:extLst>
              <a:ext uri="{FF2B5EF4-FFF2-40B4-BE49-F238E27FC236}">
                <a16:creationId xmlns:a16="http://schemas.microsoft.com/office/drawing/2014/main" id="{31ABD690-A7A4-5722-8053-5925CC0D542C}"/>
              </a:ext>
            </a:extLst>
          </p:cNvPr>
          <p:cNvSpPr/>
          <p:nvPr/>
        </p:nvSpPr>
        <p:spPr>
          <a:xfrm>
            <a:off x="7140713" y="3841638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78F402F-88C2-AA6F-58AB-4E70F01E189C}"/>
              </a:ext>
            </a:extLst>
          </p:cNvPr>
          <p:cNvSpPr txBox="1"/>
          <p:nvPr/>
        </p:nvSpPr>
        <p:spPr>
          <a:xfrm>
            <a:off x="7547113" y="3854338"/>
            <a:ext cx="4111487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＋ 新規予約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F03FCD8-1BD5-9398-8625-66113B8AE276}"/>
              </a:ext>
            </a:extLst>
          </p:cNvPr>
          <p:cNvSpPr txBox="1"/>
          <p:nvPr/>
        </p:nvSpPr>
        <p:spPr>
          <a:xfrm>
            <a:off x="7547113" y="4157771"/>
            <a:ext cx="4111487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日付と時間を直接入れて予約することもできます。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2182756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予約画面 ステップ</a:t>
            </a:r>
            <a:r>
              <a:rPr kumimoji="0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</a:t>
            </a: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空いている時間を選ぶ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選んだ日の空き状況が、</a:t>
            </a:r>
            <a:r>
              <a:rPr lang="en-US" altLang="ja-JP" sz="1400"/>
              <a:t>30</a:t>
            </a:r>
            <a:r>
              <a:rPr lang="ja-JP" altLang="en-US" sz="1400"/>
              <a:t>分ごとに表示されます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77236D21-EB35-3FB6-62D4-63B467EA156C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11 / 16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7" name="画面_d03_day">
            <a:extLst>
              <a:ext uri="{FF2B5EF4-FFF2-40B4-BE49-F238E27FC236}">
                <a16:creationId xmlns:a16="http://schemas.microsoft.com/office/drawing/2014/main" id="{7E968992-3B9D-13C0-F832-65358CDE8713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68400"/>
            <a:ext cx="5588000" cy="4741400"/>
          </a:xfrm>
          <a:prstGeom prst="rect">
            <a:avLst/>
          </a:prstGeom>
          <a:ln w="9525">
            <a:solidFill>
              <a:srgbClr val="C8D3DF"/>
            </a:solidFill>
          </a:ln>
        </p:spPr>
      </p:pic>
      <p:sp>
        <p:nvSpPr>
          <p:cNvPr id="12" name="赤枠_1">
            <a:extLst>
              <a:ext uri="{FF2B5EF4-FFF2-40B4-BE49-F238E27FC236}">
                <a16:creationId xmlns:a16="http://schemas.microsoft.com/office/drawing/2014/main" id="{F3CCC744-D793-13CD-94A1-A0FCC8FDF128}"/>
              </a:ext>
            </a:extLst>
          </p:cNvPr>
          <p:cNvSpPr/>
          <p:nvPr/>
        </p:nvSpPr>
        <p:spPr>
          <a:xfrm>
            <a:off x="932968" y="1651964"/>
            <a:ext cx="2303636" cy="314928"/>
          </a:xfrm>
          <a:prstGeom prst="roundRect">
            <a:avLst>
              <a:gd name="adj" fmla="val 16000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番号_1">
            <a:extLst>
              <a:ext uri="{FF2B5EF4-FFF2-40B4-BE49-F238E27FC236}">
                <a16:creationId xmlns:a16="http://schemas.microsoft.com/office/drawing/2014/main" id="{D5C68A57-7AB1-50F2-B29E-B346CDCEE6D4}"/>
              </a:ext>
            </a:extLst>
          </p:cNvPr>
          <p:cNvSpPr/>
          <p:nvPr/>
        </p:nvSpPr>
        <p:spPr>
          <a:xfrm>
            <a:off x="818668" y="1537665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赤枠_2">
            <a:extLst>
              <a:ext uri="{FF2B5EF4-FFF2-40B4-BE49-F238E27FC236}">
                <a16:creationId xmlns:a16="http://schemas.microsoft.com/office/drawing/2014/main" id="{AF316C44-1E45-6E62-3CA0-67CF4697B6EC}"/>
              </a:ext>
            </a:extLst>
          </p:cNvPr>
          <p:cNvSpPr/>
          <p:nvPr/>
        </p:nvSpPr>
        <p:spPr>
          <a:xfrm>
            <a:off x="4964816" y="4574170"/>
            <a:ext cx="765858" cy="332612"/>
          </a:xfrm>
          <a:prstGeom prst="roundRect">
            <a:avLst>
              <a:gd name="adj" fmla="val 15385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番号_2">
            <a:extLst>
              <a:ext uri="{FF2B5EF4-FFF2-40B4-BE49-F238E27FC236}">
                <a16:creationId xmlns:a16="http://schemas.microsoft.com/office/drawing/2014/main" id="{E17CB6A1-2C9D-4FBC-0C11-C1FB9276CB71}"/>
              </a:ext>
            </a:extLst>
          </p:cNvPr>
          <p:cNvSpPr/>
          <p:nvPr/>
        </p:nvSpPr>
        <p:spPr>
          <a:xfrm>
            <a:off x="4710816" y="4626176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手順番号_1">
            <a:extLst>
              <a:ext uri="{FF2B5EF4-FFF2-40B4-BE49-F238E27FC236}">
                <a16:creationId xmlns:a16="http://schemas.microsoft.com/office/drawing/2014/main" id="{701C848C-C319-7986-4A4A-DF22DFB7DFA6}"/>
              </a:ext>
            </a:extLst>
          </p:cNvPr>
          <p:cNvSpPr/>
          <p:nvPr/>
        </p:nvSpPr>
        <p:spPr>
          <a:xfrm>
            <a:off x="6451600" y="1155700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14B0AA8-70B2-1890-F66B-4B113FDC6A0F}"/>
              </a:ext>
            </a:extLst>
          </p:cNvPr>
          <p:cNvSpPr txBox="1"/>
          <p:nvPr/>
        </p:nvSpPr>
        <p:spPr>
          <a:xfrm>
            <a:off x="6858000" y="1168400"/>
            <a:ext cx="4800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その日の空き状況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2BC2B15-75D7-C04C-7CBC-BB908A07538C}"/>
              </a:ext>
            </a:extLst>
          </p:cNvPr>
          <p:cNvSpPr txBox="1"/>
          <p:nvPr/>
        </p:nvSpPr>
        <p:spPr>
          <a:xfrm>
            <a:off x="6858000" y="1471833"/>
            <a:ext cx="48006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8:00〜21:00 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を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30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分ごとに表示します。色の付いた行は予約済みで、件名と予約した人が表示されます。</a:t>
            </a:r>
          </a:p>
        </p:txBody>
      </p:sp>
      <p:sp>
        <p:nvSpPr>
          <p:cNvPr id="21" name="手順番号_2">
            <a:extLst>
              <a:ext uri="{FF2B5EF4-FFF2-40B4-BE49-F238E27FC236}">
                <a16:creationId xmlns:a16="http://schemas.microsoft.com/office/drawing/2014/main" id="{E1B499C1-B512-C383-C569-68A5FAFEC269}"/>
              </a:ext>
            </a:extLst>
          </p:cNvPr>
          <p:cNvSpPr/>
          <p:nvPr/>
        </p:nvSpPr>
        <p:spPr>
          <a:xfrm>
            <a:off x="6451600" y="2043895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F43F775-F2A3-3C3F-F452-6C3CB5964C4D}"/>
              </a:ext>
            </a:extLst>
          </p:cNvPr>
          <p:cNvSpPr txBox="1"/>
          <p:nvPr/>
        </p:nvSpPr>
        <p:spPr>
          <a:xfrm>
            <a:off x="6858000" y="2056595"/>
            <a:ext cx="4800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「予約する」を押す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CA4D227-6FD2-9030-CB0F-62F3FF37B981}"/>
              </a:ext>
            </a:extLst>
          </p:cNvPr>
          <p:cNvSpPr txBox="1"/>
          <p:nvPr/>
        </p:nvSpPr>
        <p:spPr>
          <a:xfrm>
            <a:off x="6858000" y="2360028"/>
            <a:ext cx="48006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空いている時間の「予約する」を押すと、予約の入力画面が開きます。</a:t>
            </a:r>
          </a:p>
        </p:txBody>
      </p:sp>
      <p:sp>
        <p:nvSpPr>
          <p:cNvPr id="24" name="補足の枠">
            <a:extLst>
              <a:ext uri="{FF2B5EF4-FFF2-40B4-BE49-F238E27FC236}">
                <a16:creationId xmlns:a16="http://schemas.microsoft.com/office/drawing/2014/main" id="{FB6CBEE5-6AE0-406B-4E1C-AB7BFCB3883A}"/>
              </a:ext>
            </a:extLst>
          </p:cNvPr>
          <p:cNvSpPr/>
          <p:nvPr/>
        </p:nvSpPr>
        <p:spPr>
          <a:xfrm>
            <a:off x="6451600" y="2970190"/>
            <a:ext cx="5207000" cy="913556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E534DEF-D0FA-F90E-6F1D-2A9D3E2031F4}"/>
              </a:ext>
            </a:extLst>
          </p:cNvPr>
          <p:cNvSpPr txBox="1"/>
          <p:nvPr/>
        </p:nvSpPr>
        <p:spPr>
          <a:xfrm>
            <a:off x="6604000" y="3084490"/>
            <a:ext cx="49022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ポイント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B3865A0-6256-3FFD-8CCC-7F604D227C17}"/>
              </a:ext>
            </a:extLst>
          </p:cNvPr>
          <p:cNvSpPr txBox="1"/>
          <p:nvPr/>
        </p:nvSpPr>
        <p:spPr>
          <a:xfrm>
            <a:off x="6604000" y="3316361"/>
            <a:ext cx="490220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押した時間が開始時間になり、終了は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時間後が入ります。終了は次の画面で変えられます。</a:t>
            </a:r>
          </a:p>
        </p:txBody>
      </p:sp>
    </p:spTree>
    <p:extLst>
      <p:ext uri="{BB962C8B-B14F-4D97-AF65-F5344CB8AC3E}">
        <p14:creationId xmlns:p14="http://schemas.microsoft.com/office/powerpoint/2010/main" val="3690838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予約画面 ステップ</a:t>
            </a:r>
            <a:r>
              <a:rPr kumimoji="0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</a:t>
            </a: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内容を入力して予約する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選んだ会議室・日付・時間が入った状態で開きます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35EDAE64-7B21-EC6C-2C8C-B3BB78C621AD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12 / 16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7" name="画面_d04_form">
            <a:extLst>
              <a:ext uri="{FF2B5EF4-FFF2-40B4-BE49-F238E27FC236}">
                <a16:creationId xmlns:a16="http://schemas.microsoft.com/office/drawing/2014/main" id="{ED72DBDC-C509-256B-854F-5756F8F01C1F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68400"/>
            <a:ext cx="4089400" cy="5156200"/>
          </a:xfrm>
          <a:prstGeom prst="rect">
            <a:avLst/>
          </a:prstGeom>
          <a:ln w="9525">
            <a:solidFill>
              <a:srgbClr val="C8D3DF"/>
            </a:solidFill>
          </a:ln>
        </p:spPr>
      </p:pic>
      <p:sp>
        <p:nvSpPr>
          <p:cNvPr id="12" name="赤枠_1">
            <a:extLst>
              <a:ext uri="{FF2B5EF4-FFF2-40B4-BE49-F238E27FC236}">
                <a16:creationId xmlns:a16="http://schemas.microsoft.com/office/drawing/2014/main" id="{A2E804C2-831C-48BD-A592-4AE0839A0B15}"/>
              </a:ext>
            </a:extLst>
          </p:cNvPr>
          <p:cNvSpPr/>
          <p:nvPr/>
        </p:nvSpPr>
        <p:spPr>
          <a:xfrm>
            <a:off x="874713" y="1950508"/>
            <a:ext cx="3517900" cy="354542"/>
          </a:xfrm>
          <a:prstGeom prst="roundRect">
            <a:avLst>
              <a:gd name="adj" fmla="val 14286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番号_1">
            <a:extLst>
              <a:ext uri="{FF2B5EF4-FFF2-40B4-BE49-F238E27FC236}">
                <a16:creationId xmlns:a16="http://schemas.microsoft.com/office/drawing/2014/main" id="{8A0E38CC-EFC9-F60E-5AA8-DEF96E04BF77}"/>
              </a:ext>
            </a:extLst>
          </p:cNvPr>
          <p:cNvSpPr/>
          <p:nvPr/>
        </p:nvSpPr>
        <p:spPr>
          <a:xfrm>
            <a:off x="620713" y="2013479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赤枠_2">
            <a:extLst>
              <a:ext uri="{FF2B5EF4-FFF2-40B4-BE49-F238E27FC236}">
                <a16:creationId xmlns:a16="http://schemas.microsoft.com/office/drawing/2014/main" id="{C063A56D-DF5F-4091-C49C-53CD90BF2BE7}"/>
              </a:ext>
            </a:extLst>
          </p:cNvPr>
          <p:cNvSpPr/>
          <p:nvPr/>
        </p:nvSpPr>
        <p:spPr>
          <a:xfrm>
            <a:off x="874713" y="2520950"/>
            <a:ext cx="3517900" cy="347133"/>
          </a:xfrm>
          <a:prstGeom prst="roundRect">
            <a:avLst>
              <a:gd name="adj" fmla="val 14815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番号_2">
            <a:extLst>
              <a:ext uri="{FF2B5EF4-FFF2-40B4-BE49-F238E27FC236}">
                <a16:creationId xmlns:a16="http://schemas.microsoft.com/office/drawing/2014/main" id="{972FE72E-E744-9F7D-6904-DA249C473372}"/>
              </a:ext>
            </a:extLst>
          </p:cNvPr>
          <p:cNvSpPr/>
          <p:nvPr/>
        </p:nvSpPr>
        <p:spPr>
          <a:xfrm>
            <a:off x="620713" y="2580217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赤枠_3">
            <a:extLst>
              <a:ext uri="{FF2B5EF4-FFF2-40B4-BE49-F238E27FC236}">
                <a16:creationId xmlns:a16="http://schemas.microsoft.com/office/drawing/2014/main" id="{12D8585C-8711-A5A1-0597-E45230AC4E6E}"/>
              </a:ext>
            </a:extLst>
          </p:cNvPr>
          <p:cNvSpPr/>
          <p:nvPr/>
        </p:nvSpPr>
        <p:spPr>
          <a:xfrm>
            <a:off x="874713" y="3943350"/>
            <a:ext cx="1643591" cy="361950"/>
          </a:xfrm>
          <a:prstGeom prst="roundRect">
            <a:avLst>
              <a:gd name="adj" fmla="val 14286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番号_3">
            <a:extLst>
              <a:ext uri="{FF2B5EF4-FFF2-40B4-BE49-F238E27FC236}">
                <a16:creationId xmlns:a16="http://schemas.microsoft.com/office/drawing/2014/main" id="{2172B012-A673-5EED-1CE3-E6DD0FDA72C6}"/>
              </a:ext>
            </a:extLst>
          </p:cNvPr>
          <p:cNvSpPr/>
          <p:nvPr/>
        </p:nvSpPr>
        <p:spPr>
          <a:xfrm>
            <a:off x="620713" y="4010025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0" name="赤枠_">
            <a:extLst>
              <a:ext uri="{FF2B5EF4-FFF2-40B4-BE49-F238E27FC236}">
                <a16:creationId xmlns:a16="http://schemas.microsoft.com/office/drawing/2014/main" id="{311A5290-0B25-91B3-6A03-D1FC09042FD0}"/>
              </a:ext>
            </a:extLst>
          </p:cNvPr>
          <p:cNvSpPr/>
          <p:nvPr/>
        </p:nvSpPr>
        <p:spPr>
          <a:xfrm>
            <a:off x="2749021" y="3943350"/>
            <a:ext cx="1643592" cy="361950"/>
          </a:xfrm>
          <a:prstGeom prst="roundRect">
            <a:avLst>
              <a:gd name="adj" fmla="val 14286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赤枠_4">
            <a:extLst>
              <a:ext uri="{FF2B5EF4-FFF2-40B4-BE49-F238E27FC236}">
                <a16:creationId xmlns:a16="http://schemas.microsoft.com/office/drawing/2014/main" id="{084AF047-C2DE-5167-8731-4430858C59D8}"/>
              </a:ext>
            </a:extLst>
          </p:cNvPr>
          <p:cNvSpPr/>
          <p:nvPr/>
        </p:nvSpPr>
        <p:spPr>
          <a:xfrm>
            <a:off x="3600979" y="5758392"/>
            <a:ext cx="791634" cy="354541"/>
          </a:xfrm>
          <a:prstGeom prst="roundRect">
            <a:avLst>
              <a:gd name="adj" fmla="val 14286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番号_4">
            <a:extLst>
              <a:ext uri="{FF2B5EF4-FFF2-40B4-BE49-F238E27FC236}">
                <a16:creationId xmlns:a16="http://schemas.microsoft.com/office/drawing/2014/main" id="{31B280A7-8750-96E2-1CF9-A4AECCE2A7F2}"/>
              </a:ext>
            </a:extLst>
          </p:cNvPr>
          <p:cNvSpPr/>
          <p:nvPr/>
        </p:nvSpPr>
        <p:spPr>
          <a:xfrm>
            <a:off x="4278313" y="5644092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3" name="手順番号_1">
            <a:extLst>
              <a:ext uri="{FF2B5EF4-FFF2-40B4-BE49-F238E27FC236}">
                <a16:creationId xmlns:a16="http://schemas.microsoft.com/office/drawing/2014/main" id="{6F1C01F7-3045-E2D1-1D10-5D5876821AFD}"/>
              </a:ext>
            </a:extLst>
          </p:cNvPr>
          <p:cNvSpPr/>
          <p:nvPr/>
        </p:nvSpPr>
        <p:spPr>
          <a:xfrm>
            <a:off x="4953000" y="1155700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2F4E47C-7A20-F0EA-8823-CD26DCA36EE1}"/>
              </a:ext>
            </a:extLst>
          </p:cNvPr>
          <p:cNvSpPr txBox="1"/>
          <p:nvPr/>
        </p:nvSpPr>
        <p:spPr>
          <a:xfrm>
            <a:off x="5359400" y="1168400"/>
            <a:ext cx="62992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会議室と日付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398D2DF-D974-3D1C-6831-5CB60790B1A2}"/>
              </a:ext>
            </a:extLst>
          </p:cNvPr>
          <p:cNvSpPr txBox="1"/>
          <p:nvPr/>
        </p:nvSpPr>
        <p:spPr>
          <a:xfrm>
            <a:off x="5359400" y="1471833"/>
            <a:ext cx="62992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選んだ会議室と日付が表示されます。</a:t>
            </a:r>
          </a:p>
        </p:txBody>
      </p:sp>
      <p:sp>
        <p:nvSpPr>
          <p:cNvPr id="27" name="手順番号_2">
            <a:extLst>
              <a:ext uri="{FF2B5EF4-FFF2-40B4-BE49-F238E27FC236}">
                <a16:creationId xmlns:a16="http://schemas.microsoft.com/office/drawing/2014/main" id="{099ECF16-4982-0EBC-E4FB-B348AC866F3B}"/>
              </a:ext>
            </a:extLst>
          </p:cNvPr>
          <p:cNvSpPr/>
          <p:nvPr/>
        </p:nvSpPr>
        <p:spPr>
          <a:xfrm>
            <a:off x="4953000" y="1822681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D60EFFD-CEA6-CCB3-FB1C-97A84C056F2E}"/>
              </a:ext>
            </a:extLst>
          </p:cNvPr>
          <p:cNvSpPr txBox="1"/>
          <p:nvPr/>
        </p:nvSpPr>
        <p:spPr>
          <a:xfrm>
            <a:off x="5359400" y="1835381"/>
            <a:ext cx="62992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件名</a:t>
            </a:r>
            <a:r>
              <a:rPr kumimoji="1" lang="en-US" altLang="ja-JP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必須</a:t>
            </a:r>
            <a:r>
              <a:rPr kumimoji="1" lang="en-US" altLang="ja-JP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endParaRPr kumimoji="1" lang="ja-JP" altLang="en-US" sz="1500" b="1">
              <a:solidFill>
                <a:srgbClr val="1E3A5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B4AC1D1-0DB8-98E1-0541-67252659DE5C}"/>
              </a:ext>
            </a:extLst>
          </p:cNvPr>
          <p:cNvSpPr txBox="1"/>
          <p:nvPr/>
        </p:nvSpPr>
        <p:spPr>
          <a:xfrm>
            <a:off x="5359400" y="2138814"/>
            <a:ext cx="62992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予定の名前を入力します。内容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任意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には、目的や議題をメモできます。</a:t>
            </a:r>
          </a:p>
        </p:txBody>
      </p:sp>
      <p:sp>
        <p:nvSpPr>
          <p:cNvPr id="30" name="手順番号_3">
            <a:extLst>
              <a:ext uri="{FF2B5EF4-FFF2-40B4-BE49-F238E27FC236}">
                <a16:creationId xmlns:a16="http://schemas.microsoft.com/office/drawing/2014/main" id="{B5CDF216-9A37-75E4-53AD-2548BBA496C4}"/>
              </a:ext>
            </a:extLst>
          </p:cNvPr>
          <p:cNvSpPr/>
          <p:nvPr/>
        </p:nvSpPr>
        <p:spPr>
          <a:xfrm>
            <a:off x="4953000" y="2489662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1C48BBD-A07D-941F-4B5B-00960A6AE4D1}"/>
              </a:ext>
            </a:extLst>
          </p:cNvPr>
          <p:cNvSpPr txBox="1"/>
          <p:nvPr/>
        </p:nvSpPr>
        <p:spPr>
          <a:xfrm>
            <a:off x="5359400" y="2502362"/>
            <a:ext cx="62992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開始・終了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6017C14-32A4-0C19-E5D6-383468A49A19}"/>
              </a:ext>
            </a:extLst>
          </p:cNvPr>
          <p:cNvSpPr txBox="1"/>
          <p:nvPr/>
        </p:nvSpPr>
        <p:spPr>
          <a:xfrm>
            <a:off x="5359400" y="2805795"/>
            <a:ext cx="62992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必要なら時間を変えます。開始を変えると、終了は自動で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時間後になります。</a:t>
            </a:r>
          </a:p>
        </p:txBody>
      </p:sp>
      <p:sp>
        <p:nvSpPr>
          <p:cNvPr id="33" name="手順番号_4">
            <a:extLst>
              <a:ext uri="{FF2B5EF4-FFF2-40B4-BE49-F238E27FC236}">
                <a16:creationId xmlns:a16="http://schemas.microsoft.com/office/drawing/2014/main" id="{434A0CAE-7FF6-38B0-BD99-7EB5BDD31FD2}"/>
              </a:ext>
            </a:extLst>
          </p:cNvPr>
          <p:cNvSpPr/>
          <p:nvPr/>
        </p:nvSpPr>
        <p:spPr>
          <a:xfrm>
            <a:off x="4953000" y="3156643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9B4F1773-311E-1FD0-72B6-8EA14C8226D7}"/>
              </a:ext>
            </a:extLst>
          </p:cNvPr>
          <p:cNvSpPr txBox="1"/>
          <p:nvPr/>
        </p:nvSpPr>
        <p:spPr>
          <a:xfrm>
            <a:off x="5359400" y="3169343"/>
            <a:ext cx="62992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「予約する」を押す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886D1B8-81D6-C038-9C90-6D59B2C8A296}"/>
              </a:ext>
            </a:extLst>
          </p:cNvPr>
          <p:cNvSpPr txBox="1"/>
          <p:nvPr/>
        </p:nvSpPr>
        <p:spPr>
          <a:xfrm>
            <a:off x="5359400" y="3472776"/>
            <a:ext cx="62992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これで予約は完了です。社内メンバー・外部参加者の入れ方は「予約がない場合」の資料と同じです。</a:t>
            </a:r>
          </a:p>
        </p:txBody>
      </p:sp>
    </p:spTree>
    <p:extLst>
      <p:ext uri="{BB962C8B-B14F-4D97-AF65-F5344CB8AC3E}">
        <p14:creationId xmlns:p14="http://schemas.microsoft.com/office/powerpoint/2010/main" val="3407013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予約画面 ステップ</a:t>
            </a:r>
            <a:r>
              <a:rPr kumimoji="0" lang="en-US" altLang="ja-JP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</a:t>
            </a: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予約を確認する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予約した日のマスに、自分の予約が表示されます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0A1759C5-8B50-F2A1-D0F1-A94B03D2F9DD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13 / 16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7" name="画面_d05_after">
            <a:extLst>
              <a:ext uri="{FF2B5EF4-FFF2-40B4-BE49-F238E27FC236}">
                <a16:creationId xmlns:a16="http://schemas.microsoft.com/office/drawing/2014/main" id="{B5A7E37E-2E15-E922-F1C3-0C5E43CA155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68400"/>
            <a:ext cx="6604000" cy="4122783"/>
          </a:xfrm>
          <a:prstGeom prst="rect">
            <a:avLst/>
          </a:prstGeom>
          <a:ln w="9525">
            <a:solidFill>
              <a:srgbClr val="C8D3DF"/>
            </a:solidFill>
          </a:ln>
        </p:spPr>
      </p:pic>
      <p:sp>
        <p:nvSpPr>
          <p:cNvPr id="12" name="赤枠_1">
            <a:extLst>
              <a:ext uri="{FF2B5EF4-FFF2-40B4-BE49-F238E27FC236}">
                <a16:creationId xmlns:a16="http://schemas.microsoft.com/office/drawing/2014/main" id="{776BBDDA-D41E-AF28-133F-918EDCF58BE2}"/>
              </a:ext>
            </a:extLst>
          </p:cNvPr>
          <p:cNvSpPr/>
          <p:nvPr/>
        </p:nvSpPr>
        <p:spPr>
          <a:xfrm>
            <a:off x="3003958" y="3162527"/>
            <a:ext cx="1650649" cy="761614"/>
          </a:xfrm>
          <a:prstGeom prst="roundRect">
            <a:avLst>
              <a:gd name="adj" fmla="val 6667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番号_1">
            <a:extLst>
              <a:ext uri="{FF2B5EF4-FFF2-40B4-BE49-F238E27FC236}">
                <a16:creationId xmlns:a16="http://schemas.microsoft.com/office/drawing/2014/main" id="{F2076B5D-25D4-4427-C179-83741D6A1405}"/>
              </a:ext>
            </a:extLst>
          </p:cNvPr>
          <p:cNvSpPr/>
          <p:nvPr/>
        </p:nvSpPr>
        <p:spPr>
          <a:xfrm>
            <a:off x="4540307" y="3048227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手順番号_1">
            <a:extLst>
              <a:ext uri="{FF2B5EF4-FFF2-40B4-BE49-F238E27FC236}">
                <a16:creationId xmlns:a16="http://schemas.microsoft.com/office/drawing/2014/main" id="{1B8F7CAE-29EF-7EEF-0FB8-9F7234039068}"/>
              </a:ext>
            </a:extLst>
          </p:cNvPr>
          <p:cNvSpPr/>
          <p:nvPr/>
        </p:nvSpPr>
        <p:spPr>
          <a:xfrm>
            <a:off x="7467600" y="1155700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598A841-791A-4BC7-7292-6456486B599F}"/>
              </a:ext>
            </a:extLst>
          </p:cNvPr>
          <p:cNvSpPr txBox="1"/>
          <p:nvPr/>
        </p:nvSpPr>
        <p:spPr>
          <a:xfrm>
            <a:off x="7874000" y="1168400"/>
            <a:ext cx="3784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自分の予約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10F8753-88C4-7D42-0E9B-F4E169D5790B}"/>
              </a:ext>
            </a:extLst>
          </p:cNvPr>
          <p:cNvSpPr txBox="1"/>
          <p:nvPr/>
        </p:nvSpPr>
        <p:spPr>
          <a:xfrm>
            <a:off x="7874000" y="1471833"/>
            <a:ext cx="37846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「主催」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の印が付いているのが、自分の予約です。時間・会議室名・名前・件名が表示されます。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B225469-7DFE-FFA7-859D-5CA0BCAAAEDC}"/>
              </a:ext>
            </a:extLst>
          </p:cNvPr>
          <p:cNvSpPr txBox="1"/>
          <p:nvPr/>
        </p:nvSpPr>
        <p:spPr>
          <a:xfrm>
            <a:off x="7467600" y="2056595"/>
            <a:ext cx="41910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「承諾待ち」と出たら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2839496-4C5A-6925-1DC4-ABCA15013301}"/>
              </a:ext>
            </a:extLst>
          </p:cNvPr>
          <p:cNvSpPr txBox="1"/>
          <p:nvPr/>
        </p:nvSpPr>
        <p:spPr>
          <a:xfrm>
            <a:off x="7467600" y="2360028"/>
            <a:ext cx="41910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予約を受け付けている途中です。通常は少し待つと消え、予約が確定します。</a:t>
            </a:r>
          </a:p>
        </p:txBody>
      </p:sp>
      <p:sp>
        <p:nvSpPr>
          <p:cNvPr id="21" name="補足の枠">
            <a:extLst>
              <a:ext uri="{FF2B5EF4-FFF2-40B4-BE49-F238E27FC236}">
                <a16:creationId xmlns:a16="http://schemas.microsoft.com/office/drawing/2014/main" id="{D6BAF8C6-FE73-5847-1EFC-7054EDD0116A}"/>
              </a:ext>
            </a:extLst>
          </p:cNvPr>
          <p:cNvSpPr/>
          <p:nvPr/>
        </p:nvSpPr>
        <p:spPr>
          <a:xfrm>
            <a:off x="7467600" y="2970190"/>
            <a:ext cx="4191000" cy="913556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925374C-C606-C4B5-D752-201740453C60}"/>
              </a:ext>
            </a:extLst>
          </p:cNvPr>
          <p:cNvSpPr txBox="1"/>
          <p:nvPr/>
        </p:nvSpPr>
        <p:spPr>
          <a:xfrm>
            <a:off x="7620000" y="3084490"/>
            <a:ext cx="38862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ポイント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3F4B099-E778-1321-CB1D-55529D387B1A}"/>
              </a:ext>
            </a:extLst>
          </p:cNvPr>
          <p:cNvSpPr txBox="1"/>
          <p:nvPr/>
        </p:nvSpPr>
        <p:spPr>
          <a:xfrm>
            <a:off x="7620000" y="3316361"/>
            <a:ext cx="388620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この予約は、スケジュール画面の「自分の予定」にも表示されます。</a:t>
            </a:r>
          </a:p>
        </p:txBody>
      </p:sp>
    </p:spTree>
    <p:extLst>
      <p:ext uri="{BB962C8B-B14F-4D97-AF65-F5344CB8AC3E}">
        <p14:creationId xmlns:p14="http://schemas.microsoft.com/office/powerpoint/2010/main" val="3215149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予約画面 予約を変更する・取り消す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カレンダーの自分の予約</a:t>
            </a:r>
            <a:r>
              <a:rPr lang="en-US" altLang="ja-JP" sz="1400"/>
              <a:t>(</a:t>
            </a:r>
            <a:r>
              <a:rPr lang="ja-JP" altLang="en-US" sz="1400"/>
              <a:t>「主催」の印</a:t>
            </a:r>
            <a:r>
              <a:rPr lang="en-US" altLang="ja-JP" sz="1400"/>
              <a:t>)</a:t>
            </a:r>
            <a:r>
              <a:rPr lang="ja-JP" altLang="en-US" sz="1400"/>
              <a:t>をクリックします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CE64E283-1093-3411-2F73-AB7ACF3D3AE9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14 / 16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7" name="画面_d06_edit">
            <a:extLst>
              <a:ext uri="{FF2B5EF4-FFF2-40B4-BE49-F238E27FC236}">
                <a16:creationId xmlns:a16="http://schemas.microsoft.com/office/drawing/2014/main" id="{B14937E5-78CB-C44F-200B-D7D6DEA36D68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68400"/>
            <a:ext cx="4089400" cy="5156200"/>
          </a:xfrm>
          <a:prstGeom prst="rect">
            <a:avLst/>
          </a:prstGeom>
          <a:ln w="9525">
            <a:solidFill>
              <a:srgbClr val="C8D3DF"/>
            </a:solidFill>
          </a:ln>
        </p:spPr>
      </p:pic>
      <p:sp>
        <p:nvSpPr>
          <p:cNvPr id="12" name="赤枠_1">
            <a:extLst>
              <a:ext uri="{FF2B5EF4-FFF2-40B4-BE49-F238E27FC236}">
                <a16:creationId xmlns:a16="http://schemas.microsoft.com/office/drawing/2014/main" id="{8AB6A233-D4C9-6E2D-38DA-95AA5D9622EC}"/>
              </a:ext>
            </a:extLst>
          </p:cNvPr>
          <p:cNvSpPr/>
          <p:nvPr/>
        </p:nvSpPr>
        <p:spPr>
          <a:xfrm>
            <a:off x="874713" y="3943350"/>
            <a:ext cx="1643591" cy="361950"/>
          </a:xfrm>
          <a:prstGeom prst="roundRect">
            <a:avLst>
              <a:gd name="adj" fmla="val 14286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番号_1">
            <a:extLst>
              <a:ext uri="{FF2B5EF4-FFF2-40B4-BE49-F238E27FC236}">
                <a16:creationId xmlns:a16="http://schemas.microsoft.com/office/drawing/2014/main" id="{6E78A896-2513-B654-BFB0-75E5ACBD2301}"/>
              </a:ext>
            </a:extLst>
          </p:cNvPr>
          <p:cNvSpPr/>
          <p:nvPr/>
        </p:nvSpPr>
        <p:spPr>
          <a:xfrm>
            <a:off x="620713" y="4010025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赤枠_2">
            <a:extLst>
              <a:ext uri="{FF2B5EF4-FFF2-40B4-BE49-F238E27FC236}">
                <a16:creationId xmlns:a16="http://schemas.microsoft.com/office/drawing/2014/main" id="{F897D8B0-DBAB-7AE4-A019-24A748A745E4}"/>
              </a:ext>
            </a:extLst>
          </p:cNvPr>
          <p:cNvSpPr/>
          <p:nvPr/>
        </p:nvSpPr>
        <p:spPr>
          <a:xfrm>
            <a:off x="3504671" y="5758392"/>
            <a:ext cx="887942" cy="354541"/>
          </a:xfrm>
          <a:prstGeom prst="roundRect">
            <a:avLst>
              <a:gd name="adj" fmla="val 14286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番号_2">
            <a:extLst>
              <a:ext uri="{FF2B5EF4-FFF2-40B4-BE49-F238E27FC236}">
                <a16:creationId xmlns:a16="http://schemas.microsoft.com/office/drawing/2014/main" id="{B042F6F7-8BB5-BEDC-889E-FA4779EC9379}"/>
              </a:ext>
            </a:extLst>
          </p:cNvPr>
          <p:cNvSpPr/>
          <p:nvPr/>
        </p:nvSpPr>
        <p:spPr>
          <a:xfrm>
            <a:off x="4278313" y="5644092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赤枠_3">
            <a:extLst>
              <a:ext uri="{FF2B5EF4-FFF2-40B4-BE49-F238E27FC236}">
                <a16:creationId xmlns:a16="http://schemas.microsoft.com/office/drawing/2014/main" id="{9A2885CA-D3B0-BD46-25AA-F6B3475E0B57}"/>
              </a:ext>
            </a:extLst>
          </p:cNvPr>
          <p:cNvSpPr/>
          <p:nvPr/>
        </p:nvSpPr>
        <p:spPr>
          <a:xfrm>
            <a:off x="874713" y="5758392"/>
            <a:ext cx="976841" cy="354541"/>
          </a:xfrm>
          <a:prstGeom prst="roundRect">
            <a:avLst>
              <a:gd name="adj" fmla="val 14286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番号_3">
            <a:extLst>
              <a:ext uri="{FF2B5EF4-FFF2-40B4-BE49-F238E27FC236}">
                <a16:creationId xmlns:a16="http://schemas.microsoft.com/office/drawing/2014/main" id="{32DEF7EC-354A-C4BA-983E-08FD1C09A1D6}"/>
              </a:ext>
            </a:extLst>
          </p:cNvPr>
          <p:cNvSpPr/>
          <p:nvPr/>
        </p:nvSpPr>
        <p:spPr>
          <a:xfrm>
            <a:off x="1737254" y="5644092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95296C2-F428-9698-2ACF-5FC56A94E857}"/>
              </a:ext>
            </a:extLst>
          </p:cNvPr>
          <p:cNvSpPr txBox="1"/>
          <p:nvPr/>
        </p:nvSpPr>
        <p:spPr>
          <a:xfrm>
            <a:off x="4953000" y="1168400"/>
            <a:ext cx="67056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自分の予約をクリックする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3FDF306-031A-B0F9-35EE-64C930AE88C5}"/>
              </a:ext>
            </a:extLst>
          </p:cNvPr>
          <p:cNvSpPr txBox="1"/>
          <p:nvPr/>
        </p:nvSpPr>
        <p:spPr>
          <a:xfrm>
            <a:off x="4953000" y="1471833"/>
            <a:ext cx="6705600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「予約を変更」の画面が開きます。日付のマスを押して開く空き状況の「変更」ボタンからも開けます。</a:t>
            </a:r>
          </a:p>
        </p:txBody>
      </p:sp>
      <p:sp>
        <p:nvSpPr>
          <p:cNvPr id="22" name="手順番号_1">
            <a:extLst>
              <a:ext uri="{FF2B5EF4-FFF2-40B4-BE49-F238E27FC236}">
                <a16:creationId xmlns:a16="http://schemas.microsoft.com/office/drawing/2014/main" id="{2F946981-8786-A3D1-732F-C982B7EA04D2}"/>
              </a:ext>
            </a:extLst>
          </p:cNvPr>
          <p:cNvSpPr/>
          <p:nvPr/>
        </p:nvSpPr>
        <p:spPr>
          <a:xfrm>
            <a:off x="4953000" y="2043895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6CBB7F9-A3EE-F61D-14DF-9CF6CE02700C}"/>
              </a:ext>
            </a:extLst>
          </p:cNvPr>
          <p:cNvSpPr txBox="1"/>
          <p:nvPr/>
        </p:nvSpPr>
        <p:spPr>
          <a:xfrm>
            <a:off x="5359400" y="2056595"/>
            <a:ext cx="62992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内容を直す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DC868C6-0DDF-B010-98BC-1A3101EFBA47}"/>
              </a:ext>
            </a:extLst>
          </p:cNvPr>
          <p:cNvSpPr txBox="1"/>
          <p:nvPr/>
        </p:nvSpPr>
        <p:spPr>
          <a:xfrm>
            <a:off x="5359400" y="2360028"/>
            <a:ext cx="62992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件名・時間などを直します。</a:t>
            </a:r>
          </a:p>
        </p:txBody>
      </p:sp>
      <p:sp>
        <p:nvSpPr>
          <p:cNvPr id="26" name="手順番号_2">
            <a:extLst>
              <a:ext uri="{FF2B5EF4-FFF2-40B4-BE49-F238E27FC236}">
                <a16:creationId xmlns:a16="http://schemas.microsoft.com/office/drawing/2014/main" id="{864AAE9F-BC26-4C9E-0C10-FE88B4EFE03E}"/>
              </a:ext>
            </a:extLst>
          </p:cNvPr>
          <p:cNvSpPr/>
          <p:nvPr/>
        </p:nvSpPr>
        <p:spPr>
          <a:xfrm>
            <a:off x="4953000" y="2710876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68A71DE-55E8-E1EA-3EB4-099EFCCC080F}"/>
              </a:ext>
            </a:extLst>
          </p:cNvPr>
          <p:cNvSpPr txBox="1"/>
          <p:nvPr/>
        </p:nvSpPr>
        <p:spPr>
          <a:xfrm>
            <a:off x="5359400" y="2723576"/>
            <a:ext cx="62992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「変更を保存」を押す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CD2E88D-7596-40E4-E1DC-1F763EEAAC3B}"/>
              </a:ext>
            </a:extLst>
          </p:cNvPr>
          <p:cNvSpPr txBox="1"/>
          <p:nvPr/>
        </p:nvSpPr>
        <p:spPr>
          <a:xfrm>
            <a:off x="5359400" y="3027009"/>
            <a:ext cx="62992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予約が新しい内容に変わります。</a:t>
            </a:r>
          </a:p>
        </p:txBody>
      </p:sp>
      <p:sp>
        <p:nvSpPr>
          <p:cNvPr id="29" name="手順番号_3">
            <a:extLst>
              <a:ext uri="{FF2B5EF4-FFF2-40B4-BE49-F238E27FC236}">
                <a16:creationId xmlns:a16="http://schemas.microsoft.com/office/drawing/2014/main" id="{550AFA71-212F-1520-41AC-6FE2C3542EA2}"/>
              </a:ext>
            </a:extLst>
          </p:cNvPr>
          <p:cNvSpPr/>
          <p:nvPr/>
        </p:nvSpPr>
        <p:spPr>
          <a:xfrm>
            <a:off x="4953000" y="3377857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464CB3A-30E5-5F50-1670-8A534B83081C}"/>
              </a:ext>
            </a:extLst>
          </p:cNvPr>
          <p:cNvSpPr txBox="1"/>
          <p:nvPr/>
        </p:nvSpPr>
        <p:spPr>
          <a:xfrm>
            <a:off x="5359400" y="3390557"/>
            <a:ext cx="6299200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「この予約を取消」を押す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5656887-DE3B-F9E5-5372-0EBB6D3345DC}"/>
              </a:ext>
            </a:extLst>
          </p:cNvPr>
          <p:cNvSpPr txBox="1"/>
          <p:nvPr/>
        </p:nvSpPr>
        <p:spPr>
          <a:xfrm>
            <a:off x="5359400" y="3693990"/>
            <a:ext cx="6299200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確認のメッセージで 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OK 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を押すと、予約が取り消されます。</a:t>
            </a:r>
          </a:p>
        </p:txBody>
      </p:sp>
      <p:sp>
        <p:nvSpPr>
          <p:cNvPr id="32" name="補足の枠">
            <a:extLst>
              <a:ext uri="{FF2B5EF4-FFF2-40B4-BE49-F238E27FC236}">
                <a16:creationId xmlns:a16="http://schemas.microsoft.com/office/drawing/2014/main" id="{E62C7A56-45C5-E098-83C3-2DAB241B054F}"/>
              </a:ext>
            </a:extLst>
          </p:cNvPr>
          <p:cNvSpPr/>
          <p:nvPr/>
        </p:nvSpPr>
        <p:spPr>
          <a:xfrm>
            <a:off x="4953000" y="4082938"/>
            <a:ext cx="6705600" cy="701191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4A2B9B9-250C-84C4-EBCC-BBEA6E0FF785}"/>
              </a:ext>
            </a:extLst>
          </p:cNvPr>
          <p:cNvSpPr txBox="1"/>
          <p:nvPr/>
        </p:nvSpPr>
        <p:spPr>
          <a:xfrm>
            <a:off x="5105400" y="4197238"/>
            <a:ext cx="64008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変更できない予約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93668E4-7115-C3C3-7A9E-F460C098C9A5}"/>
              </a:ext>
            </a:extLst>
          </p:cNvPr>
          <p:cNvSpPr txBox="1"/>
          <p:nvPr/>
        </p:nvSpPr>
        <p:spPr>
          <a:xfrm>
            <a:off x="5105400" y="4429109"/>
            <a:ext cx="6400800" cy="202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ほかの人の予約は、クリックしても変更画面が開きません。</a:t>
            </a:r>
          </a:p>
        </p:txBody>
      </p:sp>
    </p:spTree>
    <p:extLst>
      <p:ext uri="{BB962C8B-B14F-4D97-AF65-F5344CB8AC3E}">
        <p14:creationId xmlns:p14="http://schemas.microsoft.com/office/powerpoint/2010/main" val="2926730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予約画面 「＋ 新規予約」から予約する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予約画面の右上の「＋ 新規予約」を押すと開きます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F707271A-DE30-3345-73BF-636DD1B60A89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15 / 16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7" name="画面_d07_new">
            <a:extLst>
              <a:ext uri="{FF2B5EF4-FFF2-40B4-BE49-F238E27FC236}">
                <a16:creationId xmlns:a16="http://schemas.microsoft.com/office/drawing/2014/main" id="{7375BE45-B8CB-771C-8D43-D4518E02177B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68400"/>
            <a:ext cx="3580154" cy="5156200"/>
          </a:xfrm>
          <a:prstGeom prst="rect">
            <a:avLst/>
          </a:prstGeom>
          <a:ln w="9525">
            <a:solidFill>
              <a:srgbClr val="C8D3DF"/>
            </a:solidFill>
          </a:ln>
        </p:spPr>
      </p:pic>
      <p:sp>
        <p:nvSpPr>
          <p:cNvPr id="12" name="赤枠_1">
            <a:extLst>
              <a:ext uri="{FF2B5EF4-FFF2-40B4-BE49-F238E27FC236}">
                <a16:creationId xmlns:a16="http://schemas.microsoft.com/office/drawing/2014/main" id="{20C55E72-EAAE-5FDD-67C4-CF53B6AA96F3}"/>
              </a:ext>
            </a:extLst>
          </p:cNvPr>
          <p:cNvSpPr/>
          <p:nvPr/>
        </p:nvSpPr>
        <p:spPr>
          <a:xfrm>
            <a:off x="829046" y="1992638"/>
            <a:ext cx="1529560" cy="323203"/>
          </a:xfrm>
          <a:prstGeom prst="roundRect">
            <a:avLst>
              <a:gd name="adj" fmla="val 16000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番号_1">
            <a:extLst>
              <a:ext uri="{FF2B5EF4-FFF2-40B4-BE49-F238E27FC236}">
                <a16:creationId xmlns:a16="http://schemas.microsoft.com/office/drawing/2014/main" id="{D22ED39A-E2E1-FFBF-D9C9-81E2AF088569}"/>
              </a:ext>
            </a:extLst>
          </p:cNvPr>
          <p:cNvSpPr/>
          <p:nvPr/>
        </p:nvSpPr>
        <p:spPr>
          <a:xfrm>
            <a:off x="575046" y="2039939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4" name="赤枠_2">
            <a:extLst>
              <a:ext uri="{FF2B5EF4-FFF2-40B4-BE49-F238E27FC236}">
                <a16:creationId xmlns:a16="http://schemas.microsoft.com/office/drawing/2014/main" id="{935EFD35-1FCA-D6BF-E365-E4167AF8C8BA}"/>
              </a:ext>
            </a:extLst>
          </p:cNvPr>
          <p:cNvSpPr/>
          <p:nvPr/>
        </p:nvSpPr>
        <p:spPr>
          <a:xfrm>
            <a:off x="2385635" y="1992638"/>
            <a:ext cx="1529559" cy="323203"/>
          </a:xfrm>
          <a:prstGeom prst="roundRect">
            <a:avLst>
              <a:gd name="adj" fmla="val 16000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番号_2">
            <a:extLst>
              <a:ext uri="{FF2B5EF4-FFF2-40B4-BE49-F238E27FC236}">
                <a16:creationId xmlns:a16="http://schemas.microsoft.com/office/drawing/2014/main" id="{7E67D057-8990-EA0C-05D7-79CA41131952}"/>
              </a:ext>
            </a:extLst>
          </p:cNvPr>
          <p:cNvSpPr/>
          <p:nvPr/>
        </p:nvSpPr>
        <p:spPr>
          <a:xfrm>
            <a:off x="3800894" y="1878338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6" name="赤枠_3">
            <a:extLst>
              <a:ext uri="{FF2B5EF4-FFF2-40B4-BE49-F238E27FC236}">
                <a16:creationId xmlns:a16="http://schemas.microsoft.com/office/drawing/2014/main" id="{4E6C3532-0F3D-B0DA-9394-09E52D3BD3DF}"/>
              </a:ext>
            </a:extLst>
          </p:cNvPr>
          <p:cNvSpPr/>
          <p:nvPr/>
        </p:nvSpPr>
        <p:spPr>
          <a:xfrm>
            <a:off x="829046" y="2485558"/>
            <a:ext cx="1529560" cy="323203"/>
          </a:xfrm>
          <a:prstGeom prst="roundRect">
            <a:avLst>
              <a:gd name="adj" fmla="val 16000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番号_3">
            <a:extLst>
              <a:ext uri="{FF2B5EF4-FFF2-40B4-BE49-F238E27FC236}">
                <a16:creationId xmlns:a16="http://schemas.microsoft.com/office/drawing/2014/main" id="{4F07788C-6BE1-E457-AFA0-FFF86267B8AB}"/>
              </a:ext>
            </a:extLst>
          </p:cNvPr>
          <p:cNvSpPr/>
          <p:nvPr/>
        </p:nvSpPr>
        <p:spPr>
          <a:xfrm>
            <a:off x="575046" y="2532859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0" name="赤枠_4">
            <a:extLst>
              <a:ext uri="{FF2B5EF4-FFF2-40B4-BE49-F238E27FC236}">
                <a16:creationId xmlns:a16="http://schemas.microsoft.com/office/drawing/2014/main" id="{BDB9792F-F2C6-9EC2-8E44-7597D75C1F36}"/>
              </a:ext>
            </a:extLst>
          </p:cNvPr>
          <p:cNvSpPr/>
          <p:nvPr/>
        </p:nvSpPr>
        <p:spPr>
          <a:xfrm>
            <a:off x="3215816" y="5825737"/>
            <a:ext cx="699378" cy="316718"/>
          </a:xfrm>
          <a:prstGeom prst="roundRect">
            <a:avLst>
              <a:gd name="adj" fmla="val 16000"/>
            </a:avLst>
          </a:prstGeom>
          <a:noFill/>
          <a:ln w="28575" cap="flat" cmpd="sng" algn="ctr">
            <a:solidFill>
              <a:srgbClr val="FF1F1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番号_4">
            <a:extLst>
              <a:ext uri="{FF2B5EF4-FFF2-40B4-BE49-F238E27FC236}">
                <a16:creationId xmlns:a16="http://schemas.microsoft.com/office/drawing/2014/main" id="{2B407A33-2F44-E5B8-47DC-5435EE18B465}"/>
              </a:ext>
            </a:extLst>
          </p:cNvPr>
          <p:cNvSpPr/>
          <p:nvPr/>
        </p:nvSpPr>
        <p:spPr>
          <a:xfrm>
            <a:off x="3800894" y="5711437"/>
            <a:ext cx="228600" cy="2286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0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endParaRPr kumimoji="1" lang="ja-JP" altLang="en-US" sz="1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2" name="手順番号_1">
            <a:extLst>
              <a:ext uri="{FF2B5EF4-FFF2-40B4-BE49-F238E27FC236}">
                <a16:creationId xmlns:a16="http://schemas.microsoft.com/office/drawing/2014/main" id="{E6444757-D4CF-F6AC-401B-AA7F4B91C7FC}"/>
              </a:ext>
            </a:extLst>
          </p:cNvPr>
          <p:cNvSpPr/>
          <p:nvPr/>
        </p:nvSpPr>
        <p:spPr>
          <a:xfrm>
            <a:off x="4443754" y="1155700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C7FC814-CCE7-2186-01B9-DB3E466D59EC}"/>
              </a:ext>
            </a:extLst>
          </p:cNvPr>
          <p:cNvSpPr txBox="1"/>
          <p:nvPr/>
        </p:nvSpPr>
        <p:spPr>
          <a:xfrm>
            <a:off x="4850154" y="1168400"/>
            <a:ext cx="6808446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拠点を選ぶ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382527F-4629-C343-1E2D-3A842FA6FF3F}"/>
              </a:ext>
            </a:extLst>
          </p:cNvPr>
          <p:cNvSpPr txBox="1"/>
          <p:nvPr/>
        </p:nvSpPr>
        <p:spPr>
          <a:xfrm>
            <a:off x="4850154" y="1471833"/>
            <a:ext cx="6808446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展示場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吉村一建設は区分け、社用車は部門</a:t>
            </a:r>
            <a:r>
              <a:rPr kumimoji="1" lang="en-US" altLang="ja-JP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を選びます。</a:t>
            </a:r>
          </a:p>
        </p:txBody>
      </p:sp>
      <p:sp>
        <p:nvSpPr>
          <p:cNvPr id="26" name="手順番号_2">
            <a:extLst>
              <a:ext uri="{FF2B5EF4-FFF2-40B4-BE49-F238E27FC236}">
                <a16:creationId xmlns:a16="http://schemas.microsoft.com/office/drawing/2014/main" id="{D40CD371-A378-ED5A-8E00-9F7F585151BE}"/>
              </a:ext>
            </a:extLst>
          </p:cNvPr>
          <p:cNvSpPr/>
          <p:nvPr/>
        </p:nvSpPr>
        <p:spPr>
          <a:xfrm>
            <a:off x="4443754" y="1822681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F16A1AA-31EC-F182-80F1-CC0944A83B7B}"/>
              </a:ext>
            </a:extLst>
          </p:cNvPr>
          <p:cNvSpPr txBox="1"/>
          <p:nvPr/>
        </p:nvSpPr>
        <p:spPr>
          <a:xfrm>
            <a:off x="4850154" y="1835381"/>
            <a:ext cx="6808446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会議室を選ぶ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E732E29-80A4-76EE-A560-821FFBCE1965}"/>
              </a:ext>
            </a:extLst>
          </p:cNvPr>
          <p:cNvSpPr txBox="1"/>
          <p:nvPr/>
        </p:nvSpPr>
        <p:spPr>
          <a:xfrm>
            <a:off x="4850154" y="2138814"/>
            <a:ext cx="6808446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予約する会議室・社用車を選びます。</a:t>
            </a:r>
          </a:p>
        </p:txBody>
      </p:sp>
      <p:sp>
        <p:nvSpPr>
          <p:cNvPr id="29" name="手順番号_3">
            <a:extLst>
              <a:ext uri="{FF2B5EF4-FFF2-40B4-BE49-F238E27FC236}">
                <a16:creationId xmlns:a16="http://schemas.microsoft.com/office/drawing/2014/main" id="{D85D66E0-4908-CA1B-608D-1413D115B5D7}"/>
              </a:ext>
            </a:extLst>
          </p:cNvPr>
          <p:cNvSpPr/>
          <p:nvPr/>
        </p:nvSpPr>
        <p:spPr>
          <a:xfrm>
            <a:off x="4443754" y="2489662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B751618-25C7-06D9-C815-7998533915C0}"/>
              </a:ext>
            </a:extLst>
          </p:cNvPr>
          <p:cNvSpPr txBox="1"/>
          <p:nvPr/>
        </p:nvSpPr>
        <p:spPr>
          <a:xfrm>
            <a:off x="4850154" y="2502362"/>
            <a:ext cx="6808446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日付を選ぶ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B317630-DD8F-BCFA-B167-85C12495577E}"/>
              </a:ext>
            </a:extLst>
          </p:cNvPr>
          <p:cNvSpPr txBox="1"/>
          <p:nvPr/>
        </p:nvSpPr>
        <p:spPr>
          <a:xfrm>
            <a:off x="4850154" y="2805795"/>
            <a:ext cx="6808446" cy="21114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続けて、件名・開始・終了を入力します。</a:t>
            </a:r>
          </a:p>
        </p:txBody>
      </p:sp>
      <p:sp>
        <p:nvSpPr>
          <p:cNvPr id="32" name="手順番号_4">
            <a:extLst>
              <a:ext uri="{FF2B5EF4-FFF2-40B4-BE49-F238E27FC236}">
                <a16:creationId xmlns:a16="http://schemas.microsoft.com/office/drawing/2014/main" id="{690198EA-441B-ACF9-CE64-598C221429AB}"/>
              </a:ext>
            </a:extLst>
          </p:cNvPr>
          <p:cNvSpPr/>
          <p:nvPr/>
        </p:nvSpPr>
        <p:spPr>
          <a:xfrm>
            <a:off x="4443754" y="3156643"/>
            <a:ext cx="279400" cy="279400"/>
          </a:xfrm>
          <a:prstGeom prst="ellipse">
            <a:avLst/>
          </a:prstGeom>
          <a:solidFill>
            <a:srgbClr val="FF1F1F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  <a:endParaRPr kumimoji="1" lang="ja-JP" altLang="en-US" sz="12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B44D7B78-F071-A45E-6CAB-44C0D2730A2C}"/>
              </a:ext>
            </a:extLst>
          </p:cNvPr>
          <p:cNvSpPr txBox="1"/>
          <p:nvPr/>
        </p:nvSpPr>
        <p:spPr>
          <a:xfrm>
            <a:off x="4850154" y="3169343"/>
            <a:ext cx="6808446" cy="2526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500" b="1">
                <a:solidFill>
                  <a:srgbClr val="1E3A5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「予約する」を押す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0C083D69-F618-A575-B390-0263B6956DA1}"/>
              </a:ext>
            </a:extLst>
          </p:cNvPr>
          <p:cNvSpPr txBox="1"/>
          <p:nvPr/>
        </p:nvSpPr>
        <p:spPr>
          <a:xfrm>
            <a:off x="4850154" y="3472776"/>
            <a:ext cx="6808446" cy="4323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5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すでに予約がある時間を選ぶと「この時間帯は既に予約があります」と表示されます。別の時間を選び直してください。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793959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9C2A6-5929-3E8E-7754-E05C8690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73F20-D968-4CBD-876E-18F83346B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830" y="195382"/>
            <a:ext cx="72788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困ったときは</a:t>
            </a:r>
            <a:endParaRPr kumimoji="0" lang="en-US" altLang="ja-JP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9B6D1C-D2B1-D5EE-1F19-64781AF4047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674" y="100131"/>
            <a:ext cx="533168" cy="79672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80CD65C-3CD4-B7D2-BFF3-94A78CA93E8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4231" y="126534"/>
            <a:ext cx="702048" cy="702048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86B6C55-D0C3-FCBC-E9D9-34C05E66C1C8}"/>
              </a:ext>
            </a:extLst>
          </p:cNvPr>
          <p:cNvCxnSpPr/>
          <p:nvPr/>
        </p:nvCxnSpPr>
        <p:spPr>
          <a:xfrm>
            <a:off x="536745" y="636139"/>
            <a:ext cx="9868756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18533AA-D19D-2481-E8B5-A11BC249815C}"/>
              </a:ext>
            </a:extLst>
          </p:cNvPr>
          <p:cNvCxnSpPr/>
          <p:nvPr/>
        </p:nvCxnSpPr>
        <p:spPr>
          <a:xfrm>
            <a:off x="536745" y="599539"/>
            <a:ext cx="9868756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A934EC5-9D4F-A47E-D59E-59867C2B77E6}"/>
              </a:ext>
            </a:extLst>
          </p:cNvPr>
          <p:cNvCxnSpPr/>
          <p:nvPr/>
        </p:nvCxnSpPr>
        <p:spPr>
          <a:xfrm>
            <a:off x="536745" y="676740"/>
            <a:ext cx="9868756" cy="0"/>
          </a:xfrm>
          <a:prstGeom prst="line">
            <a:avLst/>
          </a:prstGeom>
          <a:ln w="22225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CFC3A2B-4F0C-11F8-558C-4E28878BC9AE}"/>
              </a:ext>
            </a:extLst>
          </p:cNvPr>
          <p:cNvCxnSpPr>
            <a:cxnSpLocks/>
          </p:cNvCxnSpPr>
          <p:nvPr/>
        </p:nvCxnSpPr>
        <p:spPr>
          <a:xfrm>
            <a:off x="536745" y="6482541"/>
            <a:ext cx="11396318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0800714F-B115-FAE7-8609-32604F555E77}"/>
              </a:ext>
            </a:extLst>
          </p:cNvPr>
          <p:cNvCxnSpPr>
            <a:cxnSpLocks/>
          </p:cNvCxnSpPr>
          <p:nvPr/>
        </p:nvCxnSpPr>
        <p:spPr>
          <a:xfrm>
            <a:off x="536745" y="6437990"/>
            <a:ext cx="11396318" cy="0"/>
          </a:xfrm>
          <a:prstGeom prst="line">
            <a:avLst/>
          </a:prstGeom>
          <a:ln w="22225">
            <a:solidFill>
              <a:srgbClr val="FF1F1F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19517701-62CE-8D53-BAED-CBE50132FC1C}"/>
              </a:ext>
            </a:extLst>
          </p:cNvPr>
          <p:cNvCxnSpPr>
            <a:cxnSpLocks/>
          </p:cNvCxnSpPr>
          <p:nvPr/>
        </p:nvCxnSpPr>
        <p:spPr>
          <a:xfrm>
            <a:off x="536745" y="6523142"/>
            <a:ext cx="11396318" cy="0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0EFD285-CF9F-4672-1D90-656F01F3F761}"/>
              </a:ext>
            </a:extLst>
          </p:cNvPr>
          <p:cNvSpPr txBox="1"/>
          <p:nvPr/>
        </p:nvSpPr>
        <p:spPr>
          <a:xfrm>
            <a:off x="479056" y="715603"/>
            <a:ext cx="8128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400"/>
              <a:t>よくある質問</a:t>
            </a:r>
            <a:endParaRPr lang="en-US" altLang="ja-JP" sz="1400" dirty="0"/>
          </a:p>
        </p:txBody>
      </p:sp>
      <p:sp>
        <p:nvSpPr>
          <p:cNvPr id="3" name="ページ番号">
            <a:extLst>
              <a:ext uri="{FF2B5EF4-FFF2-40B4-BE49-F238E27FC236}">
                <a16:creationId xmlns:a16="http://schemas.microsoft.com/office/drawing/2014/main" id="{504DF5A6-5F8B-DB94-940C-6EBD83AD3EF1}"/>
              </a:ext>
            </a:extLst>
          </p:cNvPr>
          <p:cNvSpPr txBox="1"/>
          <p:nvPr/>
        </p:nvSpPr>
        <p:spPr>
          <a:xfrm>
            <a:off x="10134600" y="6578600"/>
            <a:ext cx="1524000" cy="168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15000"/>
              </a:lnSpc>
            </a:pPr>
            <a:r>
              <a:rPr kumimoji="1" lang="en-US" altLang="ja-JP" sz="1000">
                <a:solidFill>
                  <a:srgbClr val="6B7D8F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16 / 16</a:t>
            </a:r>
            <a:endParaRPr kumimoji="1" lang="ja-JP" altLang="en-US" sz="1000">
              <a:solidFill>
                <a:srgbClr val="6B7D8F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" name="補足の枠">
            <a:extLst>
              <a:ext uri="{FF2B5EF4-FFF2-40B4-BE49-F238E27FC236}">
                <a16:creationId xmlns:a16="http://schemas.microsoft.com/office/drawing/2014/main" id="{878A0DA0-E208-817A-CEE4-8DA7DFBA920B}"/>
              </a:ext>
            </a:extLst>
          </p:cNvPr>
          <p:cNvSpPr/>
          <p:nvPr/>
        </p:nvSpPr>
        <p:spPr>
          <a:xfrm>
            <a:off x="533400" y="1219200"/>
            <a:ext cx="5435600" cy="913556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0CF2237-227E-9EB8-E029-3DC1D3842742}"/>
              </a:ext>
            </a:extLst>
          </p:cNvPr>
          <p:cNvSpPr txBox="1"/>
          <p:nvPr/>
        </p:nvSpPr>
        <p:spPr>
          <a:xfrm>
            <a:off x="685800" y="1333500"/>
            <a:ext cx="51308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「この時間帯は既に予約があります」と表示される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A10BE6F-7BB8-042D-7920-22784DA64D78}"/>
              </a:ext>
            </a:extLst>
          </p:cNvPr>
          <p:cNvSpPr txBox="1"/>
          <p:nvPr/>
        </p:nvSpPr>
        <p:spPr>
          <a:xfrm>
            <a:off x="685800" y="1565371"/>
            <a:ext cx="513080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入力している間に、ほかの人が先に予約しました。別の時間か、別の会議室・社用車を選んでください。</a:t>
            </a:r>
          </a:p>
        </p:txBody>
      </p:sp>
      <p:sp>
        <p:nvSpPr>
          <p:cNvPr id="13" name="補足の枠">
            <a:extLst>
              <a:ext uri="{FF2B5EF4-FFF2-40B4-BE49-F238E27FC236}">
                <a16:creationId xmlns:a16="http://schemas.microsoft.com/office/drawing/2014/main" id="{31ECF331-1BBC-1215-2AA0-A8054508E7D0}"/>
              </a:ext>
            </a:extLst>
          </p:cNvPr>
          <p:cNvSpPr/>
          <p:nvPr/>
        </p:nvSpPr>
        <p:spPr>
          <a:xfrm>
            <a:off x="6223000" y="1219200"/>
            <a:ext cx="5435600" cy="913556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998621E-13D7-CB85-CCA2-B6CC486253AE}"/>
              </a:ext>
            </a:extLst>
          </p:cNvPr>
          <p:cNvSpPr txBox="1"/>
          <p:nvPr/>
        </p:nvSpPr>
        <p:spPr>
          <a:xfrm>
            <a:off x="6375400" y="1333500"/>
            <a:ext cx="51308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「この時間帯に空いている会議室はありません」と表示される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B83E255-92F8-B46B-7CFE-E5A9C2D0868B}"/>
              </a:ext>
            </a:extLst>
          </p:cNvPr>
          <p:cNvSpPr txBox="1"/>
          <p:nvPr/>
        </p:nvSpPr>
        <p:spPr>
          <a:xfrm>
            <a:off x="6375400" y="1565371"/>
            <a:ext cx="513080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その時間は全て予約済みです。時間か拠点を変えてください。空き状況で空いている時間を確かめると便利です。</a:t>
            </a:r>
          </a:p>
        </p:txBody>
      </p:sp>
      <p:sp>
        <p:nvSpPr>
          <p:cNvPr id="16" name="補足の枠">
            <a:extLst>
              <a:ext uri="{FF2B5EF4-FFF2-40B4-BE49-F238E27FC236}">
                <a16:creationId xmlns:a16="http://schemas.microsoft.com/office/drawing/2014/main" id="{763712CF-906F-3ABD-92F1-E4FD5B9DC5E8}"/>
              </a:ext>
            </a:extLst>
          </p:cNvPr>
          <p:cNvSpPr/>
          <p:nvPr/>
        </p:nvSpPr>
        <p:spPr>
          <a:xfrm>
            <a:off x="533400" y="2285156"/>
            <a:ext cx="5435600" cy="913556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74BC660-64A1-365D-121A-492DDDE53EFF}"/>
              </a:ext>
            </a:extLst>
          </p:cNvPr>
          <p:cNvSpPr txBox="1"/>
          <p:nvPr/>
        </p:nvSpPr>
        <p:spPr>
          <a:xfrm>
            <a:off x="685800" y="2399456"/>
            <a:ext cx="51308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使いたい会議室が一覧に出てこない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3D06604-D06E-580B-8E61-6AC1F65D69A1}"/>
              </a:ext>
            </a:extLst>
          </p:cNvPr>
          <p:cNvSpPr txBox="1"/>
          <p:nvPr/>
        </p:nvSpPr>
        <p:spPr>
          <a:xfrm>
            <a:off x="685800" y="2631327"/>
            <a:ext cx="513080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その時間に予約が入っています。右側の空き状況で、誰が予約しているか確かめてください。</a:t>
            </a:r>
          </a:p>
        </p:txBody>
      </p:sp>
      <p:sp>
        <p:nvSpPr>
          <p:cNvPr id="21" name="補足の枠">
            <a:extLst>
              <a:ext uri="{FF2B5EF4-FFF2-40B4-BE49-F238E27FC236}">
                <a16:creationId xmlns:a16="http://schemas.microsoft.com/office/drawing/2014/main" id="{F518595F-BEAE-35D5-9C47-861A911AE3FD}"/>
              </a:ext>
            </a:extLst>
          </p:cNvPr>
          <p:cNvSpPr/>
          <p:nvPr/>
        </p:nvSpPr>
        <p:spPr>
          <a:xfrm>
            <a:off x="6223000" y="2285156"/>
            <a:ext cx="5435600" cy="913556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F6ACC0C-7FCA-CDE6-E4C8-680E88C4BFC1}"/>
              </a:ext>
            </a:extLst>
          </p:cNvPr>
          <p:cNvSpPr txBox="1"/>
          <p:nvPr/>
        </p:nvSpPr>
        <p:spPr>
          <a:xfrm>
            <a:off x="6375400" y="2399456"/>
            <a:ext cx="51308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「承諾待ち」がなかなか消えない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96CA3C4-8ABC-EB80-BE8B-E6EC57681EB0}"/>
              </a:ext>
            </a:extLst>
          </p:cNvPr>
          <p:cNvSpPr txBox="1"/>
          <p:nvPr/>
        </p:nvSpPr>
        <p:spPr>
          <a:xfrm>
            <a:off x="6375400" y="2631327"/>
            <a:ext cx="513080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少し待ってから、画面を再読み込み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(F5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キー</a:t>
            </a:r>
            <a:r>
              <a:rPr kumimoji="1" lang="en-US" altLang="ja-JP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)</a:t>
            </a: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してください。長く消えない場合は、管理者にご相談ください。</a:t>
            </a:r>
          </a:p>
        </p:txBody>
      </p:sp>
      <p:sp>
        <p:nvSpPr>
          <p:cNvPr id="24" name="補足の枠">
            <a:extLst>
              <a:ext uri="{FF2B5EF4-FFF2-40B4-BE49-F238E27FC236}">
                <a16:creationId xmlns:a16="http://schemas.microsoft.com/office/drawing/2014/main" id="{075D77B2-38E9-0529-B532-0C5C50C15B17}"/>
              </a:ext>
            </a:extLst>
          </p:cNvPr>
          <p:cNvSpPr/>
          <p:nvPr/>
        </p:nvSpPr>
        <p:spPr>
          <a:xfrm>
            <a:off x="533400" y="3351112"/>
            <a:ext cx="5435600" cy="913556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89A65F1-5AEA-4950-86A0-335E814624BC}"/>
              </a:ext>
            </a:extLst>
          </p:cNvPr>
          <p:cNvSpPr txBox="1"/>
          <p:nvPr/>
        </p:nvSpPr>
        <p:spPr>
          <a:xfrm>
            <a:off x="685800" y="3465412"/>
            <a:ext cx="51308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ほかの人の予約を取り消したい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ABB335B-B1E9-FE11-8535-822F84F042DF}"/>
              </a:ext>
            </a:extLst>
          </p:cNvPr>
          <p:cNvSpPr txBox="1"/>
          <p:nvPr/>
        </p:nvSpPr>
        <p:spPr>
          <a:xfrm>
            <a:off x="685800" y="3697283"/>
            <a:ext cx="513080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予約した本人に依頼してください。急ぎの場合は、各拠点の担当者にご相談ください。</a:t>
            </a:r>
          </a:p>
        </p:txBody>
      </p:sp>
      <p:sp>
        <p:nvSpPr>
          <p:cNvPr id="28" name="補足の枠">
            <a:extLst>
              <a:ext uri="{FF2B5EF4-FFF2-40B4-BE49-F238E27FC236}">
                <a16:creationId xmlns:a16="http://schemas.microsoft.com/office/drawing/2014/main" id="{2ED691AB-C766-0B85-60B3-BE952A0F7CC9}"/>
              </a:ext>
            </a:extLst>
          </p:cNvPr>
          <p:cNvSpPr/>
          <p:nvPr/>
        </p:nvSpPr>
        <p:spPr>
          <a:xfrm>
            <a:off x="6223000" y="3351112"/>
            <a:ext cx="5435600" cy="913556"/>
          </a:xfrm>
          <a:prstGeom prst="roundRect">
            <a:avLst>
              <a:gd name="adj" fmla="val 12000"/>
            </a:avLst>
          </a:prstGeom>
          <a:solidFill>
            <a:srgbClr val="F2F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E34CBFB-050A-F44B-BEF8-0D8D730D9295}"/>
              </a:ext>
            </a:extLst>
          </p:cNvPr>
          <p:cNvSpPr txBox="1"/>
          <p:nvPr/>
        </p:nvSpPr>
        <p:spPr>
          <a:xfrm>
            <a:off x="6375400" y="3465412"/>
            <a:ext cx="5130800" cy="19377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 b="1">
                <a:solidFill>
                  <a:srgbClr val="1E5FA8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予約画面で「過去の日時は予約できません」と表示される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6F1CE46-237E-287B-FA4F-E402E18BB860}"/>
              </a:ext>
            </a:extLst>
          </p:cNvPr>
          <p:cNvSpPr txBox="1"/>
          <p:nvPr/>
        </p:nvSpPr>
        <p:spPr>
          <a:xfrm>
            <a:off x="6375400" y="3697283"/>
            <a:ext cx="5130800" cy="4149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1C2B3A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今より前の日時は予約できません。日付・時間を、今より後に選び直してください。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636107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11351</TotalTime>
  <Words>1993</Words>
  <Application>Microsoft Office PowerPoint</Application>
  <PresentationFormat>ワイド画面</PresentationFormat>
  <Paragraphs>257</Paragraphs>
  <Slides>16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貸出用</dc:creator>
  <cp:lastModifiedBy>本田 洋介  (吉村一建設)</cp:lastModifiedBy>
  <cp:revision>268</cp:revision>
  <cp:lastPrinted>2026-05-27T00:44:21Z</cp:lastPrinted>
  <dcterms:created xsi:type="dcterms:W3CDTF">2025-08-20T01:11:28Z</dcterms:created>
  <dcterms:modified xsi:type="dcterms:W3CDTF">2026-10-17T06:34:53Z</dcterms:modified>
</cp:coreProperties>
</file>