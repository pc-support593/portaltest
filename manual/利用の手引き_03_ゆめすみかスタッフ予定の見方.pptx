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9"/>
  </p:notesMasterIdLst>
  <p:sldIdLst>
    <p:sldId id="358" r:id="rId2"/>
    <p:sldId id="364" r:id="rId3"/>
    <p:sldId id="363" r:id="rId4"/>
    <p:sldId id="362" r:id="rId5"/>
    <p:sldId id="361" r:id="rId6"/>
    <p:sldId id="360" r:id="rId7"/>
    <p:sldId id="359" r:id="rId8"/>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767" autoAdjust="0"/>
  </p:normalViewPr>
  <p:slideViewPr>
    <p:cSldViewPr snapToGrid="0">
      <p:cViewPr varScale="1">
        <p:scale>
          <a:sx n="120" d="100"/>
          <a:sy n="120" d="100"/>
        </p:scale>
        <p:origin x="12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015EF576-4207-4CD5-9651-A9CCCB475C07}" type="datetimeFigureOut">
              <a:rPr kumimoji="1" lang="ja-JP" altLang="en-US" smtClean="0"/>
              <a:t>2026/10/16</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5F0A2031-74A8-4F5F-801A-68C5EE78D97D}" type="slidenum">
              <a:rPr kumimoji="1" lang="ja-JP" altLang="en-US" smtClean="0"/>
              <a:t>‹#›</a:t>
            </a:fld>
            <a:endParaRPr kumimoji="1" lang="ja-JP" altLang="en-US"/>
          </a:p>
        </p:txBody>
      </p:sp>
    </p:spTree>
    <p:extLst>
      <p:ext uri="{BB962C8B-B14F-4D97-AF65-F5344CB8AC3E}">
        <p14:creationId xmlns:p14="http://schemas.microsoft.com/office/powerpoint/2010/main" val="20321412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A1678A-8AF9-6D7F-52B1-98AD421BD96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F5C09E8-AC07-655E-0811-398FD21BB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5FE1FFA-4911-C272-0AAA-0890DA9B9AA8}"/>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C7B15150-5BD5-E1FD-C0DA-50B880BF13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522C591-2B23-18F3-2179-D9F7EFFAF1FA}"/>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209592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6F6BB4-8D38-A7D9-01C3-AFD3739651A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1C8BC7-63BF-A91D-C2E6-B0F2AE68CC2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45B07FB-BCDA-A8BA-3B1C-2200869C38C5}"/>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AFA78D63-9149-C5CC-4919-FA5E5A8665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5E91FC0-97F1-7D55-3985-7A5E5ECD3973}"/>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2877119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3994AD-A9F5-8AAE-1679-06C5788A79C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FA03A1-25CF-F376-B0D0-72EA1D2955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E47ADDA-A1AC-E205-39F7-53A3E6591A06}"/>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C035EFDC-5028-E33E-E1A5-AB2E7E8654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49525F-302E-2CC3-6F72-12A40A2B8A8B}"/>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4067157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CB4C15-E312-828B-B460-7D065484C42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6753E09-BF63-1687-32CA-1C33E050434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0EEB7F5-F8C2-6223-B235-9571A048B5F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D35CF89-1484-6DDE-0BF8-195C8EDFD1C7}"/>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6" name="フッター プレースホルダー 5">
            <a:extLst>
              <a:ext uri="{FF2B5EF4-FFF2-40B4-BE49-F238E27FC236}">
                <a16:creationId xmlns:a16="http://schemas.microsoft.com/office/drawing/2014/main" id="{87527E0D-5F86-FF72-455D-FD59C071B0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4EAF2F1-7FCF-95CA-0F59-ADEBB934B500}"/>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4156683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8FCB45-C057-6896-BA59-C7F9682CBE9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169E0B0-52BC-DECD-9504-F502D5155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B645FCC-66BD-0675-4725-B129E356BA1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A438873-91F3-72AF-1009-9FC3237053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B3DFDF9-79EF-4DAB-3A17-C8BF352E14B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52C687B-D5D6-7C0F-8488-7669F9BDED83}"/>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8" name="フッター プレースホルダー 7">
            <a:extLst>
              <a:ext uri="{FF2B5EF4-FFF2-40B4-BE49-F238E27FC236}">
                <a16:creationId xmlns:a16="http://schemas.microsoft.com/office/drawing/2014/main" id="{86663F3D-8EC3-EAE2-FC33-DE62633E5F8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45367F3-C9FD-4C00-FDB6-F879B76D29D2}"/>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391239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27FEB-EF44-766E-F153-B1261290A01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9CD4881-F5E5-46D2-F745-67A6051045B3}"/>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4" name="フッター プレースホルダー 3">
            <a:extLst>
              <a:ext uri="{FF2B5EF4-FFF2-40B4-BE49-F238E27FC236}">
                <a16:creationId xmlns:a16="http://schemas.microsoft.com/office/drawing/2014/main" id="{351633E2-A09C-BD88-8D15-F657E4C3861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5960823-F762-A2EE-3567-0DB3DE4A8971}"/>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11814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0637BEE-10B4-1E70-9F0A-EC6E3F1D8D9E}"/>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3" name="フッター プレースホルダー 2">
            <a:extLst>
              <a:ext uri="{FF2B5EF4-FFF2-40B4-BE49-F238E27FC236}">
                <a16:creationId xmlns:a16="http://schemas.microsoft.com/office/drawing/2014/main" id="{8CB8C19E-F6F7-937E-DCAE-EC80960A543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068700D-0FC2-C89F-D386-DC8E4D61AABA}"/>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193586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03814-C0B1-02FE-EB94-67187308F73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9A48310-A4E7-2CDF-331C-B6961757AB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9424BA7-DD2B-218C-42AA-EEFB8952C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FA69EC3-065B-036F-620F-D26F37EDAE24}"/>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6" name="フッター プレースホルダー 5">
            <a:extLst>
              <a:ext uri="{FF2B5EF4-FFF2-40B4-BE49-F238E27FC236}">
                <a16:creationId xmlns:a16="http://schemas.microsoft.com/office/drawing/2014/main" id="{75B30AAC-8EC8-0A0D-6185-9342854F928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6D4BDE-572C-1575-FD01-8E6DCCDAE578}"/>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123404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582BC4-7D37-FC09-1FF1-AF516FA7B7F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6D91333-E304-C5B5-09DC-B3A5B9D5C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338F476-295E-CC6D-AB12-A7CE94CF3C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CA78699-86B5-70E9-A5F3-29F9B625EBFB}"/>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6" name="フッター プレースホルダー 5">
            <a:extLst>
              <a:ext uri="{FF2B5EF4-FFF2-40B4-BE49-F238E27FC236}">
                <a16:creationId xmlns:a16="http://schemas.microsoft.com/office/drawing/2014/main" id="{D8A32EFE-D1D5-45DD-13DE-CD679B952CC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97AFDF-A5BF-4769-D6D4-4B80E6894039}"/>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4184417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C31EF-7FAC-8AB3-90F2-C8D6845B3CB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4D76B4-445F-CE0E-30FE-8F5A5EEF7F2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2815B99-5786-232D-BEE7-37FC83D6F932}"/>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582BB0A3-5E99-50A6-D49F-C47CD8F6CA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42B317F-D288-AA02-BC87-EA91A2EAB4E2}"/>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236990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66C31AE-829D-6357-80F4-7875E808BA2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0EA1C9-1767-8BF3-E6C0-93D82A6B83E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E2B84B-6A16-937B-8763-75A10294C8E2}"/>
              </a:ext>
            </a:extLst>
          </p:cNvPr>
          <p:cNvSpPr>
            <a:spLocks noGrp="1"/>
          </p:cNvSpPr>
          <p:nvPr>
            <p:ph type="dt" sz="half" idx="10"/>
          </p:nvPr>
        </p:nvSpPr>
        <p:spPr/>
        <p:txBody>
          <a:bodyPr/>
          <a:lstStyle/>
          <a:p>
            <a:fld id="{016AF9CE-A517-4FF6-8271-E974169160D5}"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FAAB32A7-1588-38AF-D9CC-C9B671CF01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4DFC2B-F277-56DB-90DD-CBC7B6CE0FF9}"/>
              </a:ext>
            </a:extLst>
          </p:cNvPr>
          <p:cNvSpPr>
            <a:spLocks noGrp="1"/>
          </p:cNvSpPr>
          <p:nvPr>
            <p:ph type="sldNum" sz="quarter" idx="12"/>
          </p:nvPr>
        </p:nvSpPr>
        <p:spPr/>
        <p:txBody>
          <a:body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1497402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ACCB434-B36D-D2B5-F922-7684B9A6B4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16353B-B33F-17D8-0814-6816DE6B6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F502CE7-36FD-4973-D49D-A3C0C97C17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6AF9CE-A517-4FF6-8271-E974169160D5}" type="datetimeFigureOut">
              <a:rPr kumimoji="1" lang="ja-JP" altLang="en-US" smtClean="0"/>
              <a:t>2026/10/16</a:t>
            </a:fld>
            <a:endParaRPr kumimoji="1" lang="ja-JP" altLang="en-US"/>
          </a:p>
        </p:txBody>
      </p:sp>
      <p:sp>
        <p:nvSpPr>
          <p:cNvPr id="5" name="フッター プレースホルダー 4">
            <a:extLst>
              <a:ext uri="{FF2B5EF4-FFF2-40B4-BE49-F238E27FC236}">
                <a16:creationId xmlns:a16="http://schemas.microsoft.com/office/drawing/2014/main" id="{63AED8A9-3C56-1529-C4B7-D61A1CC90F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03B9930-43F8-247C-B5B9-617A067C7C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7CCA63-D578-48C7-8899-2D15334160E0}" type="slidenum">
              <a:rPr kumimoji="1" lang="ja-JP" altLang="en-US" smtClean="0"/>
              <a:t>‹#›</a:t>
            </a:fld>
            <a:endParaRPr kumimoji="1" lang="ja-JP" altLang="en-US"/>
          </a:p>
        </p:txBody>
      </p:sp>
    </p:spTree>
    <p:extLst>
      <p:ext uri="{BB962C8B-B14F-4D97-AF65-F5344CB8AC3E}">
        <p14:creationId xmlns:p14="http://schemas.microsoft.com/office/powerpoint/2010/main" val="209493722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社内ポータル 利用の手引き</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ja-JP" altLang="en-US" sz="1400"/>
              <a:t>一般社員向け ・ </a:t>
            </a:r>
            <a:r>
              <a:rPr lang="en-US" altLang="ja-JP" sz="1400"/>
              <a:t>2026</a:t>
            </a:r>
            <a:r>
              <a:rPr lang="ja-JP" altLang="en-US" sz="1400"/>
              <a:t>年</a:t>
            </a:r>
            <a:r>
              <a:rPr lang="en-US" altLang="ja-JP" sz="1400"/>
              <a:t>10</a:t>
            </a:r>
            <a:r>
              <a:rPr lang="ja-JP" altLang="en-US" sz="1400"/>
              <a:t>月版</a:t>
            </a:r>
            <a:endParaRPr lang="en-US" altLang="ja-JP" sz="1400" dirty="0"/>
          </a:p>
        </p:txBody>
      </p:sp>
      <p:sp>
        <p:nvSpPr>
          <p:cNvPr id="3" name="テキスト ボックス 2">
            <a:extLst>
              <a:ext uri="{FF2B5EF4-FFF2-40B4-BE49-F238E27FC236}">
                <a16:creationId xmlns:a16="http://schemas.microsoft.com/office/drawing/2014/main" id="{EEAE3DC0-1945-9C83-F88E-84325205C797}"/>
              </a:ext>
            </a:extLst>
          </p:cNvPr>
          <p:cNvSpPr txBox="1"/>
          <p:nvPr/>
        </p:nvSpPr>
        <p:spPr>
          <a:xfrm>
            <a:off x="533400" y="2159000"/>
            <a:ext cx="11125200" cy="303225"/>
          </a:xfrm>
          <a:prstGeom prst="rect">
            <a:avLst/>
          </a:prstGeom>
          <a:noFill/>
        </p:spPr>
        <p:txBody>
          <a:bodyPr vert="horz" wrap="square" lIns="0" tIns="0" rIns="0" bIns="0" rtlCol="0">
            <a:spAutoFit/>
          </a:bodyPr>
          <a:lstStyle/>
          <a:p>
            <a:pPr algn="ctr">
              <a:lnSpc>
                <a:spcPct val="115000"/>
              </a:lnSpc>
            </a:pPr>
            <a:r>
              <a:rPr kumimoji="1" lang="ja-JP" altLang="en-US" b="1">
                <a:solidFill>
                  <a:srgbClr val="1E5FA8"/>
                </a:solidFill>
                <a:latin typeface="游ゴシック" panose="020B0400000000000000" pitchFamily="50" charset="-128"/>
                <a:ea typeface="游ゴシック" panose="020B0400000000000000" pitchFamily="50" charset="-128"/>
              </a:rPr>
              <a:t>操作マニュアル</a:t>
            </a:r>
          </a:p>
        </p:txBody>
      </p:sp>
      <p:sp>
        <p:nvSpPr>
          <p:cNvPr id="4" name="テキスト ボックス 3">
            <a:extLst>
              <a:ext uri="{FF2B5EF4-FFF2-40B4-BE49-F238E27FC236}">
                <a16:creationId xmlns:a16="http://schemas.microsoft.com/office/drawing/2014/main" id="{91C5DA38-DBCC-0FE8-47A2-65F847CF716B}"/>
              </a:ext>
            </a:extLst>
          </p:cNvPr>
          <p:cNvSpPr txBox="1"/>
          <p:nvPr/>
        </p:nvSpPr>
        <p:spPr>
          <a:xfrm>
            <a:off x="533400" y="2640025"/>
            <a:ext cx="11125200" cy="606448"/>
          </a:xfrm>
          <a:prstGeom prst="rect">
            <a:avLst/>
          </a:prstGeom>
          <a:noFill/>
        </p:spPr>
        <p:txBody>
          <a:bodyPr vert="horz" wrap="square" lIns="0" tIns="0" rIns="0" bIns="0" rtlCol="0">
            <a:spAutoFit/>
          </a:bodyPr>
          <a:lstStyle/>
          <a:p>
            <a:pPr algn="ctr">
              <a:lnSpc>
                <a:spcPct val="115000"/>
              </a:lnSpc>
            </a:pPr>
            <a:r>
              <a:rPr kumimoji="1" lang="ja-JP" altLang="en-US" sz="3600" b="1">
                <a:solidFill>
                  <a:srgbClr val="1E3A5F"/>
                </a:solidFill>
                <a:latin typeface="游ゴシック" panose="020B0400000000000000" pitchFamily="50" charset="-128"/>
                <a:ea typeface="游ゴシック" panose="020B0400000000000000" pitchFamily="50" charset="-128"/>
              </a:rPr>
              <a:t>スタッフ予定を見る</a:t>
            </a:r>
          </a:p>
        </p:txBody>
      </p:sp>
      <p:sp>
        <p:nvSpPr>
          <p:cNvPr id="7" name="テキスト ボックス 6">
            <a:extLst>
              <a:ext uri="{FF2B5EF4-FFF2-40B4-BE49-F238E27FC236}">
                <a16:creationId xmlns:a16="http://schemas.microsoft.com/office/drawing/2014/main" id="{B49F7F4A-5253-DCFB-515F-9B78A18E405B}"/>
              </a:ext>
            </a:extLst>
          </p:cNvPr>
          <p:cNvSpPr txBox="1"/>
          <p:nvPr/>
        </p:nvSpPr>
        <p:spPr>
          <a:xfrm>
            <a:off x="533400" y="3424273"/>
            <a:ext cx="11125200" cy="303929"/>
          </a:xfrm>
          <a:prstGeom prst="rect">
            <a:avLst/>
          </a:prstGeom>
          <a:noFill/>
        </p:spPr>
        <p:txBody>
          <a:bodyPr vert="horz" wrap="square" lIns="0" tIns="0" rIns="0" bIns="0" rtlCol="0">
            <a:spAutoFit/>
          </a:bodyPr>
          <a:lstStyle/>
          <a:p>
            <a:pPr algn="ctr">
              <a:lnSpc>
                <a:spcPct val="115000"/>
              </a:lnSpc>
            </a:pPr>
            <a:r>
              <a:rPr kumimoji="1" lang="ja-JP" altLang="en-US">
                <a:solidFill>
                  <a:srgbClr val="1C2B3A"/>
                </a:solidFill>
                <a:latin typeface="游ゴシック" panose="020B0400000000000000" pitchFamily="50" charset="-128"/>
                <a:ea typeface="游ゴシック" panose="020B0400000000000000" pitchFamily="50" charset="-128"/>
              </a:rPr>
              <a:t>ゆめすみかスタッフ予定の見方</a:t>
            </a:r>
          </a:p>
        </p:txBody>
      </p:sp>
      <p:sp>
        <p:nvSpPr>
          <p:cNvPr id="12" name="テキスト ボックス 11">
            <a:extLst>
              <a:ext uri="{FF2B5EF4-FFF2-40B4-BE49-F238E27FC236}">
                <a16:creationId xmlns:a16="http://schemas.microsoft.com/office/drawing/2014/main" id="{E4E47678-B807-6311-89AE-F274C6D22B89}"/>
              </a:ext>
            </a:extLst>
          </p:cNvPr>
          <p:cNvSpPr txBox="1"/>
          <p:nvPr/>
        </p:nvSpPr>
        <p:spPr>
          <a:xfrm>
            <a:off x="533400" y="5334000"/>
            <a:ext cx="11125200" cy="202620"/>
          </a:xfrm>
          <a:prstGeom prst="rect">
            <a:avLst/>
          </a:prstGeom>
          <a:noFill/>
        </p:spPr>
        <p:txBody>
          <a:bodyPr vert="horz" wrap="square" lIns="0" tIns="0" rIns="0" bIns="0" rtlCol="0">
            <a:spAutoFit/>
          </a:bodyPr>
          <a:lstStyle/>
          <a:p>
            <a:pPr algn="ctr">
              <a:lnSpc>
                <a:spcPct val="115000"/>
              </a:lnSpc>
            </a:pPr>
            <a:r>
              <a:rPr kumimoji="1" lang="ja-JP" altLang="en-US" sz="1200">
                <a:solidFill>
                  <a:srgbClr val="6B7D8F"/>
                </a:solidFill>
                <a:latin typeface="游ゴシック" panose="020B0400000000000000" pitchFamily="50" charset="-128"/>
                <a:ea typeface="游ゴシック" panose="020B0400000000000000" pitchFamily="50" charset="-128"/>
              </a:rPr>
              <a:t>画面に表示されている名前・予定は、説明用の例です</a:t>
            </a:r>
          </a:p>
        </p:txBody>
      </p:sp>
    </p:spTree>
    <p:extLst>
      <p:ext uri="{BB962C8B-B14F-4D97-AF65-F5344CB8AC3E}">
        <p14:creationId xmlns:p14="http://schemas.microsoft.com/office/powerpoint/2010/main" val="4154817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スタッフ予定でできること</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ja-JP" altLang="en-US" sz="1400"/>
              <a:t>展示場ごとに、スタッフ全員の予定を</a:t>
            </a:r>
            <a:r>
              <a:rPr lang="en-US" altLang="ja-JP" sz="1400"/>
              <a:t>2</a:t>
            </a:r>
            <a:r>
              <a:rPr lang="ja-JP" altLang="en-US" sz="1400"/>
              <a:t>週間分まとめて見られます</a:t>
            </a:r>
            <a:endParaRPr lang="en-US" altLang="ja-JP" sz="1400" dirty="0"/>
          </a:p>
        </p:txBody>
      </p:sp>
      <p:sp>
        <p:nvSpPr>
          <p:cNvPr id="3" name="ページ番号">
            <a:extLst>
              <a:ext uri="{FF2B5EF4-FFF2-40B4-BE49-F238E27FC236}">
                <a16:creationId xmlns:a16="http://schemas.microsoft.com/office/drawing/2014/main" id="{26384FF1-6C1C-72CE-09EA-AC84EDA1D328}"/>
              </a:ext>
            </a:extLst>
          </p:cNvPr>
          <p:cNvSpPr txBox="1"/>
          <p:nvPr/>
        </p:nvSpPr>
        <p:spPr>
          <a:xfrm>
            <a:off x="10134600" y="6578600"/>
            <a:ext cx="1524000" cy="168829"/>
          </a:xfrm>
          <a:prstGeom prst="rect">
            <a:avLst/>
          </a:prstGeom>
          <a:noFill/>
        </p:spPr>
        <p:txBody>
          <a:bodyPr vert="horz" wrap="square" lIns="0" tIns="0" rIns="0" bIns="0" rtlCol="0">
            <a:spAutoFit/>
          </a:bodyPr>
          <a:lstStyle/>
          <a:p>
            <a:pPr algn="r">
              <a:lnSpc>
                <a:spcPct val="115000"/>
              </a:lnSpc>
            </a:pPr>
            <a:r>
              <a:rPr kumimoji="1" lang="en-US" altLang="ja-JP" sz="1000">
                <a:solidFill>
                  <a:srgbClr val="6B7D8F"/>
                </a:solidFill>
                <a:latin typeface="游ゴシック" panose="020B0400000000000000" pitchFamily="50" charset="-128"/>
                <a:ea typeface="游ゴシック" panose="020B0400000000000000" pitchFamily="50" charset="-128"/>
              </a:rPr>
              <a:t>2 / 7</a:t>
            </a:r>
            <a:endParaRPr kumimoji="1" lang="ja-JP" altLang="en-US" sz="1000">
              <a:solidFill>
                <a:srgbClr val="6B7D8F"/>
              </a:solidFill>
              <a:latin typeface="游ゴシック" panose="020B0400000000000000" pitchFamily="50" charset="-128"/>
              <a:ea typeface="游ゴシック" panose="020B0400000000000000" pitchFamily="50" charset="-128"/>
            </a:endParaRPr>
          </a:p>
        </p:txBody>
      </p:sp>
      <p:sp>
        <p:nvSpPr>
          <p:cNvPr id="4" name="四角形: 角を丸くする 3">
            <a:extLst>
              <a:ext uri="{FF2B5EF4-FFF2-40B4-BE49-F238E27FC236}">
                <a16:creationId xmlns:a16="http://schemas.microsoft.com/office/drawing/2014/main" id="{EAED4B31-DD6A-2BEF-8279-733F531B4B9A}"/>
              </a:ext>
            </a:extLst>
          </p:cNvPr>
          <p:cNvSpPr/>
          <p:nvPr/>
        </p:nvSpPr>
        <p:spPr>
          <a:xfrm>
            <a:off x="533400" y="1625600"/>
            <a:ext cx="2533650" cy="1905000"/>
          </a:xfrm>
          <a:prstGeom prst="roundRect">
            <a:avLst>
              <a:gd name="adj" fmla="val 8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591C47BA-0F3C-F38A-612E-9905FC5E3E04}"/>
              </a:ext>
            </a:extLst>
          </p:cNvPr>
          <p:cNvSpPr/>
          <p:nvPr/>
        </p:nvSpPr>
        <p:spPr>
          <a:xfrm>
            <a:off x="1584325" y="1828800"/>
            <a:ext cx="431800" cy="431800"/>
          </a:xfrm>
          <a:prstGeom prst="ellipse">
            <a:avLst/>
          </a:prstGeom>
          <a:solidFill>
            <a:srgbClr val="1E3A5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600" b="1">
                <a:solidFill>
                  <a:srgbClr val="FFFFFF"/>
                </a:solidFill>
                <a:latin typeface="Arial" panose="020B0604020202020204" pitchFamily="34" charset="0"/>
              </a:rPr>
              <a:t>1</a:t>
            </a:r>
            <a:endParaRPr kumimoji="1" lang="ja-JP" altLang="en-US" sz="1600" b="1">
              <a:solidFill>
                <a:srgbClr val="FFFFFF"/>
              </a:solidFill>
              <a:latin typeface="Arial" panose="020B0604020202020204" pitchFamily="34" charset="0"/>
            </a:endParaRPr>
          </a:p>
        </p:txBody>
      </p:sp>
      <p:sp>
        <p:nvSpPr>
          <p:cNvPr id="12" name="テキスト ボックス 11">
            <a:extLst>
              <a:ext uri="{FF2B5EF4-FFF2-40B4-BE49-F238E27FC236}">
                <a16:creationId xmlns:a16="http://schemas.microsoft.com/office/drawing/2014/main" id="{805BBF40-DA0C-6B7C-796F-A1402D87F4EC}"/>
              </a:ext>
            </a:extLst>
          </p:cNvPr>
          <p:cNvSpPr txBox="1"/>
          <p:nvPr/>
        </p:nvSpPr>
        <p:spPr>
          <a:xfrm>
            <a:off x="685800" y="2387600"/>
            <a:ext cx="2228850" cy="252633"/>
          </a:xfrm>
          <a:prstGeom prst="rect">
            <a:avLst/>
          </a:prstGeom>
          <a:noFill/>
        </p:spPr>
        <p:txBody>
          <a:bodyPr vert="horz" wrap="square" lIns="0" tIns="0" rIns="0" bIns="0" rtlCol="0">
            <a:spAutoFit/>
          </a:bodyPr>
          <a:lstStyle/>
          <a:p>
            <a:pPr algn="ct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スタッフ予定を開く</a:t>
            </a:r>
          </a:p>
        </p:txBody>
      </p:sp>
      <p:sp>
        <p:nvSpPr>
          <p:cNvPr id="13" name="テキスト ボックス 12">
            <a:extLst>
              <a:ext uri="{FF2B5EF4-FFF2-40B4-BE49-F238E27FC236}">
                <a16:creationId xmlns:a16="http://schemas.microsoft.com/office/drawing/2014/main" id="{D29F449D-4666-BECF-A356-29F134C3AC91}"/>
              </a:ext>
            </a:extLst>
          </p:cNvPr>
          <p:cNvSpPr txBox="1"/>
          <p:nvPr/>
        </p:nvSpPr>
        <p:spPr>
          <a:xfrm>
            <a:off x="685800" y="2794000"/>
            <a:ext cx="2228850" cy="414985"/>
          </a:xfrm>
          <a:prstGeom prst="rect">
            <a:avLst/>
          </a:prstGeom>
          <a:noFill/>
        </p:spPr>
        <p:txBody>
          <a:bodyPr vert="horz" wrap="square" lIns="0" tIns="0" rIns="0" bIns="0" rtlCol="0">
            <a:spAutoFit/>
          </a:bodyPr>
          <a:lstStyle/>
          <a:p>
            <a:pPr algn="ct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上部メニューの「スタッフ予定」から開きます</a:t>
            </a:r>
          </a:p>
        </p:txBody>
      </p:sp>
      <p:sp>
        <p:nvSpPr>
          <p:cNvPr id="14" name="矢印: 右 13">
            <a:extLst>
              <a:ext uri="{FF2B5EF4-FFF2-40B4-BE49-F238E27FC236}">
                <a16:creationId xmlns:a16="http://schemas.microsoft.com/office/drawing/2014/main" id="{BF5BD5E8-3199-226E-1FD5-0DDBA60C6B21}"/>
              </a:ext>
            </a:extLst>
          </p:cNvPr>
          <p:cNvSpPr/>
          <p:nvPr/>
        </p:nvSpPr>
        <p:spPr>
          <a:xfrm>
            <a:off x="3143250" y="2476500"/>
            <a:ext cx="177800" cy="203200"/>
          </a:xfrm>
          <a:prstGeom prst="rightArrow">
            <a:avLst/>
          </a:prstGeom>
          <a:solidFill>
            <a:srgbClr val="C8D3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8294E5E9-B872-4A0C-3082-79F1B30C189F}"/>
              </a:ext>
            </a:extLst>
          </p:cNvPr>
          <p:cNvSpPr/>
          <p:nvPr/>
        </p:nvSpPr>
        <p:spPr>
          <a:xfrm>
            <a:off x="3397250" y="1625600"/>
            <a:ext cx="2533650" cy="1905000"/>
          </a:xfrm>
          <a:prstGeom prst="roundRect">
            <a:avLst>
              <a:gd name="adj" fmla="val 8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42523C75-4E72-411F-C8FF-DA7AD5F393F3}"/>
              </a:ext>
            </a:extLst>
          </p:cNvPr>
          <p:cNvSpPr/>
          <p:nvPr/>
        </p:nvSpPr>
        <p:spPr>
          <a:xfrm>
            <a:off x="4448175" y="1828800"/>
            <a:ext cx="431800" cy="431800"/>
          </a:xfrm>
          <a:prstGeom prst="ellipse">
            <a:avLst/>
          </a:prstGeom>
          <a:solidFill>
            <a:srgbClr val="1E3A5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600" b="1">
                <a:solidFill>
                  <a:srgbClr val="FFFFFF"/>
                </a:solidFill>
                <a:latin typeface="Arial" panose="020B0604020202020204" pitchFamily="34" charset="0"/>
              </a:rPr>
              <a:t>2</a:t>
            </a:r>
            <a:endParaRPr kumimoji="1" lang="ja-JP" altLang="en-US" sz="1600" b="1">
              <a:solidFill>
                <a:srgbClr val="FFFFFF"/>
              </a:solidFill>
              <a:latin typeface="Arial" panose="020B0604020202020204" pitchFamily="34" charset="0"/>
            </a:endParaRPr>
          </a:p>
        </p:txBody>
      </p:sp>
      <p:sp>
        <p:nvSpPr>
          <p:cNvPr id="17" name="テキスト ボックス 16">
            <a:extLst>
              <a:ext uri="{FF2B5EF4-FFF2-40B4-BE49-F238E27FC236}">
                <a16:creationId xmlns:a16="http://schemas.microsoft.com/office/drawing/2014/main" id="{83E1CF04-3F83-E31A-D77F-7D101AB66FCA}"/>
              </a:ext>
            </a:extLst>
          </p:cNvPr>
          <p:cNvSpPr txBox="1"/>
          <p:nvPr/>
        </p:nvSpPr>
        <p:spPr>
          <a:xfrm>
            <a:off x="3549650" y="2387600"/>
            <a:ext cx="2228850" cy="252633"/>
          </a:xfrm>
          <a:prstGeom prst="rect">
            <a:avLst/>
          </a:prstGeom>
          <a:noFill/>
        </p:spPr>
        <p:txBody>
          <a:bodyPr vert="horz" wrap="square" lIns="0" tIns="0" rIns="0" bIns="0" rtlCol="0">
            <a:spAutoFit/>
          </a:bodyPr>
          <a:lstStyle/>
          <a:p>
            <a:pPr algn="ct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展示場を選ぶ</a:t>
            </a:r>
          </a:p>
        </p:txBody>
      </p:sp>
      <p:sp>
        <p:nvSpPr>
          <p:cNvPr id="20" name="テキスト ボックス 19">
            <a:extLst>
              <a:ext uri="{FF2B5EF4-FFF2-40B4-BE49-F238E27FC236}">
                <a16:creationId xmlns:a16="http://schemas.microsoft.com/office/drawing/2014/main" id="{3D322BC7-B967-7811-D6B1-D5A522F8D90E}"/>
              </a:ext>
            </a:extLst>
          </p:cNvPr>
          <p:cNvSpPr txBox="1"/>
          <p:nvPr/>
        </p:nvSpPr>
        <p:spPr>
          <a:xfrm>
            <a:off x="3549650" y="2794000"/>
            <a:ext cx="2228850" cy="414985"/>
          </a:xfrm>
          <a:prstGeom prst="rect">
            <a:avLst/>
          </a:prstGeom>
          <a:noFill/>
        </p:spPr>
        <p:txBody>
          <a:bodyPr vert="horz" wrap="square" lIns="0" tIns="0" rIns="0" bIns="0" rtlCol="0">
            <a:spAutoFit/>
          </a:bodyPr>
          <a:lstStyle/>
          <a:p>
            <a:pPr algn="ct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見たい展示場</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または本社</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のボタンを押します</a:t>
            </a:r>
          </a:p>
        </p:txBody>
      </p:sp>
      <p:sp>
        <p:nvSpPr>
          <p:cNvPr id="21" name="矢印: 右 20">
            <a:extLst>
              <a:ext uri="{FF2B5EF4-FFF2-40B4-BE49-F238E27FC236}">
                <a16:creationId xmlns:a16="http://schemas.microsoft.com/office/drawing/2014/main" id="{F29C1FE9-6D9A-02DF-FC81-84398971200A}"/>
              </a:ext>
            </a:extLst>
          </p:cNvPr>
          <p:cNvSpPr/>
          <p:nvPr/>
        </p:nvSpPr>
        <p:spPr>
          <a:xfrm>
            <a:off x="6007100" y="2476500"/>
            <a:ext cx="177800" cy="203200"/>
          </a:xfrm>
          <a:prstGeom prst="rightArrow">
            <a:avLst/>
          </a:prstGeom>
          <a:solidFill>
            <a:srgbClr val="C8D3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8E8FA8ED-D178-36B9-DB77-9B42CEB49E0F}"/>
              </a:ext>
            </a:extLst>
          </p:cNvPr>
          <p:cNvSpPr/>
          <p:nvPr/>
        </p:nvSpPr>
        <p:spPr>
          <a:xfrm>
            <a:off x="6261100" y="1625600"/>
            <a:ext cx="2533650" cy="1905000"/>
          </a:xfrm>
          <a:prstGeom prst="roundRect">
            <a:avLst>
              <a:gd name="adj" fmla="val 8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3637755F-407F-12C4-A8F7-EB0210A680E1}"/>
              </a:ext>
            </a:extLst>
          </p:cNvPr>
          <p:cNvSpPr/>
          <p:nvPr/>
        </p:nvSpPr>
        <p:spPr>
          <a:xfrm>
            <a:off x="7312025" y="1828800"/>
            <a:ext cx="431800" cy="431800"/>
          </a:xfrm>
          <a:prstGeom prst="ellipse">
            <a:avLst/>
          </a:prstGeom>
          <a:solidFill>
            <a:srgbClr val="1E3A5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600" b="1">
                <a:solidFill>
                  <a:srgbClr val="FFFFFF"/>
                </a:solidFill>
                <a:latin typeface="Arial" panose="020B0604020202020204" pitchFamily="34" charset="0"/>
              </a:rPr>
              <a:t>3</a:t>
            </a:r>
            <a:endParaRPr kumimoji="1" lang="ja-JP" altLang="en-US" sz="1600" b="1">
              <a:solidFill>
                <a:srgbClr val="FFFFFF"/>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E29864AB-C2F2-3E9B-0067-B31FB8560D8C}"/>
              </a:ext>
            </a:extLst>
          </p:cNvPr>
          <p:cNvSpPr txBox="1"/>
          <p:nvPr/>
        </p:nvSpPr>
        <p:spPr>
          <a:xfrm>
            <a:off x="6413500" y="2387600"/>
            <a:ext cx="2228850" cy="252633"/>
          </a:xfrm>
          <a:prstGeom prst="rect">
            <a:avLst/>
          </a:prstGeom>
          <a:noFill/>
        </p:spPr>
        <p:txBody>
          <a:bodyPr vert="horz" wrap="square" lIns="0" tIns="0" rIns="0" bIns="0" rtlCol="0">
            <a:spAutoFit/>
          </a:bodyPr>
          <a:lstStyle/>
          <a:p>
            <a:pPr algn="ct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予定を見る</a:t>
            </a:r>
          </a:p>
        </p:txBody>
      </p:sp>
      <p:sp>
        <p:nvSpPr>
          <p:cNvPr id="26" name="テキスト ボックス 25">
            <a:extLst>
              <a:ext uri="{FF2B5EF4-FFF2-40B4-BE49-F238E27FC236}">
                <a16:creationId xmlns:a16="http://schemas.microsoft.com/office/drawing/2014/main" id="{275FC691-E393-E47F-561E-32448B9B3B01}"/>
              </a:ext>
            </a:extLst>
          </p:cNvPr>
          <p:cNvSpPr txBox="1"/>
          <p:nvPr/>
        </p:nvSpPr>
        <p:spPr>
          <a:xfrm>
            <a:off x="6413500" y="2794000"/>
            <a:ext cx="2228850" cy="414985"/>
          </a:xfrm>
          <a:prstGeom prst="rect">
            <a:avLst/>
          </a:prstGeom>
          <a:noFill/>
        </p:spPr>
        <p:txBody>
          <a:bodyPr vert="horz" wrap="square" lIns="0" tIns="0" rIns="0" bIns="0" rtlCol="0">
            <a:spAutoFit/>
          </a:bodyPr>
          <a:lstStyle/>
          <a:p>
            <a:pPr algn="ct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スタッフごとに、</a:t>
            </a:r>
            <a:r>
              <a:rPr kumimoji="1" lang="en-US" altLang="ja-JP" sz="1200">
                <a:solidFill>
                  <a:srgbClr val="1C2B3A"/>
                </a:solidFill>
                <a:latin typeface="游ゴシック" panose="020B0400000000000000" pitchFamily="50" charset="-128"/>
                <a:ea typeface="游ゴシック" panose="020B0400000000000000" pitchFamily="50" charset="-128"/>
              </a:rPr>
              <a:t>2</a:t>
            </a:r>
            <a:r>
              <a:rPr kumimoji="1" lang="ja-JP" altLang="en-US" sz="1200">
                <a:solidFill>
                  <a:srgbClr val="1C2B3A"/>
                </a:solidFill>
                <a:latin typeface="游ゴシック" panose="020B0400000000000000" pitchFamily="50" charset="-128"/>
                <a:ea typeface="游ゴシック" panose="020B0400000000000000" pitchFamily="50" charset="-128"/>
              </a:rPr>
              <a:t>週間分の予定が日付順に並びます</a:t>
            </a:r>
          </a:p>
        </p:txBody>
      </p:sp>
      <p:sp>
        <p:nvSpPr>
          <p:cNvPr id="27" name="矢印: 右 26">
            <a:extLst>
              <a:ext uri="{FF2B5EF4-FFF2-40B4-BE49-F238E27FC236}">
                <a16:creationId xmlns:a16="http://schemas.microsoft.com/office/drawing/2014/main" id="{0819DEA3-D3C6-8626-411D-B8D9640A8FEB}"/>
              </a:ext>
            </a:extLst>
          </p:cNvPr>
          <p:cNvSpPr/>
          <p:nvPr/>
        </p:nvSpPr>
        <p:spPr>
          <a:xfrm>
            <a:off x="8870950" y="2476500"/>
            <a:ext cx="177800" cy="203200"/>
          </a:xfrm>
          <a:prstGeom prst="rightArrow">
            <a:avLst/>
          </a:prstGeom>
          <a:solidFill>
            <a:srgbClr val="C8D3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A742C737-538F-C0D6-EC43-6C542107DED6}"/>
              </a:ext>
            </a:extLst>
          </p:cNvPr>
          <p:cNvSpPr/>
          <p:nvPr/>
        </p:nvSpPr>
        <p:spPr>
          <a:xfrm>
            <a:off x="9124950" y="1625600"/>
            <a:ext cx="2533650" cy="1905000"/>
          </a:xfrm>
          <a:prstGeom prst="roundRect">
            <a:avLst>
              <a:gd name="adj" fmla="val 8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B8B24BD1-7F49-A6BB-AF3E-362A0C010B46}"/>
              </a:ext>
            </a:extLst>
          </p:cNvPr>
          <p:cNvSpPr/>
          <p:nvPr/>
        </p:nvSpPr>
        <p:spPr>
          <a:xfrm>
            <a:off x="10175875" y="1828800"/>
            <a:ext cx="431800" cy="431800"/>
          </a:xfrm>
          <a:prstGeom prst="ellipse">
            <a:avLst/>
          </a:prstGeom>
          <a:solidFill>
            <a:srgbClr val="1E3A5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600" b="1">
                <a:solidFill>
                  <a:srgbClr val="FFFFFF"/>
                </a:solidFill>
                <a:latin typeface="Arial" panose="020B0604020202020204" pitchFamily="34" charset="0"/>
              </a:rPr>
              <a:t>4</a:t>
            </a:r>
            <a:endParaRPr kumimoji="1" lang="ja-JP" altLang="en-US" sz="1600" b="1">
              <a:solidFill>
                <a:srgbClr val="FFFFFF"/>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7B817538-A00D-D977-6427-D3E8917B3780}"/>
              </a:ext>
            </a:extLst>
          </p:cNvPr>
          <p:cNvSpPr txBox="1"/>
          <p:nvPr/>
        </p:nvSpPr>
        <p:spPr>
          <a:xfrm>
            <a:off x="9277350" y="2387600"/>
            <a:ext cx="2228850" cy="252633"/>
          </a:xfrm>
          <a:prstGeom prst="rect">
            <a:avLst/>
          </a:prstGeom>
          <a:noFill/>
        </p:spPr>
        <p:txBody>
          <a:bodyPr vert="horz" wrap="square" lIns="0" tIns="0" rIns="0" bIns="0" rtlCol="0">
            <a:spAutoFit/>
          </a:bodyPr>
          <a:lstStyle/>
          <a:p>
            <a:pPr algn="ct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会議室の予約を見る</a:t>
            </a:r>
          </a:p>
        </p:txBody>
      </p:sp>
      <p:sp>
        <p:nvSpPr>
          <p:cNvPr id="31" name="テキスト ボックス 30">
            <a:extLst>
              <a:ext uri="{FF2B5EF4-FFF2-40B4-BE49-F238E27FC236}">
                <a16:creationId xmlns:a16="http://schemas.microsoft.com/office/drawing/2014/main" id="{13C1D9E1-FC5E-0B8D-8A94-EFF82FF74C6F}"/>
              </a:ext>
            </a:extLst>
          </p:cNvPr>
          <p:cNvSpPr txBox="1"/>
          <p:nvPr/>
        </p:nvSpPr>
        <p:spPr>
          <a:xfrm>
            <a:off x="9277350" y="2794000"/>
            <a:ext cx="2228850" cy="414985"/>
          </a:xfrm>
          <a:prstGeom prst="rect">
            <a:avLst/>
          </a:prstGeom>
          <a:noFill/>
        </p:spPr>
        <p:txBody>
          <a:bodyPr vert="horz" wrap="square" lIns="0" tIns="0" rIns="0" bIns="0" rtlCol="0">
            <a:spAutoFit/>
          </a:bodyPr>
          <a:lstStyle/>
          <a:p>
            <a:pPr algn="ct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日付を押すと、その日の展示場の会議室の予約がわかります</a:t>
            </a:r>
          </a:p>
        </p:txBody>
      </p:sp>
      <p:sp>
        <p:nvSpPr>
          <p:cNvPr id="32" name="補足の枠">
            <a:extLst>
              <a:ext uri="{FF2B5EF4-FFF2-40B4-BE49-F238E27FC236}">
                <a16:creationId xmlns:a16="http://schemas.microsoft.com/office/drawing/2014/main" id="{105FBA23-1F5D-3378-6F6B-B90EDCC71272}"/>
              </a:ext>
            </a:extLst>
          </p:cNvPr>
          <p:cNvSpPr/>
          <p:nvPr/>
        </p:nvSpPr>
        <p:spPr>
          <a:xfrm>
            <a:off x="533400" y="3860800"/>
            <a:ext cx="11125200" cy="701062"/>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02FD4B5A-05C0-0771-6A80-19773A75275B}"/>
              </a:ext>
            </a:extLst>
          </p:cNvPr>
          <p:cNvSpPr txBox="1"/>
          <p:nvPr/>
        </p:nvSpPr>
        <p:spPr>
          <a:xfrm>
            <a:off x="685800" y="3975100"/>
            <a:ext cx="108204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ポイント</a:t>
            </a:r>
          </a:p>
        </p:txBody>
      </p:sp>
      <p:sp>
        <p:nvSpPr>
          <p:cNvPr id="34" name="テキスト ボックス 33">
            <a:extLst>
              <a:ext uri="{FF2B5EF4-FFF2-40B4-BE49-F238E27FC236}">
                <a16:creationId xmlns:a16="http://schemas.microsoft.com/office/drawing/2014/main" id="{6B77BD71-3745-0E83-AB5F-53248073EBDA}"/>
              </a:ext>
            </a:extLst>
          </p:cNvPr>
          <p:cNvSpPr txBox="1"/>
          <p:nvPr/>
        </p:nvSpPr>
        <p:spPr>
          <a:xfrm>
            <a:off x="685800" y="4206971"/>
            <a:ext cx="10820400" cy="202491"/>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スタッフ予定は</a:t>
            </a:r>
            <a:r>
              <a:rPr kumimoji="1" lang="ja-JP" altLang="en-US" sz="1200" b="1">
                <a:solidFill>
                  <a:srgbClr val="1E3A5F"/>
                </a:solidFill>
                <a:latin typeface="游ゴシック" panose="020B0400000000000000" pitchFamily="50" charset="-128"/>
                <a:ea typeface="游ゴシック" panose="020B0400000000000000" pitchFamily="50" charset="-128"/>
              </a:rPr>
              <a:t>見るための画面</a:t>
            </a:r>
            <a:r>
              <a:rPr kumimoji="1" lang="ja-JP" altLang="en-US" sz="1200">
                <a:solidFill>
                  <a:srgbClr val="1C2B3A"/>
                </a:solidFill>
                <a:latin typeface="游ゴシック" panose="020B0400000000000000" pitchFamily="50" charset="-128"/>
                <a:ea typeface="游ゴシック" panose="020B0400000000000000" pitchFamily="50" charset="-128"/>
              </a:rPr>
              <a:t>です。自分の予定の入力・変更は、スケジュール画面から行います</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「スケジュールを入力する」の資料をご覧ください</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a:t>
            </a:r>
          </a:p>
        </p:txBody>
      </p:sp>
      <p:sp>
        <p:nvSpPr>
          <p:cNvPr id="35" name="補足の枠">
            <a:extLst>
              <a:ext uri="{FF2B5EF4-FFF2-40B4-BE49-F238E27FC236}">
                <a16:creationId xmlns:a16="http://schemas.microsoft.com/office/drawing/2014/main" id="{EBE98942-797F-7703-EC58-ED14A2735417}"/>
              </a:ext>
            </a:extLst>
          </p:cNvPr>
          <p:cNvSpPr/>
          <p:nvPr/>
        </p:nvSpPr>
        <p:spPr>
          <a:xfrm>
            <a:off x="533400" y="4714262"/>
            <a:ext cx="11125200" cy="701191"/>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759D96E2-6409-4238-8310-7DF9EB04461C}"/>
              </a:ext>
            </a:extLst>
          </p:cNvPr>
          <p:cNvSpPr txBox="1"/>
          <p:nvPr/>
        </p:nvSpPr>
        <p:spPr>
          <a:xfrm>
            <a:off x="685800" y="4828562"/>
            <a:ext cx="108204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吉村一建設のスタッフ予定</a:t>
            </a:r>
          </a:p>
        </p:txBody>
      </p:sp>
      <p:sp>
        <p:nvSpPr>
          <p:cNvPr id="37" name="テキスト ボックス 36">
            <a:extLst>
              <a:ext uri="{FF2B5EF4-FFF2-40B4-BE49-F238E27FC236}">
                <a16:creationId xmlns:a16="http://schemas.microsoft.com/office/drawing/2014/main" id="{A4BB9E08-7431-7696-6C2C-0A565E5E10D3}"/>
              </a:ext>
            </a:extLst>
          </p:cNvPr>
          <p:cNvSpPr txBox="1"/>
          <p:nvPr/>
        </p:nvSpPr>
        <p:spPr>
          <a:xfrm>
            <a:off x="685800" y="5060433"/>
            <a:ext cx="10820400" cy="202620"/>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「吉村一建設スタッフ予定」も、同じ見方で使えます</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部署ごとに表示されます</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880982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ステップ</a:t>
            </a:r>
            <a:r>
              <a:rPr kumimoji="0" lang="en-US" altLang="ja-JP" sz="2000" b="1" i="0" u="none" strike="noStrike" cap="none" normalizeH="0" baseline="0">
                <a:ln>
                  <a:noFill/>
                </a:ln>
                <a:solidFill>
                  <a:schemeClr val="tx1"/>
                </a:solidFill>
                <a:effectLst/>
                <a:latin typeface="Arial" panose="020B0604020202020204" pitchFamily="34" charset="0"/>
              </a:rPr>
              <a:t>1 </a:t>
            </a:r>
            <a:r>
              <a:rPr kumimoji="0" lang="ja-JP" altLang="en-US" sz="2000" b="1" i="0" u="none" strike="noStrike" cap="none" normalizeH="0" baseline="0">
                <a:ln>
                  <a:noFill/>
                </a:ln>
                <a:solidFill>
                  <a:schemeClr val="tx1"/>
                </a:solidFill>
                <a:effectLst/>
                <a:latin typeface="Arial" panose="020B0604020202020204" pitchFamily="34" charset="0"/>
              </a:rPr>
              <a:t>スタッフ予定を開く</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ja-JP" altLang="en-US" sz="1400"/>
              <a:t>ポータルの上部メニューから開きます</a:t>
            </a:r>
            <a:endParaRPr lang="en-US" altLang="ja-JP" sz="1400" dirty="0"/>
          </a:p>
        </p:txBody>
      </p:sp>
      <p:sp>
        <p:nvSpPr>
          <p:cNvPr id="3" name="ページ番号">
            <a:extLst>
              <a:ext uri="{FF2B5EF4-FFF2-40B4-BE49-F238E27FC236}">
                <a16:creationId xmlns:a16="http://schemas.microsoft.com/office/drawing/2014/main" id="{95BCE07B-9F00-B7BD-E7B6-B98BF25C236C}"/>
              </a:ext>
            </a:extLst>
          </p:cNvPr>
          <p:cNvSpPr txBox="1"/>
          <p:nvPr/>
        </p:nvSpPr>
        <p:spPr>
          <a:xfrm>
            <a:off x="10134600" y="6578600"/>
            <a:ext cx="1524000" cy="168829"/>
          </a:xfrm>
          <a:prstGeom prst="rect">
            <a:avLst/>
          </a:prstGeom>
          <a:noFill/>
        </p:spPr>
        <p:txBody>
          <a:bodyPr vert="horz" wrap="square" lIns="0" tIns="0" rIns="0" bIns="0" rtlCol="0">
            <a:spAutoFit/>
          </a:bodyPr>
          <a:lstStyle/>
          <a:p>
            <a:pPr algn="r">
              <a:lnSpc>
                <a:spcPct val="115000"/>
              </a:lnSpc>
            </a:pPr>
            <a:r>
              <a:rPr kumimoji="1" lang="en-US" altLang="ja-JP" sz="1000">
                <a:solidFill>
                  <a:srgbClr val="6B7D8F"/>
                </a:solidFill>
                <a:latin typeface="游ゴシック" panose="020B0400000000000000" pitchFamily="50" charset="-128"/>
                <a:ea typeface="游ゴシック" panose="020B0400000000000000" pitchFamily="50" charset="-128"/>
              </a:rPr>
              <a:t>3 / 7</a:t>
            </a:r>
            <a:endParaRPr kumimoji="1" lang="ja-JP" altLang="en-US" sz="1000">
              <a:solidFill>
                <a:srgbClr val="6B7D8F"/>
              </a:solidFill>
              <a:latin typeface="游ゴシック" panose="020B0400000000000000" pitchFamily="50" charset="-128"/>
              <a:ea typeface="游ゴシック" panose="020B0400000000000000" pitchFamily="50" charset="-128"/>
            </a:endParaRPr>
          </a:p>
        </p:txBody>
      </p:sp>
      <p:pic>
        <p:nvPicPr>
          <p:cNvPr id="7" name="画面_a01_top">
            <a:extLst>
              <a:ext uri="{FF2B5EF4-FFF2-40B4-BE49-F238E27FC236}">
                <a16:creationId xmlns:a16="http://schemas.microsoft.com/office/drawing/2014/main" id="{647A3154-3D41-75A2-633D-88A73A24F98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3400" y="1168400"/>
            <a:ext cx="11017521" cy="3683000"/>
          </a:xfrm>
          <a:prstGeom prst="rect">
            <a:avLst/>
          </a:prstGeom>
          <a:ln w="9525">
            <a:solidFill>
              <a:srgbClr val="C8D3DF"/>
            </a:solidFill>
          </a:ln>
        </p:spPr>
      </p:pic>
      <p:sp>
        <p:nvSpPr>
          <p:cNvPr id="12" name="赤枠_1">
            <a:extLst>
              <a:ext uri="{FF2B5EF4-FFF2-40B4-BE49-F238E27FC236}">
                <a16:creationId xmlns:a16="http://schemas.microsoft.com/office/drawing/2014/main" id="{43B48985-6229-3271-B18A-5FF4374F8DFC}"/>
              </a:ext>
            </a:extLst>
          </p:cNvPr>
          <p:cNvSpPr/>
          <p:nvPr/>
        </p:nvSpPr>
        <p:spPr>
          <a:xfrm>
            <a:off x="5597790" y="1268019"/>
            <a:ext cx="690033" cy="225724"/>
          </a:xfrm>
          <a:prstGeom prst="roundRect">
            <a:avLst>
              <a:gd name="adj" fmla="val 22222"/>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番号_1">
            <a:extLst>
              <a:ext uri="{FF2B5EF4-FFF2-40B4-BE49-F238E27FC236}">
                <a16:creationId xmlns:a16="http://schemas.microsoft.com/office/drawing/2014/main" id="{08F7AD02-C6EA-0DBC-23C5-55071BDF0BBE}"/>
              </a:ext>
            </a:extLst>
          </p:cNvPr>
          <p:cNvSpPr/>
          <p:nvPr/>
        </p:nvSpPr>
        <p:spPr>
          <a:xfrm>
            <a:off x="5483490" y="1153719"/>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1</a:t>
            </a:r>
            <a:endParaRPr kumimoji="1" lang="ja-JP" altLang="en-US" sz="1000" b="1">
              <a:solidFill>
                <a:srgbClr val="FFFFFF"/>
              </a:solidFill>
              <a:latin typeface="Arial" panose="020B0604020202020204" pitchFamily="34" charset="0"/>
            </a:endParaRPr>
          </a:p>
        </p:txBody>
      </p:sp>
      <p:sp>
        <p:nvSpPr>
          <p:cNvPr id="14" name="手順番号_1">
            <a:extLst>
              <a:ext uri="{FF2B5EF4-FFF2-40B4-BE49-F238E27FC236}">
                <a16:creationId xmlns:a16="http://schemas.microsoft.com/office/drawing/2014/main" id="{B1BEC29D-D9BD-3437-6127-37E3B13C14EF}"/>
              </a:ext>
            </a:extLst>
          </p:cNvPr>
          <p:cNvSpPr/>
          <p:nvPr/>
        </p:nvSpPr>
        <p:spPr>
          <a:xfrm>
            <a:off x="533400" y="5041900"/>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1</a:t>
            </a:r>
            <a:endParaRPr kumimoji="1" lang="ja-JP" altLang="en-US" sz="1200" b="1">
              <a:solidFill>
                <a:srgbClr val="FFFFFF"/>
              </a:solidFill>
              <a:latin typeface="Arial" panose="020B0604020202020204" pitchFamily="34" charset="0"/>
            </a:endParaRPr>
          </a:p>
        </p:txBody>
      </p:sp>
      <p:sp>
        <p:nvSpPr>
          <p:cNvPr id="15" name="テキスト ボックス 14">
            <a:extLst>
              <a:ext uri="{FF2B5EF4-FFF2-40B4-BE49-F238E27FC236}">
                <a16:creationId xmlns:a16="http://schemas.microsoft.com/office/drawing/2014/main" id="{57E6C943-8419-33C5-36F4-67DB25174C49}"/>
              </a:ext>
            </a:extLst>
          </p:cNvPr>
          <p:cNvSpPr txBox="1"/>
          <p:nvPr/>
        </p:nvSpPr>
        <p:spPr>
          <a:xfrm>
            <a:off x="939800" y="5054600"/>
            <a:ext cx="30988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上部メニューの「スタッフ予定」</a:t>
            </a:r>
          </a:p>
        </p:txBody>
      </p:sp>
      <p:sp>
        <p:nvSpPr>
          <p:cNvPr id="16" name="テキスト ボックス 15">
            <a:extLst>
              <a:ext uri="{FF2B5EF4-FFF2-40B4-BE49-F238E27FC236}">
                <a16:creationId xmlns:a16="http://schemas.microsoft.com/office/drawing/2014/main" id="{F0E85CE1-B83C-57D7-EF91-F613ACDB2B4D}"/>
              </a:ext>
            </a:extLst>
          </p:cNvPr>
          <p:cNvSpPr txBox="1"/>
          <p:nvPr/>
        </p:nvSpPr>
        <p:spPr>
          <a:xfrm>
            <a:off x="939800" y="5358033"/>
            <a:ext cx="3098800" cy="653577"/>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ゆめすみかのアカウントでサインインしている方は、ゆめすみかスタッフ予定が開きます。</a:t>
            </a:r>
          </a:p>
        </p:txBody>
      </p:sp>
      <p:sp>
        <p:nvSpPr>
          <p:cNvPr id="17" name="テキスト ボックス 16">
            <a:extLst>
              <a:ext uri="{FF2B5EF4-FFF2-40B4-BE49-F238E27FC236}">
                <a16:creationId xmlns:a16="http://schemas.microsoft.com/office/drawing/2014/main" id="{D72DAA62-292B-1829-42BC-9106EF81D0A7}"/>
              </a:ext>
            </a:extLst>
          </p:cNvPr>
          <p:cNvSpPr txBox="1"/>
          <p:nvPr/>
        </p:nvSpPr>
        <p:spPr>
          <a:xfrm>
            <a:off x="4343400" y="5054600"/>
            <a:ext cx="35052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スケジュール画面からも開けます</a:t>
            </a:r>
          </a:p>
        </p:txBody>
      </p:sp>
      <p:sp>
        <p:nvSpPr>
          <p:cNvPr id="20" name="テキスト ボックス 19">
            <a:extLst>
              <a:ext uri="{FF2B5EF4-FFF2-40B4-BE49-F238E27FC236}">
                <a16:creationId xmlns:a16="http://schemas.microsoft.com/office/drawing/2014/main" id="{D85D948B-BF58-5602-982F-C092A78D05E8}"/>
              </a:ext>
            </a:extLst>
          </p:cNvPr>
          <p:cNvSpPr txBox="1"/>
          <p:nvPr/>
        </p:nvSpPr>
        <p:spPr>
          <a:xfrm>
            <a:off x="4343400" y="5358033"/>
            <a:ext cx="35052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スケジュール画面の右上にある「ゆめすみかスタッフ予定へ」を押します。</a:t>
            </a:r>
          </a:p>
        </p:txBody>
      </p:sp>
      <p:sp>
        <p:nvSpPr>
          <p:cNvPr id="21" name="テキスト ボックス 20">
            <a:extLst>
              <a:ext uri="{FF2B5EF4-FFF2-40B4-BE49-F238E27FC236}">
                <a16:creationId xmlns:a16="http://schemas.microsoft.com/office/drawing/2014/main" id="{2A79994F-51D7-1A12-1D83-F12C6D9D5365}"/>
              </a:ext>
            </a:extLst>
          </p:cNvPr>
          <p:cNvSpPr txBox="1"/>
          <p:nvPr/>
        </p:nvSpPr>
        <p:spPr>
          <a:xfrm>
            <a:off x="8153400" y="5054600"/>
            <a:ext cx="35052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吉村一建設の画面が開いたら</a:t>
            </a:r>
          </a:p>
        </p:txBody>
      </p:sp>
      <p:sp>
        <p:nvSpPr>
          <p:cNvPr id="22" name="テキスト ボックス 21">
            <a:extLst>
              <a:ext uri="{FF2B5EF4-FFF2-40B4-BE49-F238E27FC236}">
                <a16:creationId xmlns:a16="http://schemas.microsoft.com/office/drawing/2014/main" id="{72813669-17B0-F4E0-0977-CC99EFABF922}"/>
              </a:ext>
            </a:extLst>
          </p:cNvPr>
          <p:cNvSpPr txBox="1"/>
          <p:nvPr/>
        </p:nvSpPr>
        <p:spPr>
          <a:xfrm>
            <a:off x="8153400" y="5358033"/>
            <a:ext cx="35052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画面左上の「ゆめすみか」ボタンを押すと切り替わります。</a:t>
            </a:r>
          </a:p>
        </p:txBody>
      </p:sp>
    </p:spTree>
    <p:extLst>
      <p:ext uri="{BB962C8B-B14F-4D97-AF65-F5344CB8AC3E}">
        <p14:creationId xmlns:p14="http://schemas.microsoft.com/office/powerpoint/2010/main" val="1646134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ステップ</a:t>
            </a:r>
            <a:r>
              <a:rPr kumimoji="0" lang="en-US" altLang="ja-JP" sz="2000" b="1" i="0" u="none" strike="noStrike" cap="none" normalizeH="0" baseline="0">
                <a:ln>
                  <a:noFill/>
                </a:ln>
                <a:solidFill>
                  <a:schemeClr val="tx1"/>
                </a:solidFill>
                <a:effectLst/>
                <a:latin typeface="Arial" panose="020B0604020202020204" pitchFamily="34" charset="0"/>
              </a:rPr>
              <a:t>2 </a:t>
            </a:r>
            <a:r>
              <a:rPr kumimoji="0" lang="ja-JP" altLang="en-US" sz="2000" b="1" i="0" u="none" strike="noStrike" cap="none" normalizeH="0" baseline="0">
                <a:ln>
                  <a:noFill/>
                </a:ln>
                <a:solidFill>
                  <a:schemeClr val="tx1"/>
                </a:solidFill>
                <a:effectLst/>
                <a:latin typeface="Arial" panose="020B0604020202020204" pitchFamily="34" charset="0"/>
              </a:rPr>
              <a:t>画面の見方</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ja-JP" altLang="en-US" sz="1400"/>
              <a:t>展示場ごとに、スタッフの予定が表で表示されます</a:t>
            </a:r>
            <a:endParaRPr lang="en-US" altLang="ja-JP" sz="1400" dirty="0"/>
          </a:p>
        </p:txBody>
      </p:sp>
      <p:sp>
        <p:nvSpPr>
          <p:cNvPr id="3" name="ページ番号">
            <a:extLst>
              <a:ext uri="{FF2B5EF4-FFF2-40B4-BE49-F238E27FC236}">
                <a16:creationId xmlns:a16="http://schemas.microsoft.com/office/drawing/2014/main" id="{CA0F9311-F415-18E5-EACB-57EBE183D59D}"/>
              </a:ext>
            </a:extLst>
          </p:cNvPr>
          <p:cNvSpPr txBox="1"/>
          <p:nvPr/>
        </p:nvSpPr>
        <p:spPr>
          <a:xfrm>
            <a:off x="10134600" y="6578600"/>
            <a:ext cx="1524000" cy="168829"/>
          </a:xfrm>
          <a:prstGeom prst="rect">
            <a:avLst/>
          </a:prstGeom>
          <a:noFill/>
        </p:spPr>
        <p:txBody>
          <a:bodyPr vert="horz" wrap="square" lIns="0" tIns="0" rIns="0" bIns="0" rtlCol="0">
            <a:spAutoFit/>
          </a:bodyPr>
          <a:lstStyle/>
          <a:p>
            <a:pPr algn="r">
              <a:lnSpc>
                <a:spcPct val="115000"/>
              </a:lnSpc>
            </a:pPr>
            <a:r>
              <a:rPr kumimoji="1" lang="en-US" altLang="ja-JP" sz="1000">
                <a:solidFill>
                  <a:srgbClr val="6B7D8F"/>
                </a:solidFill>
                <a:latin typeface="游ゴシック" panose="020B0400000000000000" pitchFamily="50" charset="-128"/>
                <a:ea typeface="游ゴシック" panose="020B0400000000000000" pitchFamily="50" charset="-128"/>
              </a:rPr>
              <a:t>4 / 7</a:t>
            </a:r>
            <a:endParaRPr kumimoji="1" lang="ja-JP" altLang="en-US" sz="1000">
              <a:solidFill>
                <a:srgbClr val="6B7D8F"/>
              </a:solidFill>
              <a:latin typeface="游ゴシック" panose="020B0400000000000000" pitchFamily="50" charset="-128"/>
              <a:ea typeface="游ゴシック" panose="020B0400000000000000" pitchFamily="50" charset="-128"/>
            </a:endParaRPr>
          </a:p>
        </p:txBody>
      </p:sp>
      <p:pic>
        <p:nvPicPr>
          <p:cNvPr id="7" name="画面_c02_staff">
            <a:extLst>
              <a:ext uri="{FF2B5EF4-FFF2-40B4-BE49-F238E27FC236}">
                <a16:creationId xmlns:a16="http://schemas.microsoft.com/office/drawing/2014/main" id="{946BBB64-4C51-F4B7-D4B1-590893DF14B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3400" y="1168400"/>
            <a:ext cx="7620000" cy="3771900"/>
          </a:xfrm>
          <a:prstGeom prst="rect">
            <a:avLst/>
          </a:prstGeom>
          <a:ln w="9525">
            <a:solidFill>
              <a:srgbClr val="C8D3DF"/>
            </a:solidFill>
          </a:ln>
        </p:spPr>
      </p:pic>
      <p:sp>
        <p:nvSpPr>
          <p:cNvPr id="12" name="赤枠_1">
            <a:extLst>
              <a:ext uri="{FF2B5EF4-FFF2-40B4-BE49-F238E27FC236}">
                <a16:creationId xmlns:a16="http://schemas.microsoft.com/office/drawing/2014/main" id="{4F21FD9A-F714-01F5-3C9B-94458D6F70FB}"/>
              </a:ext>
            </a:extLst>
          </p:cNvPr>
          <p:cNvSpPr/>
          <p:nvPr/>
        </p:nvSpPr>
        <p:spPr>
          <a:xfrm>
            <a:off x="638629" y="1240971"/>
            <a:ext cx="1215571" cy="252186"/>
          </a:xfrm>
          <a:prstGeom prst="roundRect">
            <a:avLst>
              <a:gd name="adj" fmla="val 20000"/>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番号_1">
            <a:extLst>
              <a:ext uri="{FF2B5EF4-FFF2-40B4-BE49-F238E27FC236}">
                <a16:creationId xmlns:a16="http://schemas.microsoft.com/office/drawing/2014/main" id="{4AE0474F-9368-BD77-BE4B-D4D0F42B3C6F}"/>
              </a:ext>
            </a:extLst>
          </p:cNvPr>
          <p:cNvSpPr/>
          <p:nvPr/>
        </p:nvSpPr>
        <p:spPr>
          <a:xfrm>
            <a:off x="1739900" y="1126671"/>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1</a:t>
            </a:r>
            <a:endParaRPr kumimoji="1" lang="ja-JP" altLang="en-US" sz="1000" b="1">
              <a:solidFill>
                <a:srgbClr val="FFFFFF"/>
              </a:solidFill>
              <a:latin typeface="Arial" panose="020B0604020202020204" pitchFamily="34" charset="0"/>
            </a:endParaRPr>
          </a:p>
        </p:txBody>
      </p:sp>
      <p:sp>
        <p:nvSpPr>
          <p:cNvPr id="14" name="赤枠_2">
            <a:extLst>
              <a:ext uri="{FF2B5EF4-FFF2-40B4-BE49-F238E27FC236}">
                <a16:creationId xmlns:a16="http://schemas.microsoft.com/office/drawing/2014/main" id="{F0067027-A1C4-6E24-9D47-BBC9F5F0F0E8}"/>
              </a:ext>
            </a:extLst>
          </p:cNvPr>
          <p:cNvSpPr/>
          <p:nvPr/>
        </p:nvSpPr>
        <p:spPr>
          <a:xfrm>
            <a:off x="638629" y="1532164"/>
            <a:ext cx="2706914" cy="224972"/>
          </a:xfrm>
          <a:prstGeom prst="roundRect">
            <a:avLst>
              <a:gd name="adj" fmla="val 22222"/>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番号_2">
            <a:extLst>
              <a:ext uri="{FF2B5EF4-FFF2-40B4-BE49-F238E27FC236}">
                <a16:creationId xmlns:a16="http://schemas.microsoft.com/office/drawing/2014/main" id="{5DC03D54-E090-7EE8-E232-C2F39A2D1C7C}"/>
              </a:ext>
            </a:extLst>
          </p:cNvPr>
          <p:cNvSpPr/>
          <p:nvPr/>
        </p:nvSpPr>
        <p:spPr>
          <a:xfrm>
            <a:off x="3231243" y="1417864"/>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2</a:t>
            </a:r>
            <a:endParaRPr kumimoji="1" lang="ja-JP" altLang="en-US" sz="1000" b="1">
              <a:solidFill>
                <a:srgbClr val="FFFFFF"/>
              </a:solidFill>
              <a:latin typeface="Arial" panose="020B0604020202020204" pitchFamily="34" charset="0"/>
            </a:endParaRPr>
          </a:p>
        </p:txBody>
      </p:sp>
      <p:sp>
        <p:nvSpPr>
          <p:cNvPr id="16" name="赤枠_3">
            <a:extLst>
              <a:ext uri="{FF2B5EF4-FFF2-40B4-BE49-F238E27FC236}">
                <a16:creationId xmlns:a16="http://schemas.microsoft.com/office/drawing/2014/main" id="{AF06C2C1-2D4E-7615-80E8-3DEA3A850109}"/>
              </a:ext>
            </a:extLst>
          </p:cNvPr>
          <p:cNvSpPr/>
          <p:nvPr/>
        </p:nvSpPr>
        <p:spPr>
          <a:xfrm>
            <a:off x="651329" y="2091871"/>
            <a:ext cx="7384143" cy="302986"/>
          </a:xfrm>
          <a:prstGeom prst="roundRect">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番号_3">
            <a:extLst>
              <a:ext uri="{FF2B5EF4-FFF2-40B4-BE49-F238E27FC236}">
                <a16:creationId xmlns:a16="http://schemas.microsoft.com/office/drawing/2014/main" id="{F1A8EF9A-8E07-A5DE-2EBD-821F6F30EB7C}"/>
              </a:ext>
            </a:extLst>
          </p:cNvPr>
          <p:cNvSpPr/>
          <p:nvPr/>
        </p:nvSpPr>
        <p:spPr>
          <a:xfrm>
            <a:off x="397329" y="2129064"/>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3</a:t>
            </a:r>
            <a:endParaRPr kumimoji="1" lang="ja-JP" altLang="en-US" sz="1000" b="1">
              <a:solidFill>
                <a:srgbClr val="FFFFFF"/>
              </a:solidFill>
              <a:latin typeface="Arial" panose="020B0604020202020204" pitchFamily="34" charset="0"/>
            </a:endParaRPr>
          </a:p>
        </p:txBody>
      </p:sp>
      <p:sp>
        <p:nvSpPr>
          <p:cNvPr id="20" name="赤枠_4">
            <a:extLst>
              <a:ext uri="{FF2B5EF4-FFF2-40B4-BE49-F238E27FC236}">
                <a16:creationId xmlns:a16="http://schemas.microsoft.com/office/drawing/2014/main" id="{57CDA07F-5C97-CDE7-A49F-56CCAC4A44F1}"/>
              </a:ext>
            </a:extLst>
          </p:cNvPr>
          <p:cNvSpPr/>
          <p:nvPr/>
        </p:nvSpPr>
        <p:spPr>
          <a:xfrm>
            <a:off x="760186" y="2614386"/>
            <a:ext cx="787400" cy="2112736"/>
          </a:xfrm>
          <a:prstGeom prst="roundRect">
            <a:avLst>
              <a:gd name="adj" fmla="val 6452"/>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番号_4">
            <a:extLst>
              <a:ext uri="{FF2B5EF4-FFF2-40B4-BE49-F238E27FC236}">
                <a16:creationId xmlns:a16="http://schemas.microsoft.com/office/drawing/2014/main" id="{1CCD8701-18A6-8E96-A8B4-D464316F331C}"/>
              </a:ext>
            </a:extLst>
          </p:cNvPr>
          <p:cNvSpPr/>
          <p:nvPr/>
        </p:nvSpPr>
        <p:spPr>
          <a:xfrm>
            <a:off x="506186" y="3556453"/>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4</a:t>
            </a:r>
            <a:endParaRPr kumimoji="1" lang="ja-JP" altLang="en-US" sz="1000" b="1">
              <a:solidFill>
                <a:srgbClr val="FFFFFF"/>
              </a:solidFill>
              <a:latin typeface="Arial" panose="020B0604020202020204" pitchFamily="34" charset="0"/>
            </a:endParaRPr>
          </a:p>
        </p:txBody>
      </p:sp>
      <p:sp>
        <p:nvSpPr>
          <p:cNvPr id="22" name="赤枠_5">
            <a:extLst>
              <a:ext uri="{FF2B5EF4-FFF2-40B4-BE49-F238E27FC236}">
                <a16:creationId xmlns:a16="http://schemas.microsoft.com/office/drawing/2014/main" id="{63C074A3-BF70-2224-46DB-B97FFBA19D5D}"/>
              </a:ext>
            </a:extLst>
          </p:cNvPr>
          <p:cNvSpPr/>
          <p:nvPr/>
        </p:nvSpPr>
        <p:spPr>
          <a:xfrm>
            <a:off x="1522186" y="2445657"/>
            <a:ext cx="1137273" cy="194129"/>
          </a:xfrm>
          <a:prstGeom prst="roundRect">
            <a:avLst>
              <a:gd name="adj" fmla="val 26667"/>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番号_5">
            <a:extLst>
              <a:ext uri="{FF2B5EF4-FFF2-40B4-BE49-F238E27FC236}">
                <a16:creationId xmlns:a16="http://schemas.microsoft.com/office/drawing/2014/main" id="{7FCE226B-5DE1-778E-C0DB-2C2848D6AA11}"/>
              </a:ext>
            </a:extLst>
          </p:cNvPr>
          <p:cNvSpPr/>
          <p:nvPr/>
        </p:nvSpPr>
        <p:spPr>
          <a:xfrm>
            <a:off x="2545159" y="2331357"/>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5</a:t>
            </a:r>
            <a:endParaRPr kumimoji="1" lang="ja-JP" altLang="en-US" sz="1000" b="1">
              <a:solidFill>
                <a:srgbClr val="FFFFFF"/>
              </a:solidFill>
              <a:latin typeface="Arial" panose="020B0604020202020204" pitchFamily="34" charset="0"/>
            </a:endParaRPr>
          </a:p>
        </p:txBody>
      </p:sp>
      <p:sp>
        <p:nvSpPr>
          <p:cNvPr id="24" name="手順番号_1">
            <a:extLst>
              <a:ext uri="{FF2B5EF4-FFF2-40B4-BE49-F238E27FC236}">
                <a16:creationId xmlns:a16="http://schemas.microsoft.com/office/drawing/2014/main" id="{211EA0D7-E913-9BE7-630D-47F0DBE8F5F3}"/>
              </a:ext>
            </a:extLst>
          </p:cNvPr>
          <p:cNvSpPr/>
          <p:nvPr/>
        </p:nvSpPr>
        <p:spPr>
          <a:xfrm>
            <a:off x="8483600" y="1155700"/>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1</a:t>
            </a:r>
            <a:endParaRPr kumimoji="1" lang="ja-JP" altLang="en-US" sz="1200" b="1">
              <a:solidFill>
                <a:srgbClr val="FFFFFF"/>
              </a:solidFill>
              <a:latin typeface="Arial" panose="020B0604020202020204" pitchFamily="34" charset="0"/>
            </a:endParaRPr>
          </a:p>
        </p:txBody>
      </p:sp>
      <p:sp>
        <p:nvSpPr>
          <p:cNvPr id="26" name="テキスト ボックス 25">
            <a:extLst>
              <a:ext uri="{FF2B5EF4-FFF2-40B4-BE49-F238E27FC236}">
                <a16:creationId xmlns:a16="http://schemas.microsoft.com/office/drawing/2014/main" id="{2296278E-FF65-3A44-3376-41FA0C5E2D43}"/>
              </a:ext>
            </a:extLst>
          </p:cNvPr>
          <p:cNvSpPr txBox="1"/>
          <p:nvPr/>
        </p:nvSpPr>
        <p:spPr>
          <a:xfrm>
            <a:off x="8890000" y="1168400"/>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会社の切り替え</a:t>
            </a:r>
          </a:p>
        </p:txBody>
      </p:sp>
      <p:sp>
        <p:nvSpPr>
          <p:cNvPr id="27" name="テキスト ボックス 26">
            <a:extLst>
              <a:ext uri="{FF2B5EF4-FFF2-40B4-BE49-F238E27FC236}">
                <a16:creationId xmlns:a16="http://schemas.microsoft.com/office/drawing/2014/main" id="{FD9FC1AA-C60B-7B4B-72A9-A29248F39AC8}"/>
              </a:ext>
            </a:extLst>
          </p:cNvPr>
          <p:cNvSpPr txBox="1"/>
          <p:nvPr/>
        </p:nvSpPr>
        <p:spPr>
          <a:xfrm>
            <a:off x="8890000" y="1471833"/>
            <a:ext cx="27686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「吉村一建設」「ゆめすみか」を切り替えます。</a:t>
            </a:r>
          </a:p>
        </p:txBody>
      </p:sp>
      <p:sp>
        <p:nvSpPr>
          <p:cNvPr id="28" name="手順番号_2">
            <a:extLst>
              <a:ext uri="{FF2B5EF4-FFF2-40B4-BE49-F238E27FC236}">
                <a16:creationId xmlns:a16="http://schemas.microsoft.com/office/drawing/2014/main" id="{C6FE703E-2820-9FE1-EDF3-87CD08D10964}"/>
              </a:ext>
            </a:extLst>
          </p:cNvPr>
          <p:cNvSpPr/>
          <p:nvPr/>
        </p:nvSpPr>
        <p:spPr>
          <a:xfrm>
            <a:off x="8483600" y="2005795"/>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2</a:t>
            </a:r>
            <a:endParaRPr kumimoji="1" lang="ja-JP" altLang="en-US" sz="1200" b="1">
              <a:solidFill>
                <a:srgbClr val="FFFFFF"/>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E2118D6B-1D02-580A-CDF6-2A44978D56C5}"/>
              </a:ext>
            </a:extLst>
          </p:cNvPr>
          <p:cNvSpPr txBox="1"/>
          <p:nvPr/>
        </p:nvSpPr>
        <p:spPr>
          <a:xfrm>
            <a:off x="8890000" y="2018495"/>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表示する期間</a:t>
            </a:r>
          </a:p>
        </p:txBody>
      </p:sp>
      <p:sp>
        <p:nvSpPr>
          <p:cNvPr id="30" name="テキスト ボックス 29">
            <a:extLst>
              <a:ext uri="{FF2B5EF4-FFF2-40B4-BE49-F238E27FC236}">
                <a16:creationId xmlns:a16="http://schemas.microsoft.com/office/drawing/2014/main" id="{5B611566-5D82-9632-FD4A-BB8BD67FC1EC}"/>
              </a:ext>
            </a:extLst>
          </p:cNvPr>
          <p:cNvSpPr txBox="1"/>
          <p:nvPr/>
        </p:nvSpPr>
        <p:spPr>
          <a:xfrm>
            <a:off x="8890000" y="2321928"/>
            <a:ext cx="2768600" cy="653577"/>
          </a:xfrm>
          <a:prstGeom prst="rect">
            <a:avLst/>
          </a:prstGeom>
          <a:noFill/>
        </p:spPr>
        <p:txBody>
          <a:bodyPr vert="horz" wrap="square" lIns="0" tIns="0" rIns="0" bIns="0" rtlCol="0">
            <a:spAutoFit/>
          </a:bodyPr>
          <a:lstStyle/>
          <a:p>
            <a:pPr>
              <a:lnSpc>
                <a:spcPct val="115000"/>
              </a:lnSpc>
            </a:pPr>
            <a:r>
              <a:rPr kumimoji="1" lang="en-US" altLang="ja-JP" sz="1250">
                <a:solidFill>
                  <a:srgbClr val="1C2B3A"/>
                </a:solidFill>
                <a:latin typeface="游ゴシック" panose="020B0400000000000000" pitchFamily="50" charset="-128"/>
                <a:ea typeface="游ゴシック" panose="020B0400000000000000" pitchFamily="50" charset="-128"/>
              </a:rPr>
              <a:t>2</a:t>
            </a:r>
            <a:r>
              <a:rPr kumimoji="1" lang="ja-JP" altLang="en-US" sz="1250">
                <a:solidFill>
                  <a:srgbClr val="1C2B3A"/>
                </a:solidFill>
                <a:latin typeface="游ゴシック" panose="020B0400000000000000" pitchFamily="50" charset="-128"/>
                <a:ea typeface="游ゴシック" panose="020B0400000000000000" pitchFamily="50" charset="-128"/>
              </a:rPr>
              <a:t>週間分を表示します。「</a:t>
            </a:r>
            <a:r>
              <a:rPr kumimoji="1" lang="en-US" altLang="ja-JP" sz="1250">
                <a:solidFill>
                  <a:srgbClr val="1C2B3A"/>
                </a:solidFill>
                <a:latin typeface="游ゴシック" panose="020B0400000000000000" pitchFamily="50" charset="-128"/>
                <a:ea typeface="游ゴシック" panose="020B0400000000000000" pitchFamily="50" charset="-128"/>
              </a:rPr>
              <a:t>‹ ›</a:t>
            </a:r>
            <a:r>
              <a:rPr kumimoji="1" lang="ja-JP" altLang="en-US" sz="1250">
                <a:solidFill>
                  <a:srgbClr val="1C2B3A"/>
                </a:solidFill>
                <a:latin typeface="游ゴシック" panose="020B0400000000000000" pitchFamily="50" charset="-128"/>
                <a:ea typeface="游ゴシック" panose="020B0400000000000000" pitchFamily="50" charset="-128"/>
              </a:rPr>
              <a:t>」で前後の</a:t>
            </a:r>
            <a:r>
              <a:rPr kumimoji="1" lang="en-US" altLang="ja-JP" sz="1250">
                <a:solidFill>
                  <a:srgbClr val="1C2B3A"/>
                </a:solidFill>
                <a:latin typeface="游ゴシック" panose="020B0400000000000000" pitchFamily="50" charset="-128"/>
                <a:ea typeface="游ゴシック" panose="020B0400000000000000" pitchFamily="50" charset="-128"/>
              </a:rPr>
              <a:t>2</a:t>
            </a:r>
            <a:r>
              <a:rPr kumimoji="1" lang="ja-JP" altLang="en-US" sz="1250">
                <a:solidFill>
                  <a:srgbClr val="1C2B3A"/>
                </a:solidFill>
                <a:latin typeface="游ゴシック" panose="020B0400000000000000" pitchFamily="50" charset="-128"/>
                <a:ea typeface="游ゴシック" panose="020B0400000000000000" pitchFamily="50" charset="-128"/>
              </a:rPr>
              <a:t>週間へ、「今日」で今日からの</a:t>
            </a:r>
            <a:r>
              <a:rPr kumimoji="1" lang="en-US" altLang="ja-JP" sz="1250">
                <a:solidFill>
                  <a:srgbClr val="1C2B3A"/>
                </a:solidFill>
                <a:latin typeface="游ゴシック" panose="020B0400000000000000" pitchFamily="50" charset="-128"/>
                <a:ea typeface="游ゴシック" panose="020B0400000000000000" pitchFamily="50" charset="-128"/>
              </a:rPr>
              <a:t>2</a:t>
            </a:r>
            <a:r>
              <a:rPr kumimoji="1" lang="ja-JP" altLang="en-US" sz="1250">
                <a:solidFill>
                  <a:srgbClr val="1C2B3A"/>
                </a:solidFill>
                <a:latin typeface="游ゴシック" panose="020B0400000000000000" pitchFamily="50" charset="-128"/>
                <a:ea typeface="游ゴシック" panose="020B0400000000000000" pitchFamily="50" charset="-128"/>
              </a:rPr>
              <a:t>週間に戻ります。</a:t>
            </a:r>
          </a:p>
        </p:txBody>
      </p:sp>
      <p:sp>
        <p:nvSpPr>
          <p:cNvPr id="31" name="手順番号_3">
            <a:extLst>
              <a:ext uri="{FF2B5EF4-FFF2-40B4-BE49-F238E27FC236}">
                <a16:creationId xmlns:a16="http://schemas.microsoft.com/office/drawing/2014/main" id="{F181EAF5-63E4-99B7-4804-812CC85FC478}"/>
              </a:ext>
            </a:extLst>
          </p:cNvPr>
          <p:cNvSpPr/>
          <p:nvPr/>
        </p:nvSpPr>
        <p:spPr>
          <a:xfrm>
            <a:off x="8483600" y="3077105"/>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3</a:t>
            </a:r>
            <a:endParaRPr kumimoji="1" lang="ja-JP" altLang="en-US" sz="1200" b="1">
              <a:solidFill>
                <a:srgbClr val="FFFFFF"/>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DB04F9E0-DB28-FFB8-8334-5CC2286D0775}"/>
              </a:ext>
            </a:extLst>
          </p:cNvPr>
          <p:cNvSpPr txBox="1"/>
          <p:nvPr/>
        </p:nvSpPr>
        <p:spPr>
          <a:xfrm>
            <a:off x="8890000" y="3089805"/>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展示場の切り替え</a:t>
            </a:r>
          </a:p>
        </p:txBody>
      </p:sp>
      <p:sp>
        <p:nvSpPr>
          <p:cNvPr id="33" name="テキスト ボックス 32">
            <a:extLst>
              <a:ext uri="{FF2B5EF4-FFF2-40B4-BE49-F238E27FC236}">
                <a16:creationId xmlns:a16="http://schemas.microsoft.com/office/drawing/2014/main" id="{833DAC07-72CE-0036-8569-35385BAAABAF}"/>
              </a:ext>
            </a:extLst>
          </p:cNvPr>
          <p:cNvSpPr txBox="1"/>
          <p:nvPr/>
        </p:nvSpPr>
        <p:spPr>
          <a:xfrm>
            <a:off x="8890000" y="3393238"/>
            <a:ext cx="27686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最初は、自分が所属している展示場が表示されます。</a:t>
            </a:r>
          </a:p>
        </p:txBody>
      </p:sp>
      <p:sp>
        <p:nvSpPr>
          <p:cNvPr id="34" name="手順番号_4">
            <a:extLst>
              <a:ext uri="{FF2B5EF4-FFF2-40B4-BE49-F238E27FC236}">
                <a16:creationId xmlns:a16="http://schemas.microsoft.com/office/drawing/2014/main" id="{69E07118-8F44-E079-22FB-7C2C88E8CECD}"/>
              </a:ext>
            </a:extLst>
          </p:cNvPr>
          <p:cNvSpPr/>
          <p:nvPr/>
        </p:nvSpPr>
        <p:spPr>
          <a:xfrm>
            <a:off x="8483600" y="3927200"/>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4</a:t>
            </a:r>
            <a:endParaRPr kumimoji="1" lang="ja-JP" altLang="en-US" sz="1200" b="1">
              <a:solidFill>
                <a:srgbClr val="FFFFFF"/>
              </a:solidFill>
              <a:latin typeface="Arial" panose="020B0604020202020204" pitchFamily="34" charset="0"/>
            </a:endParaRPr>
          </a:p>
        </p:txBody>
      </p:sp>
      <p:sp>
        <p:nvSpPr>
          <p:cNvPr id="35" name="テキスト ボックス 34">
            <a:extLst>
              <a:ext uri="{FF2B5EF4-FFF2-40B4-BE49-F238E27FC236}">
                <a16:creationId xmlns:a16="http://schemas.microsoft.com/office/drawing/2014/main" id="{1B9F5152-4057-2DDB-71F3-7D22BB4169CF}"/>
              </a:ext>
            </a:extLst>
          </p:cNvPr>
          <p:cNvSpPr txBox="1"/>
          <p:nvPr/>
        </p:nvSpPr>
        <p:spPr>
          <a:xfrm>
            <a:off x="8890000" y="3939900"/>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スタッフの名前</a:t>
            </a:r>
          </a:p>
        </p:txBody>
      </p:sp>
      <p:sp>
        <p:nvSpPr>
          <p:cNvPr id="36" name="テキスト ボックス 35">
            <a:extLst>
              <a:ext uri="{FF2B5EF4-FFF2-40B4-BE49-F238E27FC236}">
                <a16:creationId xmlns:a16="http://schemas.microsoft.com/office/drawing/2014/main" id="{A29BA32A-6C92-0468-CF99-C7F673A36B7C}"/>
              </a:ext>
            </a:extLst>
          </p:cNvPr>
          <p:cNvSpPr txBox="1"/>
          <p:nvPr/>
        </p:nvSpPr>
        <p:spPr>
          <a:xfrm>
            <a:off x="8890000" y="4243333"/>
            <a:ext cx="27686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その展示場のスタッフが五十音順に並びます。</a:t>
            </a:r>
          </a:p>
        </p:txBody>
      </p:sp>
      <p:sp>
        <p:nvSpPr>
          <p:cNvPr id="37" name="手順番号_5">
            <a:extLst>
              <a:ext uri="{FF2B5EF4-FFF2-40B4-BE49-F238E27FC236}">
                <a16:creationId xmlns:a16="http://schemas.microsoft.com/office/drawing/2014/main" id="{2CE12BC8-C95F-5512-42BE-C1D6C4BB20E3}"/>
              </a:ext>
            </a:extLst>
          </p:cNvPr>
          <p:cNvSpPr/>
          <p:nvPr/>
        </p:nvSpPr>
        <p:spPr>
          <a:xfrm>
            <a:off x="8483600" y="4777295"/>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5</a:t>
            </a:r>
            <a:endParaRPr kumimoji="1" lang="ja-JP" altLang="en-US" sz="1200" b="1">
              <a:solidFill>
                <a:srgbClr val="FFFFFF"/>
              </a:solidFill>
              <a:latin typeface="Arial" panose="020B0604020202020204" pitchFamily="34" charset="0"/>
            </a:endParaRPr>
          </a:p>
        </p:txBody>
      </p:sp>
      <p:sp>
        <p:nvSpPr>
          <p:cNvPr id="38" name="テキスト ボックス 37">
            <a:extLst>
              <a:ext uri="{FF2B5EF4-FFF2-40B4-BE49-F238E27FC236}">
                <a16:creationId xmlns:a16="http://schemas.microsoft.com/office/drawing/2014/main" id="{4F2ECBFA-57FD-E12B-E7D0-14AAEDC434CF}"/>
              </a:ext>
            </a:extLst>
          </p:cNvPr>
          <p:cNvSpPr txBox="1"/>
          <p:nvPr/>
        </p:nvSpPr>
        <p:spPr>
          <a:xfrm>
            <a:off x="8890000" y="4789995"/>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日付</a:t>
            </a:r>
          </a:p>
        </p:txBody>
      </p:sp>
      <p:sp>
        <p:nvSpPr>
          <p:cNvPr id="39" name="テキスト ボックス 38">
            <a:extLst>
              <a:ext uri="{FF2B5EF4-FFF2-40B4-BE49-F238E27FC236}">
                <a16:creationId xmlns:a16="http://schemas.microsoft.com/office/drawing/2014/main" id="{FAD18730-1625-CC5A-61DD-1CF70154A0D1}"/>
              </a:ext>
            </a:extLst>
          </p:cNvPr>
          <p:cNvSpPr txBox="1"/>
          <p:nvPr/>
        </p:nvSpPr>
        <p:spPr>
          <a:xfrm>
            <a:off x="8890000" y="5093428"/>
            <a:ext cx="2768600" cy="211148"/>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今日の列は青色で表示されます。</a:t>
            </a:r>
          </a:p>
        </p:txBody>
      </p:sp>
    </p:spTree>
    <p:extLst>
      <p:ext uri="{BB962C8B-B14F-4D97-AF65-F5344CB8AC3E}">
        <p14:creationId xmlns:p14="http://schemas.microsoft.com/office/powerpoint/2010/main" val="3665381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ステップ</a:t>
            </a:r>
            <a:r>
              <a:rPr kumimoji="0" lang="en-US" altLang="ja-JP" sz="2000" b="1" i="0" u="none" strike="noStrike" cap="none" normalizeH="0" baseline="0">
                <a:ln>
                  <a:noFill/>
                </a:ln>
                <a:solidFill>
                  <a:schemeClr val="tx1"/>
                </a:solidFill>
                <a:effectLst/>
                <a:latin typeface="Arial" panose="020B0604020202020204" pitchFamily="34" charset="0"/>
              </a:rPr>
              <a:t>3 </a:t>
            </a:r>
            <a:r>
              <a:rPr kumimoji="0" lang="ja-JP" altLang="en-US" sz="2000" b="1" i="0" u="none" strike="noStrike" cap="none" normalizeH="0" baseline="0">
                <a:ln>
                  <a:noFill/>
                </a:ln>
                <a:solidFill>
                  <a:schemeClr val="tx1"/>
                </a:solidFill>
                <a:effectLst/>
                <a:latin typeface="Arial" panose="020B0604020202020204" pitchFamily="34" charset="0"/>
              </a:rPr>
              <a:t>予定を読む</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en-US" altLang="ja-JP" sz="1400"/>
              <a:t>1</a:t>
            </a:r>
            <a:r>
              <a:rPr lang="ja-JP" altLang="en-US" sz="1400"/>
              <a:t>マスに、その人のその日の予定が時間順に並びます</a:t>
            </a:r>
            <a:endParaRPr lang="en-US" altLang="ja-JP" sz="1400" dirty="0"/>
          </a:p>
        </p:txBody>
      </p:sp>
      <p:sp>
        <p:nvSpPr>
          <p:cNvPr id="3" name="ページ番号">
            <a:extLst>
              <a:ext uri="{FF2B5EF4-FFF2-40B4-BE49-F238E27FC236}">
                <a16:creationId xmlns:a16="http://schemas.microsoft.com/office/drawing/2014/main" id="{18394DEB-4DCC-7DA9-777D-E6B3B44A48A2}"/>
              </a:ext>
            </a:extLst>
          </p:cNvPr>
          <p:cNvSpPr txBox="1"/>
          <p:nvPr/>
        </p:nvSpPr>
        <p:spPr>
          <a:xfrm>
            <a:off x="10134600" y="6578600"/>
            <a:ext cx="1524000" cy="168829"/>
          </a:xfrm>
          <a:prstGeom prst="rect">
            <a:avLst/>
          </a:prstGeom>
          <a:noFill/>
        </p:spPr>
        <p:txBody>
          <a:bodyPr vert="horz" wrap="square" lIns="0" tIns="0" rIns="0" bIns="0" rtlCol="0">
            <a:spAutoFit/>
          </a:bodyPr>
          <a:lstStyle/>
          <a:p>
            <a:pPr algn="r">
              <a:lnSpc>
                <a:spcPct val="115000"/>
              </a:lnSpc>
            </a:pPr>
            <a:r>
              <a:rPr kumimoji="1" lang="en-US" altLang="ja-JP" sz="1000">
                <a:solidFill>
                  <a:srgbClr val="6B7D8F"/>
                </a:solidFill>
                <a:latin typeface="游ゴシック" panose="020B0400000000000000" pitchFamily="50" charset="-128"/>
                <a:ea typeface="游ゴシック" panose="020B0400000000000000" pitchFamily="50" charset="-128"/>
              </a:rPr>
              <a:t>5 / 7</a:t>
            </a:r>
            <a:endParaRPr kumimoji="1" lang="ja-JP" altLang="en-US" sz="1000">
              <a:solidFill>
                <a:srgbClr val="6B7D8F"/>
              </a:solidFill>
              <a:latin typeface="游ゴシック" panose="020B0400000000000000" pitchFamily="50" charset="-128"/>
              <a:ea typeface="游ゴシック" panose="020B0400000000000000" pitchFamily="50" charset="-128"/>
            </a:endParaRPr>
          </a:p>
        </p:txBody>
      </p:sp>
      <p:pic>
        <p:nvPicPr>
          <p:cNvPr id="7" name="画面_c02_staff">
            <a:extLst>
              <a:ext uri="{FF2B5EF4-FFF2-40B4-BE49-F238E27FC236}">
                <a16:creationId xmlns:a16="http://schemas.microsoft.com/office/drawing/2014/main" id="{CDE9BFCA-8D51-43BF-F8FB-6E932E1A0FC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3400" y="1168400"/>
            <a:ext cx="7112000" cy="3396343"/>
          </a:xfrm>
          <a:prstGeom prst="rect">
            <a:avLst/>
          </a:prstGeom>
          <a:ln w="9525">
            <a:solidFill>
              <a:srgbClr val="C8D3DF"/>
            </a:solidFill>
          </a:ln>
        </p:spPr>
      </p:pic>
      <p:sp>
        <p:nvSpPr>
          <p:cNvPr id="12" name="赤枠_1">
            <a:extLst>
              <a:ext uri="{FF2B5EF4-FFF2-40B4-BE49-F238E27FC236}">
                <a16:creationId xmlns:a16="http://schemas.microsoft.com/office/drawing/2014/main" id="{CC8C4896-BA0C-7720-FDA8-2DC626773F6C}"/>
              </a:ext>
            </a:extLst>
          </p:cNvPr>
          <p:cNvSpPr/>
          <p:nvPr/>
        </p:nvSpPr>
        <p:spPr>
          <a:xfrm>
            <a:off x="840014" y="1467757"/>
            <a:ext cx="6805386" cy="515257"/>
          </a:xfrm>
          <a:prstGeom prst="roundRect">
            <a:avLst>
              <a:gd name="adj" fmla="val 9756"/>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番号_1">
            <a:extLst>
              <a:ext uri="{FF2B5EF4-FFF2-40B4-BE49-F238E27FC236}">
                <a16:creationId xmlns:a16="http://schemas.microsoft.com/office/drawing/2014/main" id="{8CEE89B8-35D4-1814-0BEE-4C3222DFBF49}"/>
              </a:ext>
            </a:extLst>
          </p:cNvPr>
          <p:cNvSpPr/>
          <p:nvPr/>
        </p:nvSpPr>
        <p:spPr>
          <a:xfrm>
            <a:off x="586014" y="1611086"/>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1</a:t>
            </a:r>
            <a:endParaRPr kumimoji="1" lang="ja-JP" altLang="en-US" sz="1000" b="1">
              <a:solidFill>
                <a:srgbClr val="FFFFFF"/>
              </a:solidFill>
              <a:latin typeface="Arial" panose="020B0604020202020204" pitchFamily="34" charset="0"/>
            </a:endParaRPr>
          </a:p>
        </p:txBody>
      </p:sp>
      <p:sp>
        <p:nvSpPr>
          <p:cNvPr id="14" name="手順番号_1">
            <a:extLst>
              <a:ext uri="{FF2B5EF4-FFF2-40B4-BE49-F238E27FC236}">
                <a16:creationId xmlns:a16="http://schemas.microsoft.com/office/drawing/2014/main" id="{3E285062-BA26-451C-3E62-2FEAA8500FDF}"/>
              </a:ext>
            </a:extLst>
          </p:cNvPr>
          <p:cNvSpPr/>
          <p:nvPr/>
        </p:nvSpPr>
        <p:spPr>
          <a:xfrm>
            <a:off x="7975600" y="1155700"/>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1</a:t>
            </a:r>
            <a:endParaRPr kumimoji="1" lang="ja-JP" altLang="en-US" sz="1200" b="1">
              <a:solidFill>
                <a:srgbClr val="FFFFFF"/>
              </a:solidFill>
              <a:latin typeface="Arial" panose="020B0604020202020204" pitchFamily="34" charset="0"/>
            </a:endParaRPr>
          </a:p>
        </p:txBody>
      </p:sp>
      <p:sp>
        <p:nvSpPr>
          <p:cNvPr id="15" name="テキスト ボックス 14">
            <a:extLst>
              <a:ext uri="{FF2B5EF4-FFF2-40B4-BE49-F238E27FC236}">
                <a16:creationId xmlns:a16="http://schemas.microsoft.com/office/drawing/2014/main" id="{3A11BD6C-18CC-8E31-5ACE-DCC948F1416C}"/>
              </a:ext>
            </a:extLst>
          </p:cNvPr>
          <p:cNvSpPr txBox="1"/>
          <p:nvPr/>
        </p:nvSpPr>
        <p:spPr>
          <a:xfrm>
            <a:off x="8382000" y="1168400"/>
            <a:ext cx="3276600" cy="252633"/>
          </a:xfrm>
          <a:prstGeom prst="rect">
            <a:avLst/>
          </a:prstGeom>
          <a:noFill/>
        </p:spPr>
        <p:txBody>
          <a:bodyPr vert="horz" wrap="square" lIns="0" tIns="0" rIns="0" bIns="0" rtlCol="0">
            <a:spAutoFit/>
          </a:bodyPr>
          <a:lstStyle/>
          <a:p>
            <a:pPr>
              <a:lnSpc>
                <a:spcPct val="115000"/>
              </a:lnSpc>
            </a:pPr>
            <a:r>
              <a:rPr kumimoji="1" lang="en-US" altLang="ja-JP" sz="1500" b="1">
                <a:solidFill>
                  <a:srgbClr val="1E3A5F"/>
                </a:solidFill>
                <a:latin typeface="游ゴシック" panose="020B0400000000000000" pitchFamily="50" charset="-128"/>
                <a:ea typeface="游ゴシック" panose="020B0400000000000000" pitchFamily="50" charset="-128"/>
              </a:rPr>
              <a:t>1</a:t>
            </a:r>
            <a:r>
              <a:rPr kumimoji="1" lang="ja-JP" altLang="en-US" sz="1500" b="1">
                <a:solidFill>
                  <a:srgbClr val="1E3A5F"/>
                </a:solidFill>
                <a:latin typeface="游ゴシック" panose="020B0400000000000000" pitchFamily="50" charset="-128"/>
                <a:ea typeface="游ゴシック" panose="020B0400000000000000" pitchFamily="50" charset="-128"/>
              </a:rPr>
              <a:t>行が</a:t>
            </a:r>
            <a:r>
              <a:rPr kumimoji="1" lang="en-US" altLang="ja-JP" sz="1500" b="1">
                <a:solidFill>
                  <a:srgbClr val="1E3A5F"/>
                </a:solidFill>
                <a:latin typeface="游ゴシック" panose="020B0400000000000000" pitchFamily="50" charset="-128"/>
                <a:ea typeface="游ゴシック" panose="020B0400000000000000" pitchFamily="50" charset="-128"/>
              </a:rPr>
              <a:t>1</a:t>
            </a:r>
            <a:r>
              <a:rPr kumimoji="1" lang="ja-JP" altLang="en-US" sz="1500" b="1">
                <a:solidFill>
                  <a:srgbClr val="1E3A5F"/>
                </a:solidFill>
                <a:latin typeface="游ゴシック" panose="020B0400000000000000" pitchFamily="50" charset="-128"/>
                <a:ea typeface="游ゴシック" panose="020B0400000000000000" pitchFamily="50" charset="-128"/>
              </a:rPr>
              <a:t>人の予定</a:t>
            </a:r>
          </a:p>
        </p:txBody>
      </p:sp>
      <p:sp>
        <p:nvSpPr>
          <p:cNvPr id="16" name="テキスト ボックス 15">
            <a:extLst>
              <a:ext uri="{FF2B5EF4-FFF2-40B4-BE49-F238E27FC236}">
                <a16:creationId xmlns:a16="http://schemas.microsoft.com/office/drawing/2014/main" id="{0F1B2CDE-F6CF-7B5F-90A8-FCA3458CCC89}"/>
              </a:ext>
            </a:extLst>
          </p:cNvPr>
          <p:cNvSpPr txBox="1"/>
          <p:nvPr/>
        </p:nvSpPr>
        <p:spPr>
          <a:xfrm>
            <a:off x="8382000" y="1471833"/>
            <a:ext cx="32766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左の名前の行に、日付ごとの予定が「時間 件名」の形で表示されます。</a:t>
            </a:r>
          </a:p>
        </p:txBody>
      </p:sp>
      <p:sp>
        <p:nvSpPr>
          <p:cNvPr id="17" name="テキスト ボックス 16">
            <a:extLst>
              <a:ext uri="{FF2B5EF4-FFF2-40B4-BE49-F238E27FC236}">
                <a16:creationId xmlns:a16="http://schemas.microsoft.com/office/drawing/2014/main" id="{DAF9D5BC-0E86-FBF2-FAA1-3D6069AAAAE3}"/>
              </a:ext>
            </a:extLst>
          </p:cNvPr>
          <p:cNvSpPr txBox="1"/>
          <p:nvPr/>
        </p:nvSpPr>
        <p:spPr>
          <a:xfrm>
            <a:off x="7975600" y="2056595"/>
            <a:ext cx="36830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件名が長くて読めないとき</a:t>
            </a:r>
          </a:p>
        </p:txBody>
      </p:sp>
      <p:sp>
        <p:nvSpPr>
          <p:cNvPr id="20" name="テキスト ボックス 19">
            <a:extLst>
              <a:ext uri="{FF2B5EF4-FFF2-40B4-BE49-F238E27FC236}">
                <a16:creationId xmlns:a16="http://schemas.microsoft.com/office/drawing/2014/main" id="{86A2D285-D591-2677-C6C7-1A010D4A4850}"/>
              </a:ext>
            </a:extLst>
          </p:cNvPr>
          <p:cNvSpPr txBox="1"/>
          <p:nvPr/>
        </p:nvSpPr>
        <p:spPr>
          <a:xfrm>
            <a:off x="7975600" y="2360028"/>
            <a:ext cx="36830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予定にマウスを重ねると、件名の全文が表示されます。</a:t>
            </a:r>
          </a:p>
        </p:txBody>
      </p:sp>
      <p:sp>
        <p:nvSpPr>
          <p:cNvPr id="21" name="テキスト ボックス 20">
            <a:extLst>
              <a:ext uri="{FF2B5EF4-FFF2-40B4-BE49-F238E27FC236}">
                <a16:creationId xmlns:a16="http://schemas.microsoft.com/office/drawing/2014/main" id="{D267AFF4-EA03-8E0E-98A1-9FE45552CDF8}"/>
              </a:ext>
            </a:extLst>
          </p:cNvPr>
          <p:cNvSpPr txBox="1"/>
          <p:nvPr/>
        </p:nvSpPr>
        <p:spPr>
          <a:xfrm>
            <a:off x="7975600" y="2944790"/>
            <a:ext cx="36830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先の日付を見るとき</a:t>
            </a:r>
          </a:p>
        </p:txBody>
      </p:sp>
      <p:sp>
        <p:nvSpPr>
          <p:cNvPr id="22" name="テキスト ボックス 21">
            <a:extLst>
              <a:ext uri="{FF2B5EF4-FFF2-40B4-BE49-F238E27FC236}">
                <a16:creationId xmlns:a16="http://schemas.microsoft.com/office/drawing/2014/main" id="{91FF4E63-BDA0-CAD5-FC9B-74742E26B7C6}"/>
              </a:ext>
            </a:extLst>
          </p:cNvPr>
          <p:cNvSpPr txBox="1"/>
          <p:nvPr/>
        </p:nvSpPr>
        <p:spPr>
          <a:xfrm>
            <a:off x="7975600" y="3248223"/>
            <a:ext cx="36830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表を横にスクロールすると、</a:t>
            </a:r>
            <a:r>
              <a:rPr kumimoji="1" lang="en-US" altLang="ja-JP" sz="1250">
                <a:solidFill>
                  <a:srgbClr val="1C2B3A"/>
                </a:solidFill>
                <a:latin typeface="游ゴシック" panose="020B0400000000000000" pitchFamily="50" charset="-128"/>
                <a:ea typeface="游ゴシック" panose="020B0400000000000000" pitchFamily="50" charset="-128"/>
              </a:rPr>
              <a:t>2</a:t>
            </a:r>
            <a:r>
              <a:rPr kumimoji="1" lang="ja-JP" altLang="en-US" sz="1250">
                <a:solidFill>
                  <a:srgbClr val="1C2B3A"/>
                </a:solidFill>
                <a:latin typeface="游ゴシック" panose="020B0400000000000000" pitchFamily="50" charset="-128"/>
                <a:ea typeface="游ゴシック" panose="020B0400000000000000" pitchFamily="50" charset="-128"/>
              </a:rPr>
              <a:t>週間の後半が表示されます。</a:t>
            </a:r>
          </a:p>
        </p:txBody>
      </p:sp>
      <p:sp>
        <p:nvSpPr>
          <p:cNvPr id="23" name="補足の枠">
            <a:extLst>
              <a:ext uri="{FF2B5EF4-FFF2-40B4-BE49-F238E27FC236}">
                <a16:creationId xmlns:a16="http://schemas.microsoft.com/office/drawing/2014/main" id="{5E3CF696-260D-5ABF-3CB4-1DEFDD0F8327}"/>
              </a:ext>
            </a:extLst>
          </p:cNvPr>
          <p:cNvSpPr/>
          <p:nvPr/>
        </p:nvSpPr>
        <p:spPr>
          <a:xfrm>
            <a:off x="7975600" y="3858385"/>
            <a:ext cx="3683000" cy="913556"/>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47A87B0F-85C3-3DE2-A0AD-EBC3B0B14423}"/>
              </a:ext>
            </a:extLst>
          </p:cNvPr>
          <p:cNvSpPr txBox="1"/>
          <p:nvPr/>
        </p:nvSpPr>
        <p:spPr>
          <a:xfrm>
            <a:off x="8128000" y="3972685"/>
            <a:ext cx="33782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表示されない予定</a:t>
            </a:r>
          </a:p>
        </p:txBody>
      </p:sp>
      <p:sp>
        <p:nvSpPr>
          <p:cNvPr id="26" name="テキスト ボックス 25">
            <a:extLst>
              <a:ext uri="{FF2B5EF4-FFF2-40B4-BE49-F238E27FC236}">
                <a16:creationId xmlns:a16="http://schemas.microsoft.com/office/drawing/2014/main" id="{F5424EBB-35D6-008C-30E5-7773F0ACEAC8}"/>
              </a:ext>
            </a:extLst>
          </p:cNvPr>
          <p:cNvSpPr txBox="1"/>
          <p:nvPr/>
        </p:nvSpPr>
        <p:spPr>
          <a:xfrm>
            <a:off x="8128000" y="4204556"/>
            <a:ext cx="3378200" cy="414985"/>
          </a:xfrm>
          <a:prstGeom prst="rect">
            <a:avLst/>
          </a:prstGeom>
          <a:noFill/>
        </p:spPr>
        <p:txBody>
          <a:bodyPr vert="horz" wrap="square" lIns="0" tIns="0" rIns="0" bIns="0" rtlCol="0">
            <a:spAutoFit/>
          </a:bodyPr>
          <a:lstStyle/>
          <a:p>
            <a:pPr>
              <a:lnSpc>
                <a:spcPct val="115000"/>
              </a:lnSpc>
            </a:pPr>
            <a:r>
              <a:rPr kumimoji="1" lang="ja-JP" altLang="en-US" sz="1200" b="1">
                <a:solidFill>
                  <a:srgbClr val="1E3A5F"/>
                </a:solidFill>
                <a:latin typeface="游ゴシック" panose="020B0400000000000000" pitchFamily="50" charset="-128"/>
                <a:ea typeface="游ゴシック" panose="020B0400000000000000" pitchFamily="50" charset="-128"/>
              </a:rPr>
              <a:t>終日の予定</a:t>
            </a:r>
            <a:r>
              <a:rPr kumimoji="1" lang="en-US" altLang="ja-JP" sz="1200" b="1">
                <a:solidFill>
                  <a:srgbClr val="1E3A5F"/>
                </a:solidFill>
                <a:latin typeface="游ゴシック" panose="020B0400000000000000" pitchFamily="50" charset="-128"/>
                <a:ea typeface="游ゴシック" panose="020B0400000000000000" pitchFamily="50" charset="-128"/>
              </a:rPr>
              <a:t>(</a:t>
            </a:r>
            <a:r>
              <a:rPr kumimoji="1" lang="ja-JP" altLang="en-US" sz="1200" b="1">
                <a:solidFill>
                  <a:srgbClr val="1E3A5F"/>
                </a:solidFill>
                <a:latin typeface="游ゴシック" panose="020B0400000000000000" pitchFamily="50" charset="-128"/>
                <a:ea typeface="游ゴシック" panose="020B0400000000000000" pitchFamily="50" charset="-128"/>
              </a:rPr>
              <a:t>お休みなど</a:t>
            </a:r>
            <a:r>
              <a:rPr kumimoji="1" lang="en-US" altLang="ja-JP" sz="1200" b="1">
                <a:solidFill>
                  <a:srgbClr val="1E3A5F"/>
                </a:solidFill>
                <a:latin typeface="游ゴシック" panose="020B0400000000000000" pitchFamily="50" charset="-128"/>
                <a:ea typeface="游ゴシック" panose="020B0400000000000000" pitchFamily="50" charset="-128"/>
              </a:rPr>
              <a:t>)</a:t>
            </a:r>
            <a:r>
              <a:rPr kumimoji="1" lang="ja-JP" altLang="en-US" sz="1200" b="1">
                <a:solidFill>
                  <a:srgbClr val="1E3A5F"/>
                </a:solidFill>
                <a:latin typeface="游ゴシック" panose="020B0400000000000000" pitchFamily="50" charset="-128"/>
                <a:ea typeface="游ゴシック" panose="020B0400000000000000" pitchFamily="50" charset="-128"/>
              </a:rPr>
              <a:t>は表示されません</a:t>
            </a:r>
            <a:r>
              <a:rPr kumimoji="1" lang="ja-JP" altLang="en-US" sz="1200">
                <a:solidFill>
                  <a:srgbClr val="1C2B3A"/>
                </a:solidFill>
                <a:latin typeface="游ゴシック" panose="020B0400000000000000" pitchFamily="50" charset="-128"/>
                <a:ea typeface="游ゴシック" panose="020B0400000000000000" pitchFamily="50" charset="-128"/>
              </a:rPr>
              <a:t>。時間の決まった予定だけが表示されます。</a:t>
            </a:r>
          </a:p>
        </p:txBody>
      </p:sp>
    </p:spTree>
    <p:extLst>
      <p:ext uri="{BB962C8B-B14F-4D97-AF65-F5344CB8AC3E}">
        <p14:creationId xmlns:p14="http://schemas.microsoft.com/office/powerpoint/2010/main" val="3094031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ステップ</a:t>
            </a:r>
            <a:r>
              <a:rPr kumimoji="0" lang="en-US" altLang="ja-JP" sz="2000" b="1" i="0" u="none" strike="noStrike" cap="none" normalizeH="0" baseline="0">
                <a:ln>
                  <a:noFill/>
                </a:ln>
                <a:solidFill>
                  <a:schemeClr val="tx1"/>
                </a:solidFill>
                <a:effectLst/>
                <a:latin typeface="Arial" panose="020B0604020202020204" pitchFamily="34" charset="0"/>
              </a:rPr>
              <a:t>4 </a:t>
            </a:r>
            <a:r>
              <a:rPr kumimoji="0" lang="ja-JP" altLang="en-US" sz="2000" b="1" i="0" u="none" strike="noStrike" cap="none" normalizeH="0" baseline="0">
                <a:ln>
                  <a:noFill/>
                </a:ln>
                <a:solidFill>
                  <a:schemeClr val="tx1"/>
                </a:solidFill>
                <a:effectLst/>
                <a:latin typeface="Arial" panose="020B0604020202020204" pitchFamily="34" charset="0"/>
              </a:rPr>
              <a:t>展示場の会議室の予約を見る</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ja-JP" altLang="en-US" sz="1400"/>
              <a:t>日付を押すと、その日の会議室の予約が下に表示されます</a:t>
            </a:r>
            <a:endParaRPr lang="en-US" altLang="ja-JP" sz="1400" dirty="0"/>
          </a:p>
        </p:txBody>
      </p:sp>
      <p:sp>
        <p:nvSpPr>
          <p:cNvPr id="3" name="ページ番号">
            <a:extLst>
              <a:ext uri="{FF2B5EF4-FFF2-40B4-BE49-F238E27FC236}">
                <a16:creationId xmlns:a16="http://schemas.microsoft.com/office/drawing/2014/main" id="{074A49A3-FF48-3F9E-F29F-C7ED26E963C8}"/>
              </a:ext>
            </a:extLst>
          </p:cNvPr>
          <p:cNvSpPr txBox="1"/>
          <p:nvPr/>
        </p:nvSpPr>
        <p:spPr>
          <a:xfrm>
            <a:off x="10134600" y="6578600"/>
            <a:ext cx="1524000" cy="168829"/>
          </a:xfrm>
          <a:prstGeom prst="rect">
            <a:avLst/>
          </a:prstGeom>
          <a:noFill/>
        </p:spPr>
        <p:txBody>
          <a:bodyPr vert="horz" wrap="square" lIns="0" tIns="0" rIns="0" bIns="0" rtlCol="0">
            <a:spAutoFit/>
          </a:bodyPr>
          <a:lstStyle/>
          <a:p>
            <a:pPr algn="r">
              <a:lnSpc>
                <a:spcPct val="115000"/>
              </a:lnSpc>
            </a:pPr>
            <a:r>
              <a:rPr kumimoji="1" lang="en-US" altLang="ja-JP" sz="1000">
                <a:solidFill>
                  <a:srgbClr val="6B7D8F"/>
                </a:solidFill>
                <a:latin typeface="游ゴシック" panose="020B0400000000000000" pitchFamily="50" charset="-128"/>
                <a:ea typeface="游ゴシック" panose="020B0400000000000000" pitchFamily="50" charset="-128"/>
              </a:rPr>
              <a:t>6 / 7</a:t>
            </a:r>
            <a:endParaRPr kumimoji="1" lang="ja-JP" altLang="en-US" sz="1000">
              <a:solidFill>
                <a:srgbClr val="6B7D8F"/>
              </a:solidFill>
              <a:latin typeface="游ゴシック" panose="020B0400000000000000" pitchFamily="50" charset="-128"/>
              <a:ea typeface="游ゴシック" panose="020B0400000000000000" pitchFamily="50" charset="-128"/>
            </a:endParaRPr>
          </a:p>
        </p:txBody>
      </p:sp>
      <p:pic>
        <p:nvPicPr>
          <p:cNvPr id="7" name="画面_c03_rooms">
            <a:extLst>
              <a:ext uri="{FF2B5EF4-FFF2-40B4-BE49-F238E27FC236}">
                <a16:creationId xmlns:a16="http://schemas.microsoft.com/office/drawing/2014/main" id="{7C54F8B6-A485-8A76-7C16-7DECC79AFA7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3400" y="1168400"/>
            <a:ext cx="7620000" cy="5138057"/>
          </a:xfrm>
          <a:prstGeom prst="rect">
            <a:avLst/>
          </a:prstGeom>
          <a:ln w="9525">
            <a:solidFill>
              <a:srgbClr val="C8D3DF"/>
            </a:solidFill>
          </a:ln>
        </p:spPr>
      </p:pic>
      <p:sp>
        <p:nvSpPr>
          <p:cNvPr id="12" name="赤枠_1">
            <a:extLst>
              <a:ext uri="{FF2B5EF4-FFF2-40B4-BE49-F238E27FC236}">
                <a16:creationId xmlns:a16="http://schemas.microsoft.com/office/drawing/2014/main" id="{DCA3ABCF-6295-2955-6700-1FB293F35FB9}"/>
              </a:ext>
            </a:extLst>
          </p:cNvPr>
          <p:cNvSpPr/>
          <p:nvPr/>
        </p:nvSpPr>
        <p:spPr>
          <a:xfrm>
            <a:off x="3733318" y="1442357"/>
            <a:ext cx="1162674" cy="219529"/>
          </a:xfrm>
          <a:prstGeom prst="roundRect">
            <a:avLst>
              <a:gd name="adj" fmla="val 23529"/>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番号_1">
            <a:extLst>
              <a:ext uri="{FF2B5EF4-FFF2-40B4-BE49-F238E27FC236}">
                <a16:creationId xmlns:a16="http://schemas.microsoft.com/office/drawing/2014/main" id="{9257A006-C6ED-CBDA-F9A7-CBFB7B682FA5}"/>
              </a:ext>
            </a:extLst>
          </p:cNvPr>
          <p:cNvSpPr/>
          <p:nvPr/>
        </p:nvSpPr>
        <p:spPr>
          <a:xfrm>
            <a:off x="4781692" y="1328057"/>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1</a:t>
            </a:r>
            <a:endParaRPr kumimoji="1" lang="ja-JP" altLang="en-US" sz="1000" b="1">
              <a:solidFill>
                <a:srgbClr val="FFFFFF"/>
              </a:solidFill>
              <a:latin typeface="Arial" panose="020B0604020202020204" pitchFamily="34" charset="0"/>
            </a:endParaRPr>
          </a:p>
        </p:txBody>
      </p:sp>
      <p:sp>
        <p:nvSpPr>
          <p:cNvPr id="14" name="赤枠_2">
            <a:extLst>
              <a:ext uri="{FF2B5EF4-FFF2-40B4-BE49-F238E27FC236}">
                <a16:creationId xmlns:a16="http://schemas.microsoft.com/office/drawing/2014/main" id="{11C11F16-0DD8-2B89-2339-BEF0BD72C161}"/>
              </a:ext>
            </a:extLst>
          </p:cNvPr>
          <p:cNvSpPr/>
          <p:nvPr/>
        </p:nvSpPr>
        <p:spPr>
          <a:xfrm>
            <a:off x="651329" y="4113893"/>
            <a:ext cx="7302499" cy="2192564"/>
          </a:xfrm>
          <a:prstGeom prst="roundRect">
            <a:avLst>
              <a:gd name="adj" fmla="val 2312"/>
            </a:avLst>
          </a:prstGeom>
          <a:noFill/>
          <a:ln w="28575" cap="flat" cmpd="sng" algn="ctr">
            <a:solidFill>
              <a:srgbClr val="FF1F1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番号_2">
            <a:extLst>
              <a:ext uri="{FF2B5EF4-FFF2-40B4-BE49-F238E27FC236}">
                <a16:creationId xmlns:a16="http://schemas.microsoft.com/office/drawing/2014/main" id="{C2241350-1340-8DD3-D2DE-9F73879BDA48}"/>
              </a:ext>
            </a:extLst>
          </p:cNvPr>
          <p:cNvSpPr/>
          <p:nvPr/>
        </p:nvSpPr>
        <p:spPr>
          <a:xfrm>
            <a:off x="397329" y="5095875"/>
            <a:ext cx="228600" cy="2286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000" b="1">
                <a:solidFill>
                  <a:srgbClr val="FFFFFF"/>
                </a:solidFill>
                <a:latin typeface="Arial" panose="020B0604020202020204" pitchFamily="34" charset="0"/>
              </a:rPr>
              <a:t>2</a:t>
            </a:r>
            <a:endParaRPr kumimoji="1" lang="ja-JP" altLang="en-US" sz="1000" b="1">
              <a:solidFill>
                <a:srgbClr val="FFFFFF"/>
              </a:solidFill>
              <a:latin typeface="Arial" panose="020B0604020202020204" pitchFamily="34" charset="0"/>
            </a:endParaRPr>
          </a:p>
        </p:txBody>
      </p:sp>
      <p:sp>
        <p:nvSpPr>
          <p:cNvPr id="16" name="手順番号_1">
            <a:extLst>
              <a:ext uri="{FF2B5EF4-FFF2-40B4-BE49-F238E27FC236}">
                <a16:creationId xmlns:a16="http://schemas.microsoft.com/office/drawing/2014/main" id="{280C12F7-1851-9A72-9B7C-16E438578B1A}"/>
              </a:ext>
            </a:extLst>
          </p:cNvPr>
          <p:cNvSpPr/>
          <p:nvPr/>
        </p:nvSpPr>
        <p:spPr>
          <a:xfrm>
            <a:off x="8483600" y="1155700"/>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1</a:t>
            </a:r>
            <a:endParaRPr kumimoji="1" lang="ja-JP" altLang="en-US" sz="1200" b="1">
              <a:solidFill>
                <a:srgbClr val="FFFFFF"/>
              </a:solidFill>
              <a:latin typeface="Arial" panose="020B0604020202020204" pitchFamily="34" charset="0"/>
            </a:endParaRPr>
          </a:p>
        </p:txBody>
      </p:sp>
      <p:sp>
        <p:nvSpPr>
          <p:cNvPr id="17" name="テキスト ボックス 16">
            <a:extLst>
              <a:ext uri="{FF2B5EF4-FFF2-40B4-BE49-F238E27FC236}">
                <a16:creationId xmlns:a16="http://schemas.microsoft.com/office/drawing/2014/main" id="{737B641A-E516-60D1-FB45-8E4F14FE6B90}"/>
              </a:ext>
            </a:extLst>
          </p:cNvPr>
          <p:cNvSpPr txBox="1"/>
          <p:nvPr/>
        </p:nvSpPr>
        <p:spPr>
          <a:xfrm>
            <a:off x="8890000" y="1168400"/>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日付の見出しを押す</a:t>
            </a:r>
          </a:p>
        </p:txBody>
      </p:sp>
      <p:sp>
        <p:nvSpPr>
          <p:cNvPr id="20" name="テキスト ボックス 19">
            <a:extLst>
              <a:ext uri="{FF2B5EF4-FFF2-40B4-BE49-F238E27FC236}">
                <a16:creationId xmlns:a16="http://schemas.microsoft.com/office/drawing/2014/main" id="{11532A23-C3C5-E01F-F1F8-775802FEB2DB}"/>
              </a:ext>
            </a:extLst>
          </p:cNvPr>
          <p:cNvSpPr txBox="1"/>
          <p:nvPr/>
        </p:nvSpPr>
        <p:spPr>
          <a:xfrm>
            <a:off x="8890000" y="1471833"/>
            <a:ext cx="2768600" cy="432362"/>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表の上の日付を押すと、その日に下線が付きます。</a:t>
            </a:r>
          </a:p>
        </p:txBody>
      </p:sp>
      <p:sp>
        <p:nvSpPr>
          <p:cNvPr id="21" name="手順番号_2">
            <a:extLst>
              <a:ext uri="{FF2B5EF4-FFF2-40B4-BE49-F238E27FC236}">
                <a16:creationId xmlns:a16="http://schemas.microsoft.com/office/drawing/2014/main" id="{D49DD912-8463-C6A9-A4BB-9793E6576ECE}"/>
              </a:ext>
            </a:extLst>
          </p:cNvPr>
          <p:cNvSpPr/>
          <p:nvPr/>
        </p:nvSpPr>
        <p:spPr>
          <a:xfrm>
            <a:off x="8483600" y="2043895"/>
            <a:ext cx="279400" cy="279400"/>
          </a:xfrm>
          <a:prstGeom prst="ellipse">
            <a:avLst/>
          </a:prstGeom>
          <a:solidFill>
            <a:srgbClr val="FF1F1F"/>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200" b="1">
                <a:solidFill>
                  <a:srgbClr val="FFFFFF"/>
                </a:solidFill>
                <a:latin typeface="Arial" panose="020B0604020202020204" pitchFamily="34" charset="0"/>
              </a:rPr>
              <a:t>2</a:t>
            </a:r>
            <a:endParaRPr kumimoji="1" lang="ja-JP" altLang="en-US" sz="1200" b="1">
              <a:solidFill>
                <a:srgbClr val="FFFFFF"/>
              </a:solidFill>
              <a:latin typeface="Arial" panose="020B0604020202020204" pitchFamily="34" charset="0"/>
            </a:endParaRPr>
          </a:p>
        </p:txBody>
      </p:sp>
      <p:sp>
        <p:nvSpPr>
          <p:cNvPr id="22" name="テキスト ボックス 21">
            <a:extLst>
              <a:ext uri="{FF2B5EF4-FFF2-40B4-BE49-F238E27FC236}">
                <a16:creationId xmlns:a16="http://schemas.microsoft.com/office/drawing/2014/main" id="{36A3916D-BA42-9AE7-67A6-E3DBAEDFB584}"/>
              </a:ext>
            </a:extLst>
          </p:cNvPr>
          <p:cNvSpPr txBox="1"/>
          <p:nvPr/>
        </p:nvSpPr>
        <p:spPr>
          <a:xfrm>
            <a:off x="8890000" y="2056595"/>
            <a:ext cx="2768600" cy="252633"/>
          </a:xfrm>
          <a:prstGeom prst="rect">
            <a:avLst/>
          </a:prstGeom>
          <a:noFill/>
        </p:spPr>
        <p:txBody>
          <a:bodyPr vert="horz" wrap="square" lIns="0" tIns="0" rIns="0" bIns="0" rtlCol="0">
            <a:spAutoFit/>
          </a:bodyPr>
          <a:lstStyle/>
          <a:p>
            <a:pPr>
              <a:lnSpc>
                <a:spcPct val="115000"/>
              </a:lnSpc>
            </a:pPr>
            <a:r>
              <a:rPr kumimoji="1" lang="ja-JP" altLang="en-US" sz="1500" b="1">
                <a:solidFill>
                  <a:srgbClr val="1E3A5F"/>
                </a:solidFill>
                <a:latin typeface="游ゴシック" panose="020B0400000000000000" pitchFamily="50" charset="-128"/>
                <a:ea typeface="游ゴシック" panose="020B0400000000000000" pitchFamily="50" charset="-128"/>
              </a:rPr>
              <a:t>会議室の予約状況</a:t>
            </a:r>
          </a:p>
        </p:txBody>
      </p:sp>
      <p:sp>
        <p:nvSpPr>
          <p:cNvPr id="23" name="テキスト ボックス 22">
            <a:extLst>
              <a:ext uri="{FF2B5EF4-FFF2-40B4-BE49-F238E27FC236}">
                <a16:creationId xmlns:a16="http://schemas.microsoft.com/office/drawing/2014/main" id="{71DE2BDD-B152-4FAB-D731-09414F9C2930}"/>
              </a:ext>
            </a:extLst>
          </p:cNvPr>
          <p:cNvSpPr txBox="1"/>
          <p:nvPr/>
        </p:nvSpPr>
        <p:spPr>
          <a:xfrm>
            <a:off x="8890000" y="2360028"/>
            <a:ext cx="2768600" cy="653577"/>
          </a:xfrm>
          <a:prstGeom prst="rect">
            <a:avLst/>
          </a:prstGeom>
          <a:noFill/>
        </p:spPr>
        <p:txBody>
          <a:bodyPr vert="horz" wrap="square" lIns="0" tIns="0" rIns="0" bIns="0" rtlCol="0">
            <a:spAutoFit/>
          </a:bodyPr>
          <a:lstStyle/>
          <a:p>
            <a:pPr>
              <a:lnSpc>
                <a:spcPct val="115000"/>
              </a:lnSpc>
            </a:pPr>
            <a:r>
              <a:rPr kumimoji="1" lang="ja-JP" altLang="en-US" sz="1250">
                <a:solidFill>
                  <a:srgbClr val="1C2B3A"/>
                </a:solidFill>
                <a:latin typeface="游ゴシック" panose="020B0400000000000000" pitchFamily="50" charset="-128"/>
                <a:ea typeface="游ゴシック" panose="020B0400000000000000" pitchFamily="50" charset="-128"/>
              </a:rPr>
              <a:t>画面の下に、その日の展示場の会議室ごとの予約</a:t>
            </a:r>
            <a:r>
              <a:rPr kumimoji="1" lang="en-US" altLang="ja-JP" sz="1250">
                <a:solidFill>
                  <a:srgbClr val="1C2B3A"/>
                </a:solidFill>
                <a:latin typeface="游ゴシック" panose="020B0400000000000000" pitchFamily="50" charset="-128"/>
                <a:ea typeface="游ゴシック" panose="020B0400000000000000" pitchFamily="50" charset="-128"/>
              </a:rPr>
              <a:t>(</a:t>
            </a:r>
            <a:r>
              <a:rPr kumimoji="1" lang="ja-JP" altLang="en-US" sz="1250">
                <a:solidFill>
                  <a:srgbClr val="1C2B3A"/>
                </a:solidFill>
                <a:latin typeface="游ゴシック" panose="020B0400000000000000" pitchFamily="50" charset="-128"/>
                <a:ea typeface="游ゴシック" panose="020B0400000000000000" pitchFamily="50" charset="-128"/>
              </a:rPr>
              <a:t>時間・件名・予約した人</a:t>
            </a:r>
            <a:r>
              <a:rPr kumimoji="1" lang="en-US" altLang="ja-JP" sz="1250">
                <a:solidFill>
                  <a:srgbClr val="1C2B3A"/>
                </a:solidFill>
                <a:latin typeface="游ゴシック" panose="020B0400000000000000" pitchFamily="50" charset="-128"/>
                <a:ea typeface="游ゴシック" panose="020B0400000000000000" pitchFamily="50" charset="-128"/>
              </a:rPr>
              <a:t>)</a:t>
            </a:r>
            <a:r>
              <a:rPr kumimoji="1" lang="ja-JP" altLang="en-US" sz="1250">
                <a:solidFill>
                  <a:srgbClr val="1C2B3A"/>
                </a:solidFill>
                <a:latin typeface="游ゴシック" panose="020B0400000000000000" pitchFamily="50" charset="-128"/>
                <a:ea typeface="游ゴシック" panose="020B0400000000000000" pitchFamily="50" charset="-128"/>
              </a:rPr>
              <a:t>が表示されます。</a:t>
            </a:r>
          </a:p>
        </p:txBody>
      </p:sp>
      <p:sp>
        <p:nvSpPr>
          <p:cNvPr id="24" name="補足の枠">
            <a:extLst>
              <a:ext uri="{FF2B5EF4-FFF2-40B4-BE49-F238E27FC236}">
                <a16:creationId xmlns:a16="http://schemas.microsoft.com/office/drawing/2014/main" id="{B631E474-05D7-DF8B-561D-4EA0591DF351}"/>
              </a:ext>
            </a:extLst>
          </p:cNvPr>
          <p:cNvSpPr/>
          <p:nvPr/>
        </p:nvSpPr>
        <p:spPr>
          <a:xfrm>
            <a:off x="8483600" y="3191405"/>
            <a:ext cx="3175000" cy="1763020"/>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897BA60-5E83-A3A6-B241-1BCD493C5CE6}"/>
              </a:ext>
            </a:extLst>
          </p:cNvPr>
          <p:cNvSpPr txBox="1"/>
          <p:nvPr/>
        </p:nvSpPr>
        <p:spPr>
          <a:xfrm>
            <a:off x="8636000" y="3305705"/>
            <a:ext cx="28702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ポイント</a:t>
            </a:r>
          </a:p>
        </p:txBody>
      </p:sp>
      <p:sp>
        <p:nvSpPr>
          <p:cNvPr id="27" name="テキスト ボックス 26">
            <a:extLst>
              <a:ext uri="{FF2B5EF4-FFF2-40B4-BE49-F238E27FC236}">
                <a16:creationId xmlns:a16="http://schemas.microsoft.com/office/drawing/2014/main" id="{E69A369F-49C7-10B8-CA8D-BEE5EB318BB6}"/>
              </a:ext>
            </a:extLst>
          </p:cNvPr>
          <p:cNvSpPr txBox="1"/>
          <p:nvPr/>
        </p:nvSpPr>
        <p:spPr>
          <a:xfrm>
            <a:off x="8636000" y="3537576"/>
            <a:ext cx="2870200" cy="1264449"/>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会議室の予約は、スケジュール画面の「＋予定を作成」から行います</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「スケジュールを入力する</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会議室・社用車の予約がある場合</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」をご覧ください</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。「本社」のボタンでは、会議室の予約は表示されません。</a:t>
            </a:r>
          </a:p>
        </p:txBody>
      </p:sp>
    </p:spTree>
    <p:extLst>
      <p:ext uri="{BB962C8B-B14F-4D97-AF65-F5344CB8AC3E}">
        <p14:creationId xmlns:p14="http://schemas.microsoft.com/office/powerpoint/2010/main" val="4098021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C2A6-5929-3E8E-7754-E05C86900C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373F20-D968-4CBD-876E-18F83346B7C9}"/>
              </a:ext>
            </a:extLst>
          </p:cNvPr>
          <p:cNvSpPr>
            <a:spLocks noChangeArrowheads="1"/>
          </p:cNvSpPr>
          <p:nvPr/>
        </p:nvSpPr>
        <p:spPr bwMode="auto">
          <a:xfrm>
            <a:off x="345830" y="195382"/>
            <a:ext cx="72788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2000" b="1" i="0" u="none" strike="noStrike" cap="none" normalizeH="0" baseline="0">
                <a:ln>
                  <a:noFill/>
                </a:ln>
                <a:solidFill>
                  <a:schemeClr val="tx1"/>
                </a:solidFill>
                <a:effectLst/>
                <a:latin typeface="Arial" panose="020B0604020202020204" pitchFamily="34" charset="0"/>
              </a:rPr>
              <a:t>困ったときは</a:t>
            </a:r>
            <a:endParaRPr kumimoji="0" lang="en-US" altLang="ja-JP" sz="2000" b="1" i="0" u="none" strike="noStrike" cap="none" normalizeH="0" baseline="0" dirty="0">
              <a:ln>
                <a:noFill/>
              </a:ln>
              <a:solidFill>
                <a:schemeClr val="tx1"/>
              </a:solidFill>
              <a:effectLst/>
              <a:latin typeface="Arial" panose="020B0604020202020204" pitchFamily="34" charset="0"/>
            </a:endParaRPr>
          </a:p>
        </p:txBody>
      </p:sp>
      <p:pic>
        <p:nvPicPr>
          <p:cNvPr id="5" name="図 4">
            <a:extLst>
              <a:ext uri="{FF2B5EF4-FFF2-40B4-BE49-F238E27FC236}">
                <a16:creationId xmlns:a16="http://schemas.microsoft.com/office/drawing/2014/main" id="{C39B6D1C-D2B1-D5EE-1F19-64781AF4047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51674" y="100131"/>
            <a:ext cx="533168" cy="796721"/>
          </a:xfrm>
          <a:prstGeom prst="rect">
            <a:avLst/>
          </a:prstGeom>
        </p:spPr>
      </p:pic>
      <p:pic>
        <p:nvPicPr>
          <p:cNvPr id="6" name="図 5">
            <a:extLst>
              <a:ext uri="{FF2B5EF4-FFF2-40B4-BE49-F238E27FC236}">
                <a16:creationId xmlns:a16="http://schemas.microsoft.com/office/drawing/2014/main" id="{D80CD65C-3CD4-B7D2-BFF3-94A78CA93E8C}"/>
              </a:ext>
            </a:extLst>
          </p:cNvPr>
          <p:cNvPicPr>
            <a:picLocks noChangeAspect="1"/>
          </p:cNvPicPr>
          <p:nvPr/>
        </p:nvPicPr>
        <p:blipFill>
          <a:blip r:embed="rId3">
            <a:clrChange>
              <a:clrFrom>
                <a:srgbClr val="F9F9F9"/>
              </a:clrFrom>
              <a:clrTo>
                <a:srgbClr val="F9F9F9">
                  <a:alpha val="0"/>
                </a:srgbClr>
              </a:clrTo>
            </a:clrChange>
            <a:extLst>
              <a:ext uri="{28A0092B-C50C-407E-A947-70E740481C1C}">
                <a14:useLocalDpi xmlns:a14="http://schemas.microsoft.com/office/drawing/2010/main" val="0"/>
              </a:ext>
            </a:extLst>
          </a:blip>
          <a:stretch>
            <a:fillRect/>
          </a:stretch>
        </p:blipFill>
        <p:spPr>
          <a:xfrm>
            <a:off x="11304231" y="126534"/>
            <a:ext cx="702048" cy="702048"/>
          </a:xfrm>
          <a:prstGeom prst="rect">
            <a:avLst/>
          </a:prstGeom>
        </p:spPr>
      </p:pic>
      <p:cxnSp>
        <p:nvCxnSpPr>
          <p:cNvPr id="8" name="直線コネクタ 7">
            <a:extLst>
              <a:ext uri="{FF2B5EF4-FFF2-40B4-BE49-F238E27FC236}">
                <a16:creationId xmlns:a16="http://schemas.microsoft.com/office/drawing/2014/main" id="{B86B6C55-D0C3-FCBC-E9D9-34C05E66C1C8}"/>
              </a:ext>
            </a:extLst>
          </p:cNvPr>
          <p:cNvCxnSpPr/>
          <p:nvPr/>
        </p:nvCxnSpPr>
        <p:spPr>
          <a:xfrm>
            <a:off x="536745" y="636139"/>
            <a:ext cx="986875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18533AA-D19D-2481-E8B5-A11BC249815C}"/>
              </a:ext>
            </a:extLst>
          </p:cNvPr>
          <p:cNvCxnSpPr/>
          <p:nvPr/>
        </p:nvCxnSpPr>
        <p:spPr>
          <a:xfrm>
            <a:off x="536745" y="599539"/>
            <a:ext cx="9868756"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FA934EC5-9D4F-A47E-D59E-59867C2B77E6}"/>
              </a:ext>
            </a:extLst>
          </p:cNvPr>
          <p:cNvCxnSpPr/>
          <p:nvPr/>
        </p:nvCxnSpPr>
        <p:spPr>
          <a:xfrm>
            <a:off x="536745" y="676740"/>
            <a:ext cx="9868756" cy="0"/>
          </a:xfrm>
          <a:prstGeom prst="line">
            <a:avLst/>
          </a:prstGeom>
          <a:ln w="2222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ECFC3A2B-4F0C-11F8-558C-4E28878BC9AE}"/>
              </a:ext>
            </a:extLst>
          </p:cNvPr>
          <p:cNvCxnSpPr>
            <a:cxnSpLocks/>
          </p:cNvCxnSpPr>
          <p:nvPr/>
        </p:nvCxnSpPr>
        <p:spPr>
          <a:xfrm>
            <a:off x="536745" y="6482541"/>
            <a:ext cx="1139631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800714F-B115-FAE7-8609-32604F555E77}"/>
              </a:ext>
            </a:extLst>
          </p:cNvPr>
          <p:cNvCxnSpPr>
            <a:cxnSpLocks/>
          </p:cNvCxnSpPr>
          <p:nvPr/>
        </p:nvCxnSpPr>
        <p:spPr>
          <a:xfrm>
            <a:off x="536745" y="6437990"/>
            <a:ext cx="11396318" cy="0"/>
          </a:xfrm>
          <a:prstGeom prst="line">
            <a:avLst/>
          </a:prstGeom>
          <a:ln w="22225">
            <a:solidFill>
              <a:srgbClr val="FF1F1F"/>
            </a:solidFill>
          </a:ln>
        </p:spPr>
        <p:style>
          <a:lnRef idx="1">
            <a:schemeClr val="accent2"/>
          </a:lnRef>
          <a:fillRef idx="0">
            <a:schemeClr val="accent2"/>
          </a:fillRef>
          <a:effectRef idx="0">
            <a:schemeClr val="accent2"/>
          </a:effectRef>
          <a:fontRef idx="minor">
            <a:schemeClr val="tx1"/>
          </a:fontRef>
        </p:style>
      </p:cxnSp>
      <p:cxnSp>
        <p:nvCxnSpPr>
          <p:cNvPr id="19" name="直線コネクタ 18">
            <a:extLst>
              <a:ext uri="{FF2B5EF4-FFF2-40B4-BE49-F238E27FC236}">
                <a16:creationId xmlns:a16="http://schemas.microsoft.com/office/drawing/2014/main" id="{19517701-62CE-8D53-BAED-CBE50132FC1C}"/>
              </a:ext>
            </a:extLst>
          </p:cNvPr>
          <p:cNvCxnSpPr>
            <a:cxnSpLocks/>
          </p:cNvCxnSpPr>
          <p:nvPr/>
        </p:nvCxnSpPr>
        <p:spPr>
          <a:xfrm>
            <a:off x="536745" y="6523142"/>
            <a:ext cx="11396318" cy="0"/>
          </a:xfrm>
          <a:prstGeom prst="line">
            <a:avLst/>
          </a:prstGeom>
          <a:ln w="22225">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25" name="テキスト ボックス 24">
            <a:extLst>
              <a:ext uri="{FF2B5EF4-FFF2-40B4-BE49-F238E27FC236}">
                <a16:creationId xmlns:a16="http://schemas.microsoft.com/office/drawing/2014/main" id="{10EFD285-CF9F-4672-1D90-656F01F3F761}"/>
              </a:ext>
            </a:extLst>
          </p:cNvPr>
          <p:cNvSpPr txBox="1"/>
          <p:nvPr/>
        </p:nvSpPr>
        <p:spPr>
          <a:xfrm>
            <a:off x="479056" y="715603"/>
            <a:ext cx="8128000" cy="307777"/>
          </a:xfrm>
          <a:prstGeom prst="rect">
            <a:avLst/>
          </a:prstGeom>
          <a:noFill/>
        </p:spPr>
        <p:txBody>
          <a:bodyPr wrap="square">
            <a:spAutoFit/>
          </a:bodyPr>
          <a:lstStyle/>
          <a:p>
            <a:r>
              <a:rPr lang="ja-JP" altLang="en-US" sz="1400"/>
              <a:t>よくある質問</a:t>
            </a:r>
            <a:endParaRPr lang="en-US" altLang="ja-JP" sz="1400" dirty="0"/>
          </a:p>
        </p:txBody>
      </p:sp>
      <p:sp>
        <p:nvSpPr>
          <p:cNvPr id="3" name="ページ番号">
            <a:extLst>
              <a:ext uri="{FF2B5EF4-FFF2-40B4-BE49-F238E27FC236}">
                <a16:creationId xmlns:a16="http://schemas.microsoft.com/office/drawing/2014/main" id="{B2645B95-58BD-B265-8B70-95B9E4B1ECC1}"/>
              </a:ext>
            </a:extLst>
          </p:cNvPr>
          <p:cNvSpPr txBox="1"/>
          <p:nvPr/>
        </p:nvSpPr>
        <p:spPr>
          <a:xfrm>
            <a:off x="10134600" y="6578600"/>
            <a:ext cx="1524000" cy="168829"/>
          </a:xfrm>
          <a:prstGeom prst="rect">
            <a:avLst/>
          </a:prstGeom>
          <a:noFill/>
        </p:spPr>
        <p:txBody>
          <a:bodyPr vert="horz" wrap="square" lIns="0" tIns="0" rIns="0" bIns="0" rtlCol="0">
            <a:spAutoFit/>
          </a:bodyPr>
          <a:lstStyle/>
          <a:p>
            <a:pPr algn="r">
              <a:lnSpc>
                <a:spcPct val="115000"/>
              </a:lnSpc>
            </a:pPr>
            <a:r>
              <a:rPr kumimoji="1" lang="en-US" altLang="ja-JP" sz="1000">
                <a:solidFill>
                  <a:srgbClr val="6B7D8F"/>
                </a:solidFill>
                <a:latin typeface="游ゴシック" panose="020B0400000000000000" pitchFamily="50" charset="-128"/>
                <a:ea typeface="游ゴシック" panose="020B0400000000000000" pitchFamily="50" charset="-128"/>
              </a:rPr>
              <a:t>7 / 7</a:t>
            </a:r>
            <a:endParaRPr kumimoji="1" lang="ja-JP" altLang="en-US" sz="1000">
              <a:solidFill>
                <a:srgbClr val="6B7D8F"/>
              </a:solidFill>
              <a:latin typeface="游ゴシック" panose="020B0400000000000000" pitchFamily="50" charset="-128"/>
              <a:ea typeface="游ゴシック" panose="020B0400000000000000" pitchFamily="50" charset="-128"/>
            </a:endParaRPr>
          </a:p>
        </p:txBody>
      </p:sp>
      <p:sp>
        <p:nvSpPr>
          <p:cNvPr id="4" name="補足の枠">
            <a:extLst>
              <a:ext uri="{FF2B5EF4-FFF2-40B4-BE49-F238E27FC236}">
                <a16:creationId xmlns:a16="http://schemas.microsoft.com/office/drawing/2014/main" id="{64A02663-1F88-FD38-EC21-E56B0A73E0AF}"/>
              </a:ext>
            </a:extLst>
          </p:cNvPr>
          <p:cNvSpPr/>
          <p:nvPr/>
        </p:nvSpPr>
        <p:spPr>
          <a:xfrm>
            <a:off x="533400" y="1219200"/>
            <a:ext cx="5435600" cy="913556"/>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1BF92447-2219-7162-7572-AB927C4DC328}"/>
              </a:ext>
            </a:extLst>
          </p:cNvPr>
          <p:cNvSpPr txBox="1"/>
          <p:nvPr/>
        </p:nvSpPr>
        <p:spPr>
          <a:xfrm>
            <a:off x="685800" y="1333500"/>
            <a:ext cx="51308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予定のマスに「取得失敗」と表示される</a:t>
            </a:r>
          </a:p>
        </p:txBody>
      </p:sp>
      <p:sp>
        <p:nvSpPr>
          <p:cNvPr id="12" name="テキスト ボックス 11">
            <a:extLst>
              <a:ext uri="{FF2B5EF4-FFF2-40B4-BE49-F238E27FC236}">
                <a16:creationId xmlns:a16="http://schemas.microsoft.com/office/drawing/2014/main" id="{E79EDAB7-896A-A11E-4AC3-556D25A034D0}"/>
              </a:ext>
            </a:extLst>
          </p:cNvPr>
          <p:cNvSpPr txBox="1"/>
          <p:nvPr/>
        </p:nvSpPr>
        <p:spPr>
          <a:xfrm>
            <a:off x="685800" y="1565371"/>
            <a:ext cx="5130800" cy="414985"/>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その方の予定表を見るための設定が済んでいない可能性があります。管理者にご相談ください。</a:t>
            </a:r>
          </a:p>
        </p:txBody>
      </p:sp>
      <p:sp>
        <p:nvSpPr>
          <p:cNvPr id="13" name="補足の枠">
            <a:extLst>
              <a:ext uri="{FF2B5EF4-FFF2-40B4-BE49-F238E27FC236}">
                <a16:creationId xmlns:a16="http://schemas.microsoft.com/office/drawing/2014/main" id="{C6FE741A-15D7-8F81-8E12-5D614B9CD918}"/>
              </a:ext>
            </a:extLst>
          </p:cNvPr>
          <p:cNvSpPr/>
          <p:nvPr/>
        </p:nvSpPr>
        <p:spPr>
          <a:xfrm>
            <a:off x="6223000" y="1219200"/>
            <a:ext cx="5435600" cy="913556"/>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709B93C8-2E8D-7998-AEA9-DCD6B4A9DF3D}"/>
              </a:ext>
            </a:extLst>
          </p:cNvPr>
          <p:cNvSpPr txBox="1"/>
          <p:nvPr/>
        </p:nvSpPr>
        <p:spPr>
          <a:xfrm>
            <a:off x="6375400" y="1333500"/>
            <a:ext cx="51308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自分の展示場が最初に表示されない</a:t>
            </a:r>
          </a:p>
        </p:txBody>
      </p:sp>
      <p:sp>
        <p:nvSpPr>
          <p:cNvPr id="15" name="テキスト ボックス 14">
            <a:extLst>
              <a:ext uri="{FF2B5EF4-FFF2-40B4-BE49-F238E27FC236}">
                <a16:creationId xmlns:a16="http://schemas.microsoft.com/office/drawing/2014/main" id="{02C7B6F8-2405-3677-035A-93B6B1E6620B}"/>
              </a:ext>
            </a:extLst>
          </p:cNvPr>
          <p:cNvSpPr txBox="1"/>
          <p:nvPr/>
        </p:nvSpPr>
        <p:spPr>
          <a:xfrm>
            <a:off x="6375400" y="1565371"/>
            <a:ext cx="5130800" cy="414985"/>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展示場のボタンで切り替えてください。所属の情報が登録されていない場合は、先頭の展示場が表示されます。</a:t>
            </a:r>
          </a:p>
        </p:txBody>
      </p:sp>
      <p:sp>
        <p:nvSpPr>
          <p:cNvPr id="16" name="補足の枠">
            <a:extLst>
              <a:ext uri="{FF2B5EF4-FFF2-40B4-BE49-F238E27FC236}">
                <a16:creationId xmlns:a16="http://schemas.microsoft.com/office/drawing/2014/main" id="{5E498705-A0C6-390B-4584-55A113680E2C}"/>
              </a:ext>
            </a:extLst>
          </p:cNvPr>
          <p:cNvSpPr/>
          <p:nvPr/>
        </p:nvSpPr>
        <p:spPr>
          <a:xfrm>
            <a:off x="533400" y="2285156"/>
            <a:ext cx="5435600" cy="913556"/>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8868A91-61D4-ACD9-2427-EE32B64AC2EB}"/>
              </a:ext>
            </a:extLst>
          </p:cNvPr>
          <p:cNvSpPr txBox="1"/>
          <p:nvPr/>
        </p:nvSpPr>
        <p:spPr>
          <a:xfrm>
            <a:off x="685800" y="2399456"/>
            <a:ext cx="51308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スタッフの予定を入力・変更したい</a:t>
            </a:r>
          </a:p>
        </p:txBody>
      </p:sp>
      <p:sp>
        <p:nvSpPr>
          <p:cNvPr id="20" name="テキスト ボックス 19">
            <a:extLst>
              <a:ext uri="{FF2B5EF4-FFF2-40B4-BE49-F238E27FC236}">
                <a16:creationId xmlns:a16="http://schemas.microsoft.com/office/drawing/2014/main" id="{3D2A9672-6832-1507-1365-521D34134D11}"/>
              </a:ext>
            </a:extLst>
          </p:cNvPr>
          <p:cNvSpPr txBox="1"/>
          <p:nvPr/>
        </p:nvSpPr>
        <p:spPr>
          <a:xfrm>
            <a:off x="685800" y="2631327"/>
            <a:ext cx="5130800" cy="414985"/>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この画面では入力できません。自分の予定はスケジュール画面から入力してください。ほかの人の予定は、本人に依頼してください。</a:t>
            </a:r>
          </a:p>
        </p:txBody>
      </p:sp>
      <p:sp>
        <p:nvSpPr>
          <p:cNvPr id="21" name="補足の枠">
            <a:extLst>
              <a:ext uri="{FF2B5EF4-FFF2-40B4-BE49-F238E27FC236}">
                <a16:creationId xmlns:a16="http://schemas.microsoft.com/office/drawing/2014/main" id="{37B87C9C-192E-4326-92EC-B6772D7DEB24}"/>
              </a:ext>
            </a:extLst>
          </p:cNvPr>
          <p:cNvSpPr/>
          <p:nvPr/>
        </p:nvSpPr>
        <p:spPr>
          <a:xfrm>
            <a:off x="6223000" y="2285156"/>
            <a:ext cx="5435600" cy="913556"/>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F7F5BB19-3894-7237-CFC2-ED53A4B31DD9}"/>
              </a:ext>
            </a:extLst>
          </p:cNvPr>
          <p:cNvSpPr txBox="1"/>
          <p:nvPr/>
        </p:nvSpPr>
        <p:spPr>
          <a:xfrm>
            <a:off x="6375400" y="2399456"/>
            <a:ext cx="51308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お休みの予定が表示されない</a:t>
            </a:r>
          </a:p>
        </p:txBody>
      </p:sp>
      <p:sp>
        <p:nvSpPr>
          <p:cNvPr id="23" name="テキスト ボックス 22">
            <a:extLst>
              <a:ext uri="{FF2B5EF4-FFF2-40B4-BE49-F238E27FC236}">
                <a16:creationId xmlns:a16="http://schemas.microsoft.com/office/drawing/2014/main" id="{2B1C0ED5-49B9-F6A4-5A4A-A4B71DEDFFBD}"/>
              </a:ext>
            </a:extLst>
          </p:cNvPr>
          <p:cNvSpPr txBox="1"/>
          <p:nvPr/>
        </p:nvSpPr>
        <p:spPr>
          <a:xfrm>
            <a:off x="6375400" y="2631327"/>
            <a:ext cx="5130800" cy="414985"/>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終日の予定は表示しない仕組みです。時間を決めて入れた予定だけが表示されます。</a:t>
            </a:r>
          </a:p>
        </p:txBody>
      </p:sp>
      <p:sp>
        <p:nvSpPr>
          <p:cNvPr id="24" name="補足の枠">
            <a:extLst>
              <a:ext uri="{FF2B5EF4-FFF2-40B4-BE49-F238E27FC236}">
                <a16:creationId xmlns:a16="http://schemas.microsoft.com/office/drawing/2014/main" id="{5BBAA1C4-D0F5-3B5A-D73B-A126BC52E2C7}"/>
              </a:ext>
            </a:extLst>
          </p:cNvPr>
          <p:cNvSpPr/>
          <p:nvPr/>
        </p:nvSpPr>
        <p:spPr>
          <a:xfrm>
            <a:off x="533400" y="3351112"/>
            <a:ext cx="5435600" cy="913556"/>
          </a:xfrm>
          <a:prstGeom prst="roundRect">
            <a:avLst>
              <a:gd name="adj" fmla="val 12000"/>
            </a:avLst>
          </a:prstGeom>
          <a:solidFill>
            <a:srgbClr val="F2F6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5CFD00EE-D7BC-F014-A062-1D8643619377}"/>
              </a:ext>
            </a:extLst>
          </p:cNvPr>
          <p:cNvSpPr txBox="1"/>
          <p:nvPr/>
        </p:nvSpPr>
        <p:spPr>
          <a:xfrm>
            <a:off x="685800" y="3465412"/>
            <a:ext cx="5130800" cy="193771"/>
          </a:xfrm>
          <a:prstGeom prst="rect">
            <a:avLst/>
          </a:prstGeom>
          <a:noFill/>
        </p:spPr>
        <p:txBody>
          <a:bodyPr vert="horz" wrap="square" lIns="0" tIns="0" rIns="0" bIns="0" rtlCol="0">
            <a:spAutoFit/>
          </a:bodyPr>
          <a:lstStyle/>
          <a:p>
            <a:pPr>
              <a:lnSpc>
                <a:spcPct val="115000"/>
              </a:lnSpc>
            </a:pPr>
            <a:r>
              <a:rPr kumimoji="1" lang="ja-JP" altLang="en-US" sz="1150" b="1">
                <a:solidFill>
                  <a:srgbClr val="1E5FA8"/>
                </a:solidFill>
                <a:latin typeface="游ゴシック" panose="020B0400000000000000" pitchFamily="50" charset="-128"/>
                <a:ea typeface="游ゴシック" panose="020B0400000000000000" pitchFamily="50" charset="-128"/>
              </a:rPr>
              <a:t>入力した予定がすぐに出てこない</a:t>
            </a:r>
          </a:p>
        </p:txBody>
      </p:sp>
      <p:sp>
        <p:nvSpPr>
          <p:cNvPr id="27" name="テキスト ボックス 26">
            <a:extLst>
              <a:ext uri="{FF2B5EF4-FFF2-40B4-BE49-F238E27FC236}">
                <a16:creationId xmlns:a16="http://schemas.microsoft.com/office/drawing/2014/main" id="{258A2B00-6A22-8CBD-1EA5-AE9219782931}"/>
              </a:ext>
            </a:extLst>
          </p:cNvPr>
          <p:cNvSpPr txBox="1"/>
          <p:nvPr/>
        </p:nvSpPr>
        <p:spPr>
          <a:xfrm>
            <a:off x="685800" y="3697283"/>
            <a:ext cx="5130800" cy="414985"/>
          </a:xfrm>
          <a:prstGeom prst="rect">
            <a:avLst/>
          </a:prstGeom>
          <a:noFill/>
        </p:spPr>
        <p:txBody>
          <a:bodyPr vert="horz" wrap="square" lIns="0" tIns="0" rIns="0" bIns="0" rtlCol="0">
            <a:spAutoFit/>
          </a:bodyPr>
          <a:lstStyle/>
          <a:p>
            <a:pPr>
              <a:lnSpc>
                <a:spcPct val="115000"/>
              </a:lnSpc>
            </a:pPr>
            <a:r>
              <a:rPr kumimoji="1" lang="ja-JP" altLang="en-US" sz="1200">
                <a:solidFill>
                  <a:srgbClr val="1C2B3A"/>
                </a:solidFill>
                <a:latin typeface="游ゴシック" panose="020B0400000000000000" pitchFamily="50" charset="-128"/>
                <a:ea typeface="游ゴシック" panose="020B0400000000000000" pitchFamily="50" charset="-128"/>
              </a:rPr>
              <a:t>画面は</a:t>
            </a:r>
            <a:r>
              <a:rPr kumimoji="1" lang="en-US" altLang="ja-JP" sz="1200">
                <a:solidFill>
                  <a:srgbClr val="1C2B3A"/>
                </a:solidFill>
                <a:latin typeface="游ゴシック" panose="020B0400000000000000" pitchFamily="50" charset="-128"/>
                <a:ea typeface="游ゴシック" panose="020B0400000000000000" pitchFamily="50" charset="-128"/>
              </a:rPr>
              <a:t>2</a:t>
            </a:r>
            <a:r>
              <a:rPr kumimoji="1" lang="ja-JP" altLang="en-US" sz="1200">
                <a:solidFill>
                  <a:srgbClr val="1C2B3A"/>
                </a:solidFill>
                <a:latin typeface="游ゴシック" panose="020B0400000000000000" pitchFamily="50" charset="-128"/>
                <a:ea typeface="游ゴシック" panose="020B0400000000000000" pitchFamily="50" charset="-128"/>
              </a:rPr>
              <a:t>分ごとに自動で新しくなります。すぐに確かめたいときは、再読み込み</a:t>
            </a:r>
            <a:r>
              <a:rPr kumimoji="1" lang="en-US" altLang="ja-JP" sz="1200">
                <a:solidFill>
                  <a:srgbClr val="1C2B3A"/>
                </a:solidFill>
                <a:latin typeface="游ゴシック" panose="020B0400000000000000" pitchFamily="50" charset="-128"/>
                <a:ea typeface="游ゴシック" panose="020B0400000000000000" pitchFamily="50" charset="-128"/>
              </a:rPr>
              <a:t>(F5</a:t>
            </a:r>
            <a:r>
              <a:rPr kumimoji="1" lang="ja-JP" altLang="en-US" sz="1200">
                <a:solidFill>
                  <a:srgbClr val="1C2B3A"/>
                </a:solidFill>
                <a:latin typeface="游ゴシック" panose="020B0400000000000000" pitchFamily="50" charset="-128"/>
                <a:ea typeface="游ゴシック" panose="020B0400000000000000" pitchFamily="50" charset="-128"/>
              </a:rPr>
              <a:t>キー</a:t>
            </a:r>
            <a:r>
              <a:rPr kumimoji="1" lang="en-US" altLang="ja-JP" sz="1200">
                <a:solidFill>
                  <a:srgbClr val="1C2B3A"/>
                </a:solidFill>
                <a:latin typeface="游ゴシック" panose="020B0400000000000000" pitchFamily="50" charset="-128"/>
                <a:ea typeface="游ゴシック" panose="020B0400000000000000" pitchFamily="50" charset="-128"/>
              </a:rPr>
              <a:t>)</a:t>
            </a:r>
            <a:r>
              <a:rPr kumimoji="1" lang="ja-JP" altLang="en-US" sz="1200">
                <a:solidFill>
                  <a:srgbClr val="1C2B3A"/>
                </a:solidFill>
                <a:latin typeface="游ゴシック" panose="020B0400000000000000" pitchFamily="50" charset="-128"/>
                <a:ea typeface="游ゴシック" panose="020B0400000000000000" pitchFamily="50" charset="-128"/>
              </a:rPr>
              <a:t>してください。</a:t>
            </a:r>
          </a:p>
        </p:txBody>
      </p:sp>
    </p:spTree>
    <p:extLst>
      <p:ext uri="{BB962C8B-B14F-4D97-AF65-F5344CB8AC3E}">
        <p14:creationId xmlns:p14="http://schemas.microsoft.com/office/powerpoint/2010/main" val="42907881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11351</TotalTime>
  <Words>819</Words>
  <Application>Microsoft Office PowerPoint</Application>
  <PresentationFormat>ワイド画面</PresentationFormat>
  <Paragraphs>98</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貸出用</dc:creator>
  <cp:lastModifiedBy>本田 洋介  (吉村一建設)</cp:lastModifiedBy>
  <cp:revision>268</cp:revision>
  <cp:lastPrinted>2026-05-27T00:44:21Z</cp:lastPrinted>
  <dcterms:created xsi:type="dcterms:W3CDTF">2025-08-20T01:11:28Z</dcterms:created>
  <dcterms:modified xsi:type="dcterms:W3CDTF">2026-10-16T06:49:24Z</dcterms:modified>
</cp:coreProperties>
</file>